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5"/>
  </p:notesMasterIdLst>
  <p:sldIdLst>
    <p:sldId id="292" r:id="rId2"/>
    <p:sldId id="257" r:id="rId3"/>
    <p:sldId id="271" r:id="rId4"/>
    <p:sldId id="270" r:id="rId5"/>
    <p:sldId id="297" r:id="rId6"/>
    <p:sldId id="300" r:id="rId7"/>
    <p:sldId id="301" r:id="rId8"/>
    <p:sldId id="298" r:id="rId9"/>
    <p:sldId id="299" r:id="rId10"/>
    <p:sldId id="302" r:id="rId11"/>
    <p:sldId id="303" r:id="rId12"/>
    <p:sldId id="304" r:id="rId13"/>
    <p:sldId id="305" r:id="rId14"/>
    <p:sldId id="293" r:id="rId15"/>
    <p:sldId id="306" r:id="rId16"/>
    <p:sldId id="307" r:id="rId17"/>
    <p:sldId id="308" r:id="rId18"/>
    <p:sldId id="309" r:id="rId19"/>
    <p:sldId id="312" r:id="rId20"/>
    <p:sldId id="313" r:id="rId21"/>
    <p:sldId id="294" r:id="rId22"/>
    <p:sldId id="295" r:id="rId23"/>
    <p:sldId id="296" r:id="rId24"/>
  </p:sldIdLst>
  <p:sldSz cx="9144000" cy="5143500" type="screen16x9"/>
  <p:notesSz cx="6858000" cy="9144000"/>
  <p:embeddedFontLst>
    <p:embeddedFont>
      <p:font typeface="Plus Jakarta Sans" panose="020B0604020202020204" charset="0"/>
      <p:regular r:id="rId26"/>
      <p:bold r:id="rId27"/>
      <p:italic r:id="rId28"/>
      <p:boldItalic r:id="rId29"/>
    </p:embeddedFont>
    <p:embeddedFont>
      <p:font typeface="Plus Jakarta Sans ExtraBold" panose="020B0604020202020204" charset="0"/>
      <p:bold r:id="rId30"/>
      <p:boldItalic r:id="rId31"/>
    </p:embeddedFont>
    <p:embeddedFont>
      <p:font typeface="Plus Jakarta Sans Light"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A2E"/>
    <a:srgbClr val="B78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8" d="100"/>
          <a:sy n="128" d="100"/>
        </p:scale>
        <p:origin x="1056" y="120"/>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963C9C3-3633-88B0-BD3D-404542B14E1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EFE7E9F-B9AA-F8E9-E788-F20C2CD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BB37961-763C-6CF2-99B9-9A7D108A4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52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E5C67B0-D0AA-C597-1D28-639449A02C5C}"/>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DE2C624-492A-4C6B-471C-D7F79B648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57497EE-B2AE-79EB-C064-5D6317B0B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473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4552E5D-0252-B7D7-5258-434517035A0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C1AFF759-A9E4-AEE2-C621-5E13A72C2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CD7249D-FEF8-49B0-16BF-66CE74741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920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EF06551-5E2B-2BB9-FF7D-D78CB71065A1}"/>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DCF7B3FE-5083-3B4E-CC6C-1657BBB56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51DC51FD-37CC-55EB-DC92-9A119F6CF3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8714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C89965C-BDFF-ABA7-584A-B5DCCC45AEA0}"/>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A5683A8-734D-B67A-63E8-5DA301E0CE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5B95BAB4-448E-116E-CDB6-7FA8290F4B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1478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2F779E7A-3983-9A99-D99A-A6AD0B95FF73}"/>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FA8611C8-B583-F839-BB6F-5E5A49A027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C1B8C202-AC18-CE8F-3D2A-BDB310537D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8705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40E4482-5B21-80F6-74F0-25FD7CA036D6}"/>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BE17D8F5-D40F-C7C2-FDA9-23EED1C4F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2CE665BA-8B37-8178-1C1B-82DA2FA770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7711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74AF4B0-67DF-8D75-F4C4-B0F30653F660}"/>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296366D1-CE37-9DBB-295C-B2FB968762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4DAC36C8-B1A6-29E4-3E62-F53914F1F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1778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49A5B4B-8C72-AAE1-92B5-5E69DF68E18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6C547AD-C661-1F7D-2BB3-88823FB7F1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047217C2-527F-DE4D-67F8-CD5280D9B6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228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B3858F6C-B096-ABCA-E320-7556B9FE0F46}"/>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8CB76EEC-E97D-FDED-07C4-2F58486D60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54494E80-568B-CD11-24C2-74C27E5CC1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1585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A7221B2-78D3-D234-A3C5-18412230BB3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F30EB74-1C85-4375-C059-11C3915EE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1CE7372-7799-7DDA-EFEE-A1A6413CC5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2307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E036684B-F2C2-1DC3-FACA-5904A355FFFE}"/>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592F4642-5065-44CD-9E19-E547EA4F4D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CBAF8795-E47F-00A5-AC48-D038F1DF7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7433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3F1B198-FB14-FC88-274F-8EAE33175E4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B92722E4-17A1-AD15-387F-F41F67993C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84DCC211-3852-50B0-ABE1-EB347A78E8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5557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E6E1CE92-817E-B35A-DBE6-FEDF11F100A0}"/>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ADFB121-B08A-9994-7B84-19DE5F264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5FBBC81E-0F08-D765-9F1C-B1EE8A465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946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5A416D4-1B98-A631-8080-268BAE32E0A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AEE66641-83CD-54B5-3BE0-095A643AF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33A82B58-9109-5D62-F505-8DAB73093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78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bb91f55cac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bb91f55cac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569500" y="3259622"/>
            <a:ext cx="6462900"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Repaso </a:t>
            </a:r>
          </a:p>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(¿Dónde estamos?)</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Puntos Clave:</a:t>
            </a:r>
          </a:p>
          <a:p>
            <a:pPr lvl="0">
              <a:lnSpc>
                <a:spcPct val="115000"/>
              </a:lnSpc>
            </a:pPr>
            <a:endParaRPr lang="es-MX" sz="1200" dirty="0"/>
          </a:p>
          <a:p>
            <a:pPr lvl="0">
              <a:lnSpc>
                <a:spcPct val="115000"/>
              </a:lnSpc>
            </a:pPr>
            <a:r>
              <a:rPr lang="es-MX" sz="1200" dirty="0"/>
              <a:t>	Flujo 1: Ingesta (Semana Pasada). Estudiar y guardar en la bóveda (Unidireccional).</a:t>
            </a:r>
          </a:p>
          <a:p>
            <a:pPr lvl="0">
              <a:lnSpc>
                <a:spcPct val="115000"/>
              </a:lnSpc>
            </a:pPr>
            <a:r>
              <a:rPr lang="es-MX" sz="1200" dirty="0"/>
              <a:t>	</a:t>
            </a:r>
          </a:p>
          <a:p>
            <a:pPr lvl="0">
              <a:lnSpc>
                <a:spcPct val="115000"/>
              </a:lnSpc>
            </a:pPr>
            <a:r>
              <a:rPr lang="es-MX" sz="1200" dirty="0"/>
              <a:t>	Flujo 2: Consulta (Hoy). Escuchar, pensar, buscar y responder (Interactivo)</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La Regla de Oro del RAG: Los Dos Flujo</a:t>
            </a:r>
            <a:endParaRPr sz="4800" dirty="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440049" y="2905375"/>
            <a:ext cx="8523951"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¿Y si nuestro médico virtual dejara de ser ciego?</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7E972E-CC67-FD11-E217-D6664720EF1F}"/>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F62405F9-5D7D-3918-B599-58CF6AC9BACE}"/>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La multimodalidad permite a la Inteligencia Artificial procesar texto, imágenes, audio y video de forma simultánea. En lugar de un </a:t>
            </a:r>
            <a:r>
              <a:rPr lang="es-MX" sz="1200" dirty="0" err="1"/>
              <a:t>bot</a:t>
            </a:r>
            <a:r>
              <a:rPr lang="es-MX" sz="1200" dirty="0"/>
              <a:t> que solo lee síntomas escritos, ahora construiremos sistemas capaces de analizar radiografías, observar fotografías de lesiones y cruzar estos datos para asistir en un diagnóstico más completo.</a:t>
            </a:r>
          </a:p>
        </p:txBody>
      </p:sp>
      <p:sp>
        <p:nvSpPr>
          <p:cNvPr id="242" name="Google Shape;242;p38">
            <a:extLst>
              <a:ext uri="{FF2B5EF4-FFF2-40B4-BE49-F238E27FC236}">
                <a16:creationId xmlns:a16="http://schemas.microsoft.com/office/drawing/2014/main" id="{1345C527-D9F3-54BB-92E0-DD6A4347AD8E}"/>
              </a:ext>
            </a:extLst>
          </p:cNvPr>
          <p:cNvSpPr txBox="1"/>
          <p:nvPr/>
        </p:nvSpPr>
        <p:spPr>
          <a:xfrm>
            <a:off x="595200" y="465200"/>
            <a:ext cx="83184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Introducción a la Multimodalidad en Salud</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5774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489BBB9-DD3B-BA16-C821-5DAF4C377F77}"/>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7233B890-BF32-7E93-4E97-B5AE77DDB279}"/>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03</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DC0B55F0-4559-279A-33A9-1429D126B213}"/>
              </a:ext>
            </a:extLst>
          </p:cNvPr>
          <p:cNvSpPr txBox="1"/>
          <p:nvPr/>
        </p:nvSpPr>
        <p:spPr>
          <a:xfrm>
            <a:off x="699250" y="2386975"/>
            <a:ext cx="709835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¿Cómo aprendió una computadora a entender lo que "ve"?</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9622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AAFA1AF-DB83-7D55-0115-2FF41CBC95C1}"/>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B2B2E9D-D2C1-FC5A-EADE-255F8DD4FE3C}"/>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A diferencia de los modelos de texto que leen palabras en secuencia, los modelos de visión usan Redes Convolucionales (CNN) que escanean la imagen con "filtros". De esta manera, la IA aprende a detectar primero líneas, luego formas y finalmente estructuras médicas complejas, como el tejido de un pulmón, imitando la observación humana.</a:t>
            </a:r>
          </a:p>
        </p:txBody>
      </p:sp>
      <p:sp>
        <p:nvSpPr>
          <p:cNvPr id="242" name="Google Shape;242;p38">
            <a:extLst>
              <a:ext uri="{FF2B5EF4-FFF2-40B4-BE49-F238E27FC236}">
                <a16:creationId xmlns:a16="http://schemas.microsoft.com/office/drawing/2014/main" id="{E5A715D0-0569-1438-29F4-A0A9A875B494}"/>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Visión por Computadora y Redes Convolucionales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64939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DA8D200-E4E2-EA0A-E2F0-8955A0DB6329}"/>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3C3B43BB-80C2-D5EB-3546-0B4FED19A3B1}"/>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04</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64D06453-17D3-4CAE-E981-61AC3F5CA1B6}"/>
              </a:ext>
            </a:extLst>
          </p:cNvPr>
          <p:cNvSpPr txBox="1"/>
          <p:nvPr/>
        </p:nvSpPr>
        <p:spPr>
          <a:xfrm>
            <a:off x="627395" y="3392704"/>
            <a:ext cx="6462900"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De la fotografía al diagnóstico asistido.</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3739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7450383-9133-6E41-59BB-82776884A106}"/>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CB92466-068F-C64A-8F82-EE87FF78E1CA}"/>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Al analizar una imagen clínica, la IA puede realizar tres grandes tareas: </a:t>
            </a:r>
          </a:p>
          <a:p>
            <a:r>
              <a:rPr lang="es-MX" sz="1200" b="1" dirty="0"/>
              <a:t>Clasificarla</a:t>
            </a:r>
            <a:r>
              <a:rPr lang="es-MX" sz="1200" dirty="0"/>
              <a:t> (ej. determinar si una placa es sana o patológica), </a:t>
            </a:r>
            <a:r>
              <a:rPr lang="es-MX" sz="1200" b="1" dirty="0"/>
              <a:t>Detectar objetos</a:t>
            </a:r>
            <a:r>
              <a:rPr lang="es-MX" sz="1200" dirty="0"/>
              <a:t> (marcar anomalías específicas con recuadros) o </a:t>
            </a:r>
            <a:r>
              <a:rPr lang="es-MX" sz="1200" b="1" dirty="0"/>
              <a:t>Segmentarla</a:t>
            </a:r>
            <a:r>
              <a:rPr lang="es-MX" sz="1200" dirty="0"/>
              <a:t> (separar un órgano del tejido circundante píxel por píxel, vital para guiar cirugías).</a:t>
            </a:r>
          </a:p>
        </p:txBody>
      </p:sp>
      <p:sp>
        <p:nvSpPr>
          <p:cNvPr id="242" name="Google Shape;242;p38">
            <a:extLst>
              <a:ext uri="{FF2B5EF4-FFF2-40B4-BE49-F238E27FC236}">
                <a16:creationId xmlns:a16="http://schemas.microsoft.com/office/drawing/2014/main" id="{E49181C3-6FF3-7A41-CBC9-7589566B4B76}"/>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La Imagen como Entrada (Input)</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980628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B4B47B76-23BC-F618-62F5-950EC401C7A5}"/>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FE8ECEA1-BB57-7491-B2B4-6691983A250D}"/>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05</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087FD96B-C361-D56D-1917-DDE1A454D8D9}"/>
              </a:ext>
            </a:extLst>
          </p:cNvPr>
          <p:cNvSpPr txBox="1"/>
          <p:nvPr/>
        </p:nvSpPr>
        <p:spPr>
          <a:xfrm>
            <a:off x="699250" y="3109526"/>
            <a:ext cx="81114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Si la IA puede ver... ¿También puede crear?</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539219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2348D29-C260-D248-9E0C-3E2508C36BAB}"/>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CF9D4524-6E55-DF9D-08A3-EB254C9D66AD}"/>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Hoy existen modelos que no solo analizan fotos, sino que generan imágenes y videos hiperrealistas desde cero. En el sector salud, esto permite crear ilustraciones anatómicas precisas para docencia, simular escenarios clínicos o generar prototipos de dispositivos médicos en segundos, ahorrando valiosos recursos de diseño.</a:t>
            </a:r>
          </a:p>
        </p:txBody>
      </p:sp>
      <p:sp>
        <p:nvSpPr>
          <p:cNvPr id="242" name="Google Shape;242;p38">
            <a:extLst>
              <a:ext uri="{FF2B5EF4-FFF2-40B4-BE49-F238E27FC236}">
                <a16:creationId xmlns:a16="http://schemas.microsoft.com/office/drawing/2014/main" id="{1C8A97A2-50C1-E6A1-59C9-EF045D31C526}"/>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Generación Visual y Modelos Generativos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784473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12EF1544-7133-204A-66C6-1A0BE51B7F5E}"/>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A11D5FDA-8B07-3BA5-8BF9-86BB03FD3FAF}"/>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06</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5C367AA1-A253-EB8D-3DE9-C000E33F0BF4}"/>
              </a:ext>
            </a:extLst>
          </p:cNvPr>
          <p:cNvSpPr txBox="1"/>
          <p:nvPr/>
        </p:nvSpPr>
        <p:spPr>
          <a:xfrm>
            <a:off x="598594" y="2946304"/>
            <a:ext cx="7379006"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El arte de darle instrucciones a un "pintor virtual"</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281207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98E1CDF-6175-B86A-7420-38CDBF8AC28A}"/>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6657DC98-AA82-5ED4-8A4E-D0FBB3772DF3}"/>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Para generar imágenes médicas útiles, debemos evitar descripciones ambiguas y detallar parámetros técnicos: sujeto, entorno, tipo de iluminación clínica y perspectiva. Sin embargo, por seguridad ética, estas imágenes deben usarse solo para educación o conceptualización, y nunca asumirse como anatómicamente perfectas sin la validación de un experto.</a:t>
            </a:r>
          </a:p>
        </p:txBody>
      </p:sp>
      <p:sp>
        <p:nvSpPr>
          <p:cNvPr id="242" name="Google Shape;242;p38">
            <a:extLst>
              <a:ext uri="{FF2B5EF4-FFF2-40B4-BE49-F238E27FC236}">
                <a16:creationId xmlns:a16="http://schemas.microsoft.com/office/drawing/2014/main" id="{CE08D18F-A734-9114-5508-0A89487CA7C3}"/>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Ingeniería de </a:t>
            </a:r>
            <a:r>
              <a:rPr lang="es-MX" sz="4800" dirty="0" err="1">
                <a:solidFill>
                  <a:srgbClr val="FF632B"/>
                </a:solidFill>
                <a:latin typeface="Plus Jakarta Sans ExtraBold"/>
                <a:ea typeface="Plus Jakarta Sans ExtraBold"/>
                <a:cs typeface="Plus Jakarta Sans ExtraBold"/>
                <a:sym typeface="Plus Jakarta Sans ExtraBold"/>
              </a:rPr>
              <a:t>Prompts</a:t>
            </a:r>
            <a:r>
              <a:rPr lang="es-MX" sz="4800" dirty="0">
                <a:solidFill>
                  <a:srgbClr val="FF632B"/>
                </a:solidFill>
                <a:latin typeface="Plus Jakarta Sans ExtraBold"/>
                <a:ea typeface="Plus Jakarta Sans ExtraBold"/>
                <a:cs typeface="Plus Jakarta Sans ExtraBold"/>
                <a:sym typeface="Plus Jakarta Sans ExtraBold"/>
              </a:rPr>
              <a:t> Visuales</a:t>
            </a:r>
          </a:p>
        </p:txBody>
      </p:sp>
    </p:spTree>
    <p:extLst>
      <p:ext uri="{BB962C8B-B14F-4D97-AF65-F5344CB8AC3E}">
        <p14:creationId xmlns:p14="http://schemas.microsoft.com/office/powerpoint/2010/main" val="3660572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15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chemeClr val="tx1"/>
                </a:solidFill>
                <a:latin typeface="Plus Jakarta Sans"/>
                <a:ea typeface="Plus Jakarta Sans"/>
                <a:cs typeface="Plus Jakarta Sans"/>
                <a:sym typeface="Plus Jakarta Sans"/>
              </a:rPr>
              <a:t>20:20</a:t>
            </a: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5FFCF638-CE1E-2BB1-A01A-FCD0AA65BEED}"/>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38BF93E2-7470-2014-E8CF-B411CD619200}"/>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07</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986E9332-618B-E54F-D31E-BB63D73E0B9D}"/>
              </a:ext>
            </a:extLst>
          </p:cNvPr>
          <p:cNvSpPr txBox="1"/>
          <p:nvPr/>
        </p:nvSpPr>
        <p:spPr>
          <a:xfrm>
            <a:off x="598450" y="23869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¡Manos a la obra! Llevando al médico al mundo real.</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841518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D7CE10F-2B34-7D70-2796-3F5CA40FF7B6}"/>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4A58F5A7-2F2C-A8C1-8708-F2E9E5C36FDF}"/>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Conectaremos nuestro flujo de n8n a Telegram para que reciba fotografías reales directamente desde el teléfono del paciente. Usaremos el modelo Gemini 2.5 Flash para analizar la imagen de forma automática, generar un reporte preliminar seguro y aprender a gestionar posibles caídas del sistema mediante políticas de respaldo (</a:t>
            </a:r>
            <a:r>
              <a:rPr lang="es-MX" sz="1200" dirty="0" err="1"/>
              <a:t>Fallbacks</a:t>
            </a:r>
            <a:r>
              <a:rPr lang="es-MX" sz="1200" dirty="0"/>
              <a:t>).</a:t>
            </a:r>
          </a:p>
        </p:txBody>
      </p:sp>
      <p:sp>
        <p:nvSpPr>
          <p:cNvPr id="242" name="Google Shape;242;p38">
            <a:extLst>
              <a:ext uri="{FF2B5EF4-FFF2-40B4-BE49-F238E27FC236}">
                <a16:creationId xmlns:a16="http://schemas.microsoft.com/office/drawing/2014/main" id="{25487A3B-102E-2DAF-B638-7B86268CDFBE}"/>
              </a:ext>
            </a:extLst>
          </p:cNvPr>
          <p:cNvSpPr txBox="1"/>
          <p:nvPr/>
        </p:nvSpPr>
        <p:spPr>
          <a:xfrm>
            <a:off x="602400" y="659600"/>
            <a:ext cx="83328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Práctica: El </a:t>
            </a:r>
            <a:r>
              <a:rPr lang="es-MX" sz="4800" dirty="0" err="1">
                <a:solidFill>
                  <a:srgbClr val="FF632B"/>
                </a:solidFill>
                <a:latin typeface="Plus Jakarta Sans ExtraBold"/>
                <a:ea typeface="Plus Jakarta Sans ExtraBold"/>
                <a:cs typeface="Plus Jakarta Sans ExtraBold"/>
                <a:sym typeface="Plus Jakarta Sans ExtraBold"/>
              </a:rPr>
              <a:t>Triage</a:t>
            </a:r>
            <a:r>
              <a:rPr lang="es-MX" sz="4800" dirty="0">
                <a:solidFill>
                  <a:srgbClr val="FF632B"/>
                </a:solidFill>
                <a:latin typeface="Plus Jakarta Sans ExtraBold"/>
                <a:ea typeface="Plus Jakarta Sans ExtraBold"/>
                <a:cs typeface="Plus Jakarta Sans ExtraBold"/>
                <a:sym typeface="Plus Jakarta Sans ExtraBold"/>
              </a:rPr>
              <a:t> Visual en Telegram</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147982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F8F8729D-D5F7-85D7-0F2A-6851C005B35B}"/>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83294E59-7A16-7FD9-4030-27D8D67CC7C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08</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F9EC7172-485E-406F-8E74-06130E0A33DF}"/>
              </a:ext>
            </a:extLst>
          </p:cNvPr>
          <p:cNvSpPr txBox="1"/>
          <p:nvPr/>
        </p:nvSpPr>
        <p:spPr>
          <a:xfrm>
            <a:off x="656195" y="3500704"/>
            <a:ext cx="6462900"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¿Qué logramos construir hoy?</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981608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DBC18A6-CEDA-CF30-5709-5ED85202E144}"/>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955DFEBB-E6EC-DF55-88D9-61D8B4078299}"/>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Hoy dimos un salto gigante al transformar un simple </a:t>
            </a:r>
            <a:r>
              <a:rPr lang="es-MX" sz="1200" dirty="0" err="1"/>
              <a:t>chatbot</a:t>
            </a:r>
            <a:r>
              <a:rPr lang="es-MX" sz="1200" dirty="0"/>
              <a:t> en un analista visual conectado al mundo real mediante Telegram. Demostramos que integrar modelos multimodales (como Gemini) requiere no solo tecnología, sino responsabilidad: aplicando instrucciones estrictas y estrategias de respaldo (</a:t>
            </a:r>
            <a:r>
              <a:rPr lang="es-MX" sz="1200" dirty="0" err="1"/>
              <a:t>Fallbacks</a:t>
            </a:r>
            <a:r>
              <a:rPr lang="es-MX" sz="1200" dirty="0"/>
              <a:t>) para proteger siempre al paciente frente a fallas técnicas.</a:t>
            </a:r>
          </a:p>
        </p:txBody>
      </p:sp>
      <p:sp>
        <p:nvSpPr>
          <p:cNvPr id="242" name="Google Shape;242;p38">
            <a:extLst>
              <a:ext uri="{FF2B5EF4-FFF2-40B4-BE49-F238E27FC236}">
                <a16:creationId xmlns:a16="http://schemas.microsoft.com/office/drawing/2014/main" id="{E35F3541-1196-BE06-61E0-25ADB46AEE53}"/>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El inicio del </a:t>
            </a:r>
            <a:r>
              <a:rPr lang="es-MX" sz="4800" dirty="0" err="1">
                <a:solidFill>
                  <a:srgbClr val="FF632B"/>
                </a:solidFill>
                <a:latin typeface="Plus Jakarta Sans ExtraBold"/>
                <a:ea typeface="Plus Jakarta Sans ExtraBold"/>
                <a:cs typeface="Plus Jakarta Sans ExtraBold"/>
                <a:sym typeface="Plus Jakarta Sans ExtraBold"/>
              </a:rPr>
              <a:t>Triage</a:t>
            </a:r>
            <a:r>
              <a:rPr lang="es-MX" sz="4800" dirty="0">
                <a:solidFill>
                  <a:srgbClr val="FF632B"/>
                </a:solidFill>
                <a:latin typeface="Plus Jakarta Sans ExtraBold"/>
                <a:ea typeface="Plus Jakarta Sans ExtraBold"/>
                <a:cs typeface="Plus Jakarta Sans ExtraBold"/>
                <a:sym typeface="Plus Jakarta Sans ExtraBold"/>
              </a:rPr>
              <a:t> Multimodal</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61782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074CE5B1-7998-E9C9-0FBC-1AB346EE9758}"/>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4D45369D-2F93-5A31-B23E-BEF2107F12C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09</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4396A71E-10AA-432B-2844-7037FED9ADB4}"/>
              </a:ext>
            </a:extLst>
          </p:cNvPr>
          <p:cNvSpPr txBox="1"/>
          <p:nvPr/>
        </p:nvSpPr>
        <p:spPr>
          <a:xfrm>
            <a:off x="634450" y="3109526"/>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Si ya le dimos ojos... es hora de darle voz.</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1968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DA68EDF-F0EB-C9C1-8A86-D83C3583A46D}"/>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231367E1-2D17-B70D-48FD-A43B6C5C1A02}"/>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En nuestra próxima sesión completaremos el cerebro multimodal enseñándole al sistema a transcribir los audios o llamadas del paciente a texto (</a:t>
            </a:r>
            <a:r>
              <a:rPr lang="es-MX" sz="1200" dirty="0" err="1"/>
              <a:t>Speech</a:t>
            </a:r>
            <a:r>
              <a:rPr lang="es-MX" sz="1200" dirty="0"/>
              <a:t>-</a:t>
            </a:r>
            <a:r>
              <a:rPr lang="es-MX" sz="1200" dirty="0" err="1"/>
              <a:t>To</a:t>
            </a:r>
            <a:r>
              <a:rPr lang="es-MX" sz="1200" dirty="0"/>
              <a:t>-Text) y a responderle usando una voz sintética hiperrealista (Text-</a:t>
            </a:r>
            <a:r>
              <a:rPr lang="es-MX" sz="1200" dirty="0" err="1"/>
              <a:t>To</a:t>
            </a:r>
            <a:r>
              <a:rPr lang="es-MX" sz="1200" dirty="0"/>
              <a:t>-</a:t>
            </a:r>
            <a:r>
              <a:rPr lang="es-MX" sz="1200" dirty="0" err="1"/>
              <a:t>Speech</a:t>
            </a:r>
            <a:r>
              <a:rPr lang="es-MX" sz="1200" dirty="0"/>
              <a:t>). Exploraremos el desafío técnico de la latencia y cómo lograr que estas conversaciones clínicas fluyan de manera natural en tiempo real.</a:t>
            </a:r>
          </a:p>
        </p:txBody>
      </p:sp>
      <p:sp>
        <p:nvSpPr>
          <p:cNvPr id="242" name="Google Shape;242;p38">
            <a:extLst>
              <a:ext uri="{FF2B5EF4-FFF2-40B4-BE49-F238E27FC236}">
                <a16:creationId xmlns:a16="http://schemas.microsoft.com/office/drawing/2014/main" id="{570EBEEF-3B0E-CFF4-56B0-3FF92851D7D7}"/>
              </a:ext>
            </a:extLst>
          </p:cNvPr>
          <p:cNvSpPr txBox="1"/>
          <p:nvPr/>
        </p:nvSpPr>
        <p:spPr>
          <a:xfrm>
            <a:off x="602400" y="659600"/>
            <a:ext cx="80808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Próxima Clase: El Médico que Escucha y Habla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485631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260700"/>
                </a:solidFill>
                <a:latin typeface="Plus Jakarta Sans ExtraBold"/>
                <a:ea typeface="Plus Jakarta Sans ExtraBold"/>
                <a:cs typeface="Plus Jakarta Sans ExtraBold"/>
                <a:sym typeface="Plus Jakarta Sans ExtraBold"/>
              </a:rPr>
              <a:t>¡Esta clase va a ser     grabada!	</a:t>
            </a:r>
            <a:endParaRPr sz="4800">
              <a:solidFill>
                <a:srgbClr val="260700"/>
              </a:solidFill>
              <a:latin typeface="Plus Jakarta Sans ExtraBold"/>
              <a:ea typeface="Plus Jakarta Sans ExtraBold"/>
              <a:cs typeface="Plus Jakarta Sans ExtraBold"/>
              <a:sym typeface="Plus Jakarta Sans ExtraBold"/>
            </a:endParaRPr>
          </a:p>
        </p:txBody>
      </p:sp>
      <p:sp>
        <p:nvSpPr>
          <p:cNvPr id="473" name="Google Shape;473;p61"/>
          <p:cNvSpPr/>
          <p:nvPr/>
        </p:nvSpPr>
        <p:spPr>
          <a:xfrm>
            <a:off x="4003875" y="14832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447</TotalTime>
  <Words>1136</Words>
  <Application>Microsoft Office PowerPoint</Application>
  <PresentationFormat>On-screen Show (16:9)</PresentationFormat>
  <Paragraphs>62</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Plus Jakarta Sans</vt:lpstr>
      <vt:lpstr>Plus Jakarta Sans ExtraBold</vt:lpstr>
      <vt:lpstr>Arial</vt:lpstr>
      <vt:lpstr>Plus Jakarta Sans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4</cp:revision>
  <dcterms:modified xsi:type="dcterms:W3CDTF">2026-04-30T23:55:15Z</dcterms:modified>
</cp:coreProperties>
</file>