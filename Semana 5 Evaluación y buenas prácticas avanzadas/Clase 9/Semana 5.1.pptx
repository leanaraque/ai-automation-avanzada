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2"/>
  </p:notesMasterIdLst>
  <p:sldIdLst>
    <p:sldId id="292" r:id="rId2"/>
    <p:sldId id="304" r:id="rId3"/>
    <p:sldId id="305" r:id="rId4"/>
    <p:sldId id="270" r:id="rId5"/>
    <p:sldId id="297" r:id="rId6"/>
    <p:sldId id="308" r:id="rId7"/>
    <p:sldId id="309" r:id="rId8"/>
    <p:sldId id="300" r:id="rId9"/>
    <p:sldId id="301" r:id="rId10"/>
    <p:sldId id="302" r:id="rId11"/>
    <p:sldId id="303" r:id="rId12"/>
    <p:sldId id="306" r:id="rId13"/>
    <p:sldId id="307" r:id="rId14"/>
    <p:sldId id="310" r:id="rId15"/>
    <p:sldId id="311" r:id="rId16"/>
    <p:sldId id="312" r:id="rId17"/>
    <p:sldId id="313" r:id="rId18"/>
    <p:sldId id="293" r:id="rId19"/>
    <p:sldId id="295" r:id="rId20"/>
    <p:sldId id="296" r:id="rId21"/>
  </p:sldIdLst>
  <p:sldSz cx="9144000" cy="5143500" type="screen16x9"/>
  <p:notesSz cx="6858000" cy="9144000"/>
  <p:embeddedFontLst>
    <p:embeddedFont>
      <p:font typeface="Plus Jakarta Sans" panose="020B0604020202020204" charset="0"/>
      <p:regular r:id="rId23"/>
      <p:bold r:id="rId24"/>
      <p:italic r:id="rId25"/>
      <p:boldItalic r:id="rId26"/>
    </p:embeddedFont>
    <p:embeddedFont>
      <p:font typeface="Plus Jakarta Sans ExtraBold" panose="020B0604020202020204" charset="0"/>
      <p:bold r:id="rId27"/>
      <p:boldItalic r:id="rId28"/>
    </p:embeddedFont>
    <p:embeddedFont>
      <p:font typeface="Plus Jakarta Sans Light"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A2E"/>
    <a:srgbClr val="B78E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056" y="120"/>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bb91f55cac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bb91f55cac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7A46B9C7-91F1-B23E-48EA-3F24E49D7E9F}"/>
            </a:ext>
          </a:extLst>
        </p:cNvPr>
        <p:cNvGrpSpPr/>
        <p:nvPr/>
      </p:nvGrpSpPr>
      <p:grpSpPr>
        <a:xfrm>
          <a:off x="0" y="0"/>
          <a:ext cx="0" cy="0"/>
          <a:chOff x="0" y="0"/>
          <a:chExt cx="0" cy="0"/>
        </a:xfrm>
      </p:grpSpPr>
      <p:sp>
        <p:nvSpPr>
          <p:cNvPr id="96" name="Google Shape;96;g3b53643a157_0_32:notes">
            <a:extLst>
              <a:ext uri="{FF2B5EF4-FFF2-40B4-BE49-F238E27FC236}">
                <a16:creationId xmlns:a16="http://schemas.microsoft.com/office/drawing/2014/main" id="{7E1AABD5-95E3-B980-021B-80512F0F52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b53643a157_0_32:notes">
            <a:extLst>
              <a:ext uri="{FF2B5EF4-FFF2-40B4-BE49-F238E27FC236}">
                <a16:creationId xmlns:a16="http://schemas.microsoft.com/office/drawing/2014/main" id="{35B72A50-EC8B-717E-8A5C-532DD9A727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5398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8C0841FC-9812-FA02-33AE-67F9F5FCD5E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EBDD2673-F7F8-162A-5E7C-C154444DB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B4C944AD-569D-8604-6368-1D3ECCB77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8433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53643a15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963C9C3-3633-88B0-BD3D-404542B14E1F}"/>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FEFE7E9F-B9AA-F8E9-E788-F20C2CD1A7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ABB37961-763C-6CF2-99B9-9A7D108A4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452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C5497E42-84E1-8575-CC75-5962A7FBDA0E}"/>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7E45A16-B15A-773E-4CA1-5B9CAE5CF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28BA075C-2781-0E76-A8FB-611172389B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825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3EADFCCC-2EBE-90A0-8641-15A2F38E8E94}"/>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ECE01DC-AE86-4965-854C-CE477E89AD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31B0C20B-4067-A2B6-E507-1A7E6A18B8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8232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E5C67B0-D0AA-C597-1D28-639449A02C5C}"/>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1DE2C624-492A-4C6B-471C-D7F79B648D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357497EE-B2AE-79EB-C064-5D6317B0B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473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64552E5D-0252-B7D7-5258-434517035A07}"/>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C1AFF759-A9E4-AEE2-C621-5E13A72C2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9CD7249D-FEF8-49B0-16BF-66CE747417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19202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1670F707-C027-5BE9-E289-22FDAFFBB03A}"/>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F5A574DD-5EFE-56B7-C673-E75CB78E19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D7ABD6E5-69E9-6E9E-FC34-D73180BFB8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6156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90F07D8E-B947-CA91-D4EF-E0141F047B0D}"/>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18761B69-F06E-8866-0F7E-312F647AB2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EB0B5C71-C9AD-9D94-F0DA-57839FC664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662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45D9364D-88EE-F589-2CCB-C34D8BB6ABB2}"/>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A0D87379-9AD9-3D69-F022-627AA6B725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5CD48B08-1003-536B-48DE-48571B9DE7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46264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48A5A36D-1E08-DB0E-6600-B49F7C239568}"/>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E26FC649-8282-3C71-729C-2C14CBAD9F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547C939D-3C6B-830C-F93E-60089B9900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9119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53D8B968-9B4A-CC15-C363-B9BFB63FE686}"/>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6D3C12CA-7C4D-739C-5E0A-993778ED01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EC7F762D-A249-E808-1E07-E5267B384F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4486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41942D1-9BC0-F78B-8712-8EB764F0E8DA}"/>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9EF3A095-4B5B-7B82-C561-B55D37AA58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B90A5DF3-17C0-B5A7-2F4B-A898937201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259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A99C2FA8-62D7-7B99-F9AB-4F60F7329AF6}"/>
            </a:ext>
          </a:extLst>
        </p:cNvPr>
        <p:cNvGrpSpPr/>
        <p:nvPr/>
      </p:nvGrpSpPr>
      <p:grpSpPr>
        <a:xfrm>
          <a:off x="0" y="0"/>
          <a:ext cx="0" cy="0"/>
          <a:chOff x="0" y="0"/>
          <a:chExt cx="0" cy="0"/>
        </a:xfrm>
      </p:grpSpPr>
      <p:sp>
        <p:nvSpPr>
          <p:cNvPr id="232" name="Google Shape;232;g3b53643a157_0_100:notes">
            <a:extLst>
              <a:ext uri="{FF2B5EF4-FFF2-40B4-BE49-F238E27FC236}">
                <a16:creationId xmlns:a16="http://schemas.microsoft.com/office/drawing/2014/main" id="{B5BADD55-CCE4-4DA5-33F8-0E7CDC456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53643a157_0_100:notes">
            <a:extLst>
              <a:ext uri="{FF2B5EF4-FFF2-40B4-BE49-F238E27FC236}">
                <a16:creationId xmlns:a16="http://schemas.microsoft.com/office/drawing/2014/main" id="{BAD75DCB-63D6-4FE4-A6C2-DC4BFD94D1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3832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C03C89B8-BA8F-480D-1BFB-E1D085264FB5}"/>
            </a:ext>
          </a:extLst>
        </p:cNvPr>
        <p:cNvGrpSpPr/>
        <p:nvPr/>
      </p:nvGrpSpPr>
      <p:grpSpPr>
        <a:xfrm>
          <a:off x="0" y="0"/>
          <a:ext cx="0" cy="0"/>
          <a:chOff x="0" y="0"/>
          <a:chExt cx="0" cy="0"/>
        </a:xfrm>
      </p:grpSpPr>
      <p:sp>
        <p:nvSpPr>
          <p:cNvPr id="238" name="Google Shape;238;g3b53643a157_0_38:notes">
            <a:extLst>
              <a:ext uri="{FF2B5EF4-FFF2-40B4-BE49-F238E27FC236}">
                <a16:creationId xmlns:a16="http://schemas.microsoft.com/office/drawing/2014/main" id="{7F153DDD-C743-EA2C-7FF0-1001BF2CB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a:extLst>
              <a:ext uri="{FF2B5EF4-FFF2-40B4-BE49-F238E27FC236}">
                <a16:creationId xmlns:a16="http://schemas.microsoft.com/office/drawing/2014/main" id="{B1040A98-C351-97F1-ABF4-675F9E85F8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6182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3bb91f55cac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3bb91f55cac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b53643a157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b53643a157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pic>
        <p:nvPicPr>
          <p:cNvPr id="52" name="Google Shape;52;p13" title="Group 1321318181.png"/>
          <p:cNvPicPr preferRelativeResize="0"/>
          <p:nvPr/>
        </p:nvPicPr>
        <p:blipFill>
          <a:blip r:embed="rId2">
            <a:alphaModFix/>
          </a:blip>
          <a:stretch>
            <a:fillRect/>
          </a:stretch>
        </p:blipFill>
        <p:spPr>
          <a:xfrm>
            <a:off x="0" y="2076162"/>
            <a:ext cx="9143997" cy="306733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
        <p:nvSpPr>
          <p:cNvPr id="55" name="Google Shape;55;p14"/>
          <p:cNvSpPr txBox="1"/>
          <p:nvPr/>
        </p:nvSpPr>
        <p:spPr>
          <a:xfrm>
            <a:off x="476125" y="165026"/>
            <a:ext cx="6444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Coderhouse</a:t>
            </a:r>
            <a:endParaRPr sz="500">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6923014" y="165026"/>
            <a:ext cx="1188600" cy="188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Internal  Presentation</a:t>
            </a:r>
            <a:endParaRPr sz="500">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196557" y="165026"/>
            <a:ext cx="1242000" cy="188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s" sz="500">
                <a:solidFill>
                  <a:srgbClr val="222224"/>
                </a:solidFill>
                <a:latin typeface="Plus Jakarta Sans"/>
                <a:ea typeface="Plus Jakarta Sans"/>
                <a:cs typeface="Plus Jakarta Sans"/>
                <a:sym typeface="Plus Jakarta Sans"/>
              </a:rPr>
              <a:t>2026</a:t>
            </a:r>
            <a:endParaRPr sz="500">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8373525" y="90649"/>
            <a:ext cx="369600" cy="337200"/>
          </a:xfrm>
          <a:prstGeom prst="rect">
            <a:avLst/>
          </a:prstGeom>
          <a:noFill/>
          <a:ln>
            <a:noFill/>
          </a:ln>
        </p:spPr>
        <p:txBody>
          <a:bodyPr spcFirstLastPara="1" wrap="square" lIns="88475" tIns="88475" rIns="88475" bIns="88475" anchor="ctr" anchorCtr="0">
            <a:noAutofit/>
          </a:bodyPr>
          <a:lstStyle/>
          <a:p>
            <a:pPr marL="0" lvl="0" indent="0" algn="ctr" rtl="0">
              <a:lnSpc>
                <a:spcPct val="100000"/>
              </a:lnSpc>
              <a:spcBef>
                <a:spcPts val="0"/>
              </a:spcBef>
              <a:spcAft>
                <a:spcPts val="0"/>
              </a:spcAft>
              <a:buNone/>
            </a:pPr>
            <a:fld id="{00000000-1234-1234-1234-123412341234}" type="slidenum">
              <a:rPr lang="es" sz="500">
                <a:solidFill>
                  <a:srgbClr val="222224"/>
                </a:solidFill>
                <a:latin typeface="Plus Jakarta Sans"/>
                <a:ea typeface="Plus Jakarta Sans"/>
                <a:cs typeface="Plus Jakarta Sans"/>
                <a:sym typeface="Plus Jakarta Sans"/>
              </a:rPr>
              <a:t>‹#›</a:t>
            </a:fld>
            <a:endParaRPr sz="500">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egro">
  <p:cSld name="BLANK_2">
    <p:bg>
      <p:bgPr>
        <a:solidFill>
          <a:srgbClr val="171717"/>
        </a:solidFill>
        <a:effectLst/>
      </p:bgPr>
    </p:bg>
    <p:spTree>
      <p:nvGrpSpPr>
        <p:cNvPr id="1" name="Shape 77"/>
        <p:cNvGrpSpPr/>
        <p:nvPr/>
      </p:nvGrpSpPr>
      <p:grpSpPr>
        <a:xfrm>
          <a:off x="0" y="0"/>
          <a:ext cx="0" cy="0"/>
          <a:chOff x="0" y="0"/>
          <a:chExt cx="0" cy="0"/>
        </a:xfrm>
      </p:grpSpPr>
      <p:sp>
        <p:nvSpPr>
          <p:cNvPr id="78" name="Google Shape;7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4" r:id="rId13"/>
    <p:sldLayoutId id="2147483665" r:id="rId14"/>
    <p:sldLayoutId id="2147483666" r:id="rId15"/>
    <p:sldLayoutId id="2147483667"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p:nvPr/>
        </p:nvSpPr>
        <p:spPr>
          <a:xfrm>
            <a:off x="652525" y="1336525"/>
            <a:ext cx="3873300" cy="171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F8F2E8"/>
                </a:solidFill>
                <a:latin typeface="Plus Jakarta Sans ExtraBold"/>
                <a:ea typeface="Plus Jakarta Sans ExtraBold"/>
                <a:cs typeface="Plus Jakarta Sans ExtraBold"/>
                <a:sym typeface="Plus Jakarta Sans ExtraBold"/>
              </a:rPr>
              <a:t>¡Esta clase va a ser     grabada!	</a:t>
            </a:r>
            <a:endParaRPr sz="4800" dirty="0">
              <a:solidFill>
                <a:srgbClr val="F8F2E8"/>
              </a:solidFill>
              <a:latin typeface="Plus Jakarta Sans ExtraBold"/>
              <a:ea typeface="Plus Jakarta Sans ExtraBold"/>
              <a:cs typeface="Plus Jakarta Sans ExtraBold"/>
              <a:sym typeface="Plus Jakarta Sans ExtraBold"/>
            </a:endParaRPr>
          </a:p>
        </p:txBody>
      </p:sp>
      <p:sp>
        <p:nvSpPr>
          <p:cNvPr id="461" name="Google Shape;461;p59"/>
          <p:cNvSpPr/>
          <p:nvPr/>
        </p:nvSpPr>
        <p:spPr>
          <a:xfrm>
            <a:off x="3601525" y="3168750"/>
            <a:ext cx="228300" cy="228300"/>
          </a:xfrm>
          <a:prstGeom prst="ellipse">
            <a:avLst/>
          </a:prstGeom>
          <a:solidFill>
            <a:srgbClr val="FDAB2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1B74C29A-DE63-7FDC-BEA4-A72B4CFCD7C9}"/>
            </a:ext>
          </a:extLst>
        </p:cNvPr>
        <p:cNvGrpSpPr/>
        <p:nvPr/>
      </p:nvGrpSpPr>
      <p:grpSpPr>
        <a:xfrm>
          <a:off x="0" y="0"/>
          <a:ext cx="0" cy="0"/>
          <a:chOff x="0" y="0"/>
          <a:chExt cx="0" cy="0"/>
        </a:xfrm>
      </p:grpSpPr>
      <p:sp>
        <p:nvSpPr>
          <p:cNvPr id="99" name="Google Shape;99;p24">
            <a:extLst>
              <a:ext uri="{FF2B5EF4-FFF2-40B4-BE49-F238E27FC236}">
                <a16:creationId xmlns:a16="http://schemas.microsoft.com/office/drawing/2014/main" id="{039C59A6-FA92-47FF-4468-CF31012F3C8E}"/>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F632B"/>
                </a:solidFill>
                <a:latin typeface="Plus Jakarta Sans ExtraBold"/>
                <a:ea typeface="Plus Jakarta Sans ExtraBold"/>
                <a:cs typeface="Plus Jakarta Sans ExtraBold"/>
                <a:sym typeface="Plus Jakarta Sans ExtraBold"/>
              </a:rPr>
              <a:t>01</a:t>
            </a:r>
            <a:endParaRPr sz="13000" dirty="0">
              <a:solidFill>
                <a:srgbClr val="FF632B"/>
              </a:solidFill>
              <a:latin typeface="Plus Jakarta Sans ExtraBold"/>
              <a:ea typeface="Plus Jakarta Sans ExtraBold"/>
              <a:cs typeface="Plus Jakarta Sans ExtraBold"/>
              <a:sym typeface="Plus Jakarta Sans ExtraBold"/>
            </a:endParaRPr>
          </a:p>
        </p:txBody>
      </p:sp>
      <p:sp>
        <p:nvSpPr>
          <p:cNvPr id="100" name="Google Shape;100;p24">
            <a:extLst>
              <a:ext uri="{FF2B5EF4-FFF2-40B4-BE49-F238E27FC236}">
                <a16:creationId xmlns:a16="http://schemas.microsoft.com/office/drawing/2014/main" id="{B1CB6669-63F7-4D3C-2CC4-5211A32186D4}"/>
              </a:ext>
            </a:extLst>
          </p:cNvPr>
          <p:cNvSpPr txBox="1"/>
          <p:nvPr/>
        </p:nvSpPr>
        <p:spPr>
          <a:xfrm>
            <a:off x="569500" y="3259622"/>
            <a:ext cx="8297182" cy="984903"/>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¿Quién vigila al vigilante?</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913501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1099319F-B8F4-3C42-6E39-923188A796A2}"/>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43C74DF3-C127-B03B-875C-D53BAA8DFDF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pPr lvl="0">
              <a:lnSpc>
                <a:spcPct val="115000"/>
              </a:lnSpc>
            </a:pPr>
            <a:r>
              <a:rPr lang="es-MX" sz="1200" dirty="0"/>
              <a:t>Hemos logrado que un humano supervise casos graves, pero es humanamente imposible auditar miles de respuestas a casos leves todos los días. Enviar respuestas médicas generadas por IA sin supervisión es un riesgo inaceptable. Hoy implementaremos un Auditor Jefe virtual cuya única responsabilidad es calificar, filtrar y auditar a nuestra IA operativa antes de que el paciente reciba un solo mensaje.</a:t>
            </a:r>
            <a:endParaRPr sz="1200" dirty="0">
              <a:solidFill>
                <a:srgbClr val="171717"/>
              </a:solidFill>
              <a:latin typeface="Plus Jakarta Sans Light"/>
              <a:ea typeface="Plus Jakarta Sans Light"/>
              <a:cs typeface="Plus Jakarta Sans Light"/>
              <a:sym typeface="Plus Jakarta Sans Light"/>
            </a:endParaRPr>
          </a:p>
        </p:txBody>
      </p:sp>
      <p:sp>
        <p:nvSpPr>
          <p:cNvPr id="242" name="Google Shape;242;p38">
            <a:extLst>
              <a:ext uri="{FF2B5EF4-FFF2-40B4-BE49-F238E27FC236}">
                <a16:creationId xmlns:a16="http://schemas.microsoft.com/office/drawing/2014/main" id="{06C4A36D-75AA-2A5A-0B5C-93E6CC02A4FB}"/>
              </a:ext>
            </a:extLst>
          </p:cNvPr>
          <p:cNvSpPr txBox="1"/>
          <p:nvPr/>
        </p:nvSpPr>
        <p:spPr>
          <a:xfrm>
            <a:off x="602400" y="659600"/>
            <a:ext cx="78156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El reto de la escala en automatización clínica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41829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7"/>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02</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p:cNvSpPr txBox="1"/>
          <p:nvPr/>
        </p:nvSpPr>
        <p:spPr>
          <a:xfrm>
            <a:off x="440049" y="2905375"/>
            <a:ext cx="8523951"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8F2E8"/>
                </a:solidFill>
                <a:latin typeface="Plus Jakarta Sans ExtraBold"/>
                <a:ea typeface="Plus Jakarta Sans ExtraBold"/>
                <a:cs typeface="Plus Jakarta Sans ExtraBold"/>
                <a:sym typeface="Plus Jakarta Sans ExtraBold"/>
              </a:rPr>
              <a:t>Evaluation-Driven</a:t>
            </a:r>
            <a:r>
              <a:rPr lang="es-MX" sz="4800" dirty="0">
                <a:solidFill>
                  <a:srgbClr val="F8F2E8"/>
                </a:solidFill>
                <a:latin typeface="Plus Jakarta Sans ExtraBold"/>
                <a:ea typeface="Plus Jakarta Sans ExtraBold"/>
                <a:cs typeface="Plus Jakarta Sans ExtraBold"/>
                <a:sym typeface="Plus Jakarta Sans ExtraBold"/>
              </a:rPr>
              <a:t> </a:t>
            </a:r>
            <a:r>
              <a:rPr lang="es-MX" sz="4800" dirty="0" err="1">
                <a:solidFill>
                  <a:srgbClr val="F8F2E8"/>
                </a:solidFill>
                <a:latin typeface="Plus Jakarta Sans ExtraBold"/>
                <a:ea typeface="Plus Jakarta Sans ExtraBold"/>
                <a:cs typeface="Plus Jakarta Sans ExtraBold"/>
                <a:sym typeface="Plus Jakarta Sans ExtraBold"/>
              </a:rPr>
              <a:t>Development</a:t>
            </a:r>
            <a:endParaRPr sz="4800" dirty="0">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A7E972E-CC67-FD11-E217-D6664720EF1F}"/>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F62405F9-5D7D-3918-B599-58CF6AC9BACE}"/>
              </a:ext>
            </a:extLst>
          </p:cNvPr>
          <p:cNvSpPr txBox="1"/>
          <p:nvPr/>
        </p:nvSpPr>
        <p:spPr>
          <a:xfrm>
            <a:off x="724085" y="2874000"/>
            <a:ext cx="7815600" cy="2269500"/>
          </a:xfrm>
          <a:prstGeom prst="rect">
            <a:avLst/>
          </a:prstGeom>
          <a:noFill/>
          <a:ln>
            <a:noFill/>
          </a:ln>
        </p:spPr>
        <p:txBody>
          <a:bodyPr spcFirstLastPara="1" wrap="square" lIns="91425" tIns="91425" rIns="91425" bIns="91425" anchor="t" anchorCtr="0">
            <a:noAutofit/>
          </a:bodyPr>
          <a:lstStyle/>
          <a:p>
            <a:r>
              <a:rPr lang="es-MX" sz="1200" dirty="0"/>
              <a:t>El software clásico se valida con pruebas exactas de acierto o error. La inteligencia artificial requiere un paradigma completamente distinto debido a su naturaleza probabilística. Implementamos evaluaciones semánticas para medir la empatía, la seguridad clínica y la coherencia lógica, asegurando que el modelo cumpla con los protocolos médicos sin importar qué palabras elija para redactar su respuesta.</a:t>
            </a:r>
          </a:p>
        </p:txBody>
      </p:sp>
      <p:sp>
        <p:nvSpPr>
          <p:cNvPr id="242" name="Google Shape;242;p38">
            <a:extLst>
              <a:ext uri="{FF2B5EF4-FFF2-40B4-BE49-F238E27FC236}">
                <a16:creationId xmlns:a16="http://schemas.microsoft.com/office/drawing/2014/main" id="{1345C527-D9F3-54BB-92E0-DD6A4347AD8E}"/>
              </a:ext>
            </a:extLst>
          </p:cNvPr>
          <p:cNvSpPr txBox="1"/>
          <p:nvPr/>
        </p:nvSpPr>
        <p:spPr>
          <a:xfrm>
            <a:off x="595200" y="465200"/>
            <a:ext cx="831840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Más allá del código tradicional</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5774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3723CB8-EE0E-4BF0-D6F8-06D99768E633}"/>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6B2E3F4-2664-2A61-3822-1D80AF2BCF3E}"/>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03</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B1C7AC66-EBB1-F1EC-9EDF-B0CF66526018}"/>
              </a:ext>
            </a:extLst>
          </p:cNvPr>
          <p:cNvSpPr txBox="1"/>
          <p:nvPr/>
        </p:nvSpPr>
        <p:spPr>
          <a:xfrm>
            <a:off x="825189" y="2689376"/>
            <a:ext cx="798553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La Anatomía de la Evaluación</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888637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01DEC09-5D29-28FF-FCB9-42DF195EC34C}"/>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DF8488BA-DDA5-4EA1-2A4F-C0908C056FF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Garantizar la calidad requiere tres filtros de validación. </a:t>
            </a:r>
          </a:p>
          <a:p>
            <a:pPr marL="228600" indent="-228600">
              <a:buAutoNum type="arabicPeriod"/>
            </a:pPr>
            <a:r>
              <a:rPr lang="es-MX" sz="1200" dirty="0"/>
              <a:t>El primer nivel utiliza reglas estrictas y gratuitas para confirmar formatos, como exigir que la salida sea un JSON. </a:t>
            </a:r>
          </a:p>
          <a:p>
            <a:pPr marL="228600" indent="-228600">
              <a:buAutoNum type="arabicPeriod"/>
            </a:pPr>
            <a:r>
              <a:rPr lang="es-MX" sz="1200" dirty="0"/>
              <a:t>El segundo nivel emplea similitud vectorial para asegurar que la respuesta se parezca al protocolo original. </a:t>
            </a:r>
          </a:p>
          <a:p>
            <a:pPr marL="228600" indent="-228600">
              <a:buAutoNum type="arabicPeriod"/>
            </a:pPr>
            <a:r>
              <a:rPr lang="es-MX" sz="1200" dirty="0"/>
              <a:t>Finalmente, cuando requerimos análisis contextual complejo, como medir la empatía o el peligro clínico, recurrimos al juez algorítmico avanzado.</a:t>
            </a:r>
          </a:p>
        </p:txBody>
      </p:sp>
      <p:sp>
        <p:nvSpPr>
          <p:cNvPr id="242" name="Google Shape;242;p38">
            <a:extLst>
              <a:ext uri="{FF2B5EF4-FFF2-40B4-BE49-F238E27FC236}">
                <a16:creationId xmlns:a16="http://schemas.microsoft.com/office/drawing/2014/main" id="{AE24F7E7-A9BA-CD27-63A7-28DF81524A7F}"/>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No todas las métricas cuestan tokens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51804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4489BBB9-DD3B-BA16-C821-5DAF4C377F7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7233B890-BF32-7E93-4E97-B5AE77DDB279}"/>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04</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DC0B55F0-4559-279A-33A9-1429D126B213}"/>
              </a:ext>
            </a:extLst>
          </p:cNvPr>
          <p:cNvSpPr txBox="1"/>
          <p:nvPr/>
        </p:nvSpPr>
        <p:spPr>
          <a:xfrm>
            <a:off x="744220" y="3698615"/>
            <a:ext cx="70983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LLM-as-a-</a:t>
            </a:r>
            <a:r>
              <a:rPr lang="es-MX" sz="4800" dirty="0" err="1">
                <a:solidFill>
                  <a:srgbClr val="F8F2E8"/>
                </a:solidFill>
                <a:latin typeface="Plus Jakarta Sans ExtraBold"/>
                <a:ea typeface="Plus Jakarta Sans ExtraBold"/>
                <a:cs typeface="Plus Jakarta Sans ExtraBold"/>
                <a:sym typeface="Plus Jakarta Sans ExtraBold"/>
              </a:rPr>
              <a:t>Judge</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096223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DAAFA1AF-DB83-7D55-0115-2FF41CBC95C1}"/>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BB2B2E9D-D2C1-FC5A-EADE-255F8DD4FE3C}"/>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Este es el patrón de diseño definitivo para llevar automatizaciones a producción. Utilizamos un modelo de lenguaje avanzado no para generar texto, sino para leer, razonar y emitir un veredicto sobre el trabajo de otro modelo. Este juez implacable asigna una calificación de calidad y bloquea instantáneamente cualquier intento de recetar medicamentos o emitir consejos peligrosos.</a:t>
            </a:r>
          </a:p>
        </p:txBody>
      </p:sp>
      <p:sp>
        <p:nvSpPr>
          <p:cNvPr id="242" name="Google Shape;242;p38">
            <a:extLst>
              <a:ext uri="{FF2B5EF4-FFF2-40B4-BE49-F238E27FC236}">
                <a16:creationId xmlns:a16="http://schemas.microsoft.com/office/drawing/2014/main" id="{E5A715D0-0569-1438-29F4-A0A9A875B494}"/>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4800" dirty="0">
                <a:solidFill>
                  <a:srgbClr val="FF632B"/>
                </a:solidFill>
                <a:latin typeface="Plus Jakarta Sans ExtraBold"/>
                <a:ea typeface="Plus Jakarta Sans ExtraBold"/>
                <a:cs typeface="Plus Jakarta Sans ExtraBold"/>
                <a:sym typeface="Plus Jakarta Sans ExtraBold"/>
              </a:rPr>
              <a:t>IA Auditando a </a:t>
            </a:r>
            <a:r>
              <a:rPr lang="pt-BR" sz="4800" dirty="0" err="1">
                <a:solidFill>
                  <a:srgbClr val="FF632B"/>
                </a:solidFill>
                <a:latin typeface="Plus Jakarta Sans ExtraBold"/>
                <a:ea typeface="Plus Jakarta Sans ExtraBold"/>
                <a:cs typeface="Plus Jakarta Sans ExtraBold"/>
                <a:sym typeface="Plus Jakarta Sans ExtraBold"/>
              </a:rPr>
              <a:t>otra</a:t>
            </a:r>
            <a:r>
              <a:rPr lang="pt-BR" sz="4800" dirty="0">
                <a:solidFill>
                  <a:srgbClr val="FF632B"/>
                </a:solidFill>
                <a:latin typeface="Plus Jakarta Sans ExtraBold"/>
                <a:ea typeface="Plus Jakarta Sans ExtraBold"/>
                <a:cs typeface="Plus Jakarta Sans ExtraBold"/>
                <a:sym typeface="Plus Jakarta Sans ExtraBold"/>
              </a:rPr>
              <a:t> IA</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649393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1F74700F-231E-6570-B0EE-AB9403634847}"/>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8EEB216B-43F5-B577-2A21-7D1A65310F74}"/>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05</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39774D4D-904D-5654-17C6-C2A07E9B77EA}"/>
              </a:ext>
            </a:extLst>
          </p:cNvPr>
          <p:cNvSpPr txBox="1"/>
          <p:nvPr/>
        </p:nvSpPr>
        <p:spPr>
          <a:xfrm>
            <a:off x="780220" y="3273815"/>
            <a:ext cx="7098350"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err="1">
                <a:solidFill>
                  <a:srgbClr val="F8F2E8"/>
                </a:solidFill>
                <a:latin typeface="Plus Jakarta Sans ExtraBold"/>
                <a:ea typeface="Plus Jakarta Sans ExtraBold"/>
                <a:cs typeface="Plus Jakarta Sans ExtraBold"/>
                <a:sym typeface="Plus Jakarta Sans ExtraBold"/>
              </a:rPr>
              <a:t>Observabilidad</a:t>
            </a:r>
            <a:r>
              <a:rPr lang="es-MX" sz="4800" dirty="0">
                <a:solidFill>
                  <a:srgbClr val="F8F2E8"/>
                </a:solidFill>
                <a:latin typeface="Plus Jakarta Sans ExtraBold"/>
                <a:ea typeface="Plus Jakarta Sans ExtraBold"/>
                <a:cs typeface="Plus Jakarta Sans ExtraBold"/>
                <a:sym typeface="Plus Jakarta Sans ExtraBold"/>
              </a:rPr>
              <a:t> en Producción</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09242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553D3FCF-C631-0418-2765-6B5745C4DF07}"/>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2BDFD754-A165-3AC2-22BF-A58B5004CA14}"/>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Un auditor virtual pierde su valor si sus decisiones ocurren en la sombra. Cada evaluación, ya sea una aprobación segura o el bloqueo de una alucinación peligrosa, se registra silenciosamente en una base de datos centralizada. Este historial continuo de operaciones es vital, permitiendo a los ingenieros detectar fallos, medir el rendimiento del modelo y perfeccionar el comportamiento del sistema.</a:t>
            </a:r>
          </a:p>
        </p:txBody>
      </p:sp>
      <p:sp>
        <p:nvSpPr>
          <p:cNvPr id="242" name="Google Shape;242;p38">
            <a:extLst>
              <a:ext uri="{FF2B5EF4-FFF2-40B4-BE49-F238E27FC236}">
                <a16:creationId xmlns:a16="http://schemas.microsoft.com/office/drawing/2014/main" id="{768ECBDF-D3A9-B760-467F-BDBD517A8F7B}"/>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BR" sz="4800" dirty="0">
                <a:solidFill>
                  <a:srgbClr val="FF632B"/>
                </a:solidFill>
                <a:latin typeface="Plus Jakarta Sans ExtraBold"/>
                <a:ea typeface="Plus Jakarta Sans ExtraBold"/>
                <a:cs typeface="Plus Jakarta Sans ExtraBold"/>
                <a:sym typeface="Plus Jakarta Sans ExtraBold"/>
              </a:rPr>
              <a:t>El Dashboard de </a:t>
            </a:r>
            <a:r>
              <a:rPr lang="pt-BR" sz="4800" dirty="0" err="1">
                <a:solidFill>
                  <a:srgbClr val="FF632B"/>
                </a:solidFill>
                <a:latin typeface="Plus Jakarta Sans ExtraBold"/>
                <a:ea typeface="Plus Jakarta Sans ExtraBold"/>
                <a:cs typeface="Plus Jakarta Sans ExtraBold"/>
                <a:sym typeface="Plus Jakarta Sans ExtraBold"/>
              </a:rPr>
              <a:t>Calidad</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109383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76CCBF06-1583-A3B4-AB34-64632A6FD0F3}"/>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FC92B928-4E95-CE03-B50E-805E00482DDB}"/>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06</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8FAEB673-EB71-FCC2-1AAE-CD7A99B2C441}"/>
              </a:ext>
            </a:extLst>
          </p:cNvPr>
          <p:cNvSpPr txBox="1"/>
          <p:nvPr/>
        </p:nvSpPr>
        <p:spPr>
          <a:xfrm>
            <a:off x="825189" y="2689376"/>
            <a:ext cx="798553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Entornos Reproducibles (Dry-Run)</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51320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8286DFB1-AB94-E123-B87B-04F93A0D323D}"/>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04E5F4A6-D6C9-1433-AA99-8055F37C7D31}"/>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En producción jamás probamos un flujo enviando mensajes reales a pacientes. Un "Dry-Run" es una ejecución en seco donde desconectamos las salidas al mundo exterior e inyectamos un lote de casos simulados. Esto nos permite evaluar simultáneamente cómo reacciona nuestro Jurado IA ante un resfriado común o ante un intento de manipulación, asegurando la robustez del sistema en un entorno cien por ciento seguro.</a:t>
            </a:r>
          </a:p>
        </p:txBody>
      </p:sp>
      <p:sp>
        <p:nvSpPr>
          <p:cNvPr id="242" name="Google Shape;242;p38">
            <a:extLst>
              <a:ext uri="{FF2B5EF4-FFF2-40B4-BE49-F238E27FC236}">
                <a16:creationId xmlns:a16="http://schemas.microsoft.com/office/drawing/2014/main" id="{B6685E5F-13E4-C80A-16F0-5970E4C9805E}"/>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Pruebas de estrés sin riesgos</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66413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BA4389EA-244C-B0CD-11F1-A58B9EAC2F76}"/>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22C4682A-3089-A3F8-9D8F-96DE82BA0D25}"/>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07</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C8F1ABAC-4A1E-015E-B902-8F54165AC422}"/>
              </a:ext>
            </a:extLst>
          </p:cNvPr>
          <p:cNvSpPr txBox="1"/>
          <p:nvPr/>
        </p:nvSpPr>
        <p:spPr>
          <a:xfrm>
            <a:off x="742743" y="3716202"/>
            <a:ext cx="798553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El Simulacro de Hackeo</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117260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06F74450-CDD3-A256-182F-C4A760B3C06A}"/>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5630C219-FD63-9F72-B579-620657F7C2ED}"/>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Un sistema médico con inteligencia artificial es un objetivo crítico. Los atacantes o pacientes frustrados pueden usar inyecciones de instrucciones para engañar al modelo operativo y forzarlo a emitir recetas falsas o revelar protocolos internos. Nuestro diseño de arquitectura asume que la primera línea de defensa puede caer, confiando en que el Auditor virtual detectará la violación semántica y bloqueará el ataque antes de que se ejecute.</a:t>
            </a:r>
          </a:p>
        </p:txBody>
      </p:sp>
      <p:sp>
        <p:nvSpPr>
          <p:cNvPr id="242" name="Google Shape;242;p38">
            <a:extLst>
              <a:ext uri="{FF2B5EF4-FFF2-40B4-BE49-F238E27FC236}">
                <a16:creationId xmlns:a16="http://schemas.microsoft.com/office/drawing/2014/main" id="{BD43DD84-EED6-BA2F-1F6E-D5C3C712A40F}"/>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Protegiendo al sistema de "</a:t>
            </a:r>
            <a:r>
              <a:rPr lang="es-MX" sz="4800" dirty="0" err="1">
                <a:solidFill>
                  <a:srgbClr val="FF632B"/>
                </a:solidFill>
                <a:latin typeface="Plus Jakarta Sans ExtraBold"/>
                <a:ea typeface="Plus Jakarta Sans ExtraBold"/>
                <a:cs typeface="Plus Jakarta Sans ExtraBold"/>
                <a:sym typeface="Plus Jakarta Sans ExtraBold"/>
              </a:rPr>
              <a:t>Prompt</a:t>
            </a:r>
            <a:r>
              <a:rPr lang="es-MX" sz="4800" dirty="0">
                <a:solidFill>
                  <a:srgbClr val="FF632B"/>
                </a:solidFill>
                <a:latin typeface="Plus Jakarta Sans ExtraBold"/>
                <a:ea typeface="Plus Jakarta Sans ExtraBold"/>
                <a:cs typeface="Plus Jakarta Sans ExtraBold"/>
                <a:sym typeface="Plus Jakarta Sans ExtraBold"/>
              </a:rPr>
              <a:t> </a:t>
            </a:r>
            <a:r>
              <a:rPr lang="es-MX" sz="4800" dirty="0" err="1">
                <a:solidFill>
                  <a:srgbClr val="FF632B"/>
                </a:solidFill>
                <a:latin typeface="Plus Jakarta Sans ExtraBold"/>
                <a:ea typeface="Plus Jakarta Sans ExtraBold"/>
                <a:cs typeface="Plus Jakarta Sans ExtraBold"/>
                <a:sym typeface="Plus Jakarta Sans ExtraBold"/>
              </a:rPr>
              <a:t>Injections</a:t>
            </a:r>
            <a:r>
              <a:rPr lang="es-MX" sz="4800" dirty="0">
                <a:solidFill>
                  <a:srgbClr val="FF632B"/>
                </a:solidFill>
                <a:latin typeface="Plus Jakarta Sans ExtraBold"/>
                <a:ea typeface="Plus Jakarta Sans ExtraBold"/>
                <a:cs typeface="Plus Jakarta Sans ExtraBold"/>
                <a:sym typeface="Plus Jakarta Sans ExtraBold"/>
              </a:rPr>
              <a:t>"</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208842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4">
          <a:extLst>
            <a:ext uri="{FF2B5EF4-FFF2-40B4-BE49-F238E27FC236}">
              <a16:creationId xmlns:a16="http://schemas.microsoft.com/office/drawing/2014/main" id="{539FC396-8CF9-F28F-2787-F5EC53AC5DBC}"/>
            </a:ext>
          </a:extLst>
        </p:cNvPr>
        <p:cNvGrpSpPr/>
        <p:nvPr/>
      </p:nvGrpSpPr>
      <p:grpSpPr>
        <a:xfrm>
          <a:off x="0" y="0"/>
          <a:ext cx="0" cy="0"/>
          <a:chOff x="0" y="0"/>
          <a:chExt cx="0" cy="0"/>
        </a:xfrm>
      </p:grpSpPr>
      <p:sp>
        <p:nvSpPr>
          <p:cNvPr id="235" name="Google Shape;235;p37">
            <a:extLst>
              <a:ext uri="{FF2B5EF4-FFF2-40B4-BE49-F238E27FC236}">
                <a16:creationId xmlns:a16="http://schemas.microsoft.com/office/drawing/2014/main" id="{82615962-9170-8EB8-848D-ED6153B3B0FB}"/>
              </a:ext>
            </a:extLst>
          </p:cNvPr>
          <p:cNvSpPr txBox="1"/>
          <p:nvPr/>
        </p:nvSpPr>
        <p:spPr>
          <a:xfrm>
            <a:off x="6180025" y="314075"/>
            <a:ext cx="2630700" cy="17199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3000" dirty="0">
                <a:solidFill>
                  <a:srgbClr val="FDAB2E"/>
                </a:solidFill>
                <a:latin typeface="Plus Jakarta Sans ExtraBold"/>
                <a:ea typeface="Plus Jakarta Sans ExtraBold"/>
                <a:cs typeface="Plus Jakarta Sans ExtraBold"/>
                <a:sym typeface="Plus Jakarta Sans ExtraBold"/>
              </a:rPr>
              <a:t>08</a:t>
            </a:r>
            <a:endParaRPr sz="13000" dirty="0">
              <a:solidFill>
                <a:srgbClr val="FDAB2E"/>
              </a:solidFill>
              <a:latin typeface="Plus Jakarta Sans ExtraBold"/>
              <a:ea typeface="Plus Jakarta Sans ExtraBold"/>
              <a:cs typeface="Plus Jakarta Sans ExtraBold"/>
              <a:sym typeface="Plus Jakarta Sans ExtraBold"/>
            </a:endParaRPr>
          </a:p>
        </p:txBody>
      </p:sp>
      <p:sp>
        <p:nvSpPr>
          <p:cNvPr id="236" name="Google Shape;236;p37">
            <a:extLst>
              <a:ext uri="{FF2B5EF4-FFF2-40B4-BE49-F238E27FC236}">
                <a16:creationId xmlns:a16="http://schemas.microsoft.com/office/drawing/2014/main" id="{B2BCF5B8-8F55-4CD2-645E-8E945279D051}"/>
              </a:ext>
            </a:extLst>
          </p:cNvPr>
          <p:cNvSpPr txBox="1"/>
          <p:nvPr/>
        </p:nvSpPr>
        <p:spPr>
          <a:xfrm>
            <a:off x="735248" y="3551310"/>
            <a:ext cx="798553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8F2E8"/>
                </a:solidFill>
                <a:latin typeface="Plus Jakarta Sans ExtraBold"/>
                <a:ea typeface="Plus Jakarta Sans ExtraBold"/>
                <a:cs typeface="Plus Jakarta Sans ExtraBold"/>
                <a:sym typeface="Plus Jakarta Sans ExtraBold"/>
              </a:rPr>
              <a:t>Gestión de Secretos</a:t>
            </a:r>
            <a:endParaRPr sz="4800" dirty="0">
              <a:solidFill>
                <a:srgbClr val="F8F2E8"/>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432034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A683E9E1-AB70-5BCB-9EEB-55DBD1A89292}"/>
            </a:ext>
          </a:extLst>
        </p:cNvPr>
        <p:cNvGrpSpPr/>
        <p:nvPr/>
      </p:nvGrpSpPr>
      <p:grpSpPr>
        <a:xfrm>
          <a:off x="0" y="0"/>
          <a:ext cx="0" cy="0"/>
          <a:chOff x="0" y="0"/>
          <a:chExt cx="0" cy="0"/>
        </a:xfrm>
      </p:grpSpPr>
      <p:sp>
        <p:nvSpPr>
          <p:cNvPr id="241" name="Google Shape;241;p38">
            <a:extLst>
              <a:ext uri="{FF2B5EF4-FFF2-40B4-BE49-F238E27FC236}">
                <a16:creationId xmlns:a16="http://schemas.microsoft.com/office/drawing/2014/main" id="{556A7A64-C5A2-724E-C0EE-8E717BE26236}"/>
              </a:ext>
            </a:extLst>
          </p:cNvPr>
          <p:cNvSpPr txBox="1"/>
          <p:nvPr/>
        </p:nvSpPr>
        <p:spPr>
          <a:xfrm>
            <a:off x="739075" y="2481425"/>
            <a:ext cx="7815600" cy="2269500"/>
          </a:xfrm>
          <a:prstGeom prst="rect">
            <a:avLst/>
          </a:prstGeom>
          <a:noFill/>
          <a:ln>
            <a:noFill/>
          </a:ln>
        </p:spPr>
        <p:txBody>
          <a:bodyPr spcFirstLastPara="1" wrap="square" lIns="91425" tIns="91425" rIns="91425" bIns="91425" anchor="t" anchorCtr="0">
            <a:noAutofit/>
          </a:bodyPr>
          <a:lstStyle/>
          <a:p>
            <a:r>
              <a:rPr lang="es-MX" sz="1200" dirty="0"/>
              <a:t>Nuestros agentes no solo conversan, ahora tienen "manos" para leer bases de datos o consultar historiales en </a:t>
            </a:r>
            <a:r>
              <a:rPr lang="es-MX" sz="1200" dirty="0" err="1"/>
              <a:t>Pinecone</a:t>
            </a:r>
            <a:r>
              <a:rPr lang="es-MX" sz="1200" dirty="0"/>
              <a:t>. Manejar los secretos de API requiere una regla inquebrantable: otorgar únicamente el permiso estrictamente necesario. Si un agente solo necesita leer un protocolo, su credencial jamás debe tener permisos de escritura o borrado. Aislar estos accesos previene que una alucinación o un ataque se convierta en una catástrofe hospitalaria.</a:t>
            </a:r>
          </a:p>
        </p:txBody>
      </p:sp>
      <p:sp>
        <p:nvSpPr>
          <p:cNvPr id="242" name="Google Shape;242;p38">
            <a:extLst>
              <a:ext uri="{FF2B5EF4-FFF2-40B4-BE49-F238E27FC236}">
                <a16:creationId xmlns:a16="http://schemas.microsoft.com/office/drawing/2014/main" id="{CE1B9D0E-BC31-B5E9-8E8C-C34BF455AA6B}"/>
              </a:ext>
            </a:extLst>
          </p:cNvPr>
          <p:cNvSpPr txBox="1"/>
          <p:nvPr/>
        </p:nvSpPr>
        <p:spPr>
          <a:xfrm>
            <a:off x="602399" y="659600"/>
            <a:ext cx="7952275" cy="84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MX" sz="4800" dirty="0">
                <a:solidFill>
                  <a:srgbClr val="FF632B"/>
                </a:solidFill>
                <a:latin typeface="Plus Jakarta Sans ExtraBold"/>
                <a:ea typeface="Plus Jakarta Sans ExtraBold"/>
                <a:cs typeface="Plus Jakarta Sans ExtraBold"/>
                <a:sym typeface="Plus Jakarta Sans ExtraBold"/>
              </a:rPr>
              <a:t>El Principio de Mínimo Privilegio</a:t>
            </a:r>
            <a:endParaRPr sz="4800" dirty="0">
              <a:solidFill>
                <a:srgbClr val="FF632B"/>
              </a:solidFill>
              <a:latin typeface="Plus Jakarta Sans ExtraBold"/>
              <a:ea typeface="Plus Jakarta Sans ExtraBold"/>
              <a:cs typeface="Plus Jakarta Sans ExtraBold"/>
              <a:sym typeface="Plus Jakarta Sans ExtraBold"/>
            </a:endParaRPr>
          </a:p>
        </p:txBody>
      </p:sp>
    </p:spTree>
    <p:extLst>
      <p:ext uri="{BB962C8B-B14F-4D97-AF65-F5344CB8AC3E}">
        <p14:creationId xmlns:p14="http://schemas.microsoft.com/office/powerpoint/2010/main" val="372235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0"/>
          <p:cNvSpPr txBox="1"/>
          <p:nvPr/>
        </p:nvSpPr>
        <p:spPr>
          <a:xfrm>
            <a:off x="666925" y="354461"/>
            <a:ext cx="6254700" cy="244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6000" dirty="0">
                <a:solidFill>
                  <a:srgbClr val="F8F2E8"/>
                </a:solidFill>
                <a:latin typeface="Plus Jakarta Sans ExtraBold"/>
                <a:ea typeface="Plus Jakarta Sans ExtraBold"/>
                <a:cs typeface="Plus Jakarta Sans ExtraBold"/>
                <a:sym typeface="Plus Jakarta Sans ExtraBold"/>
              </a:rPr>
              <a:t>Break,</a:t>
            </a:r>
            <a:endParaRPr sz="60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endParaRPr sz="2800" dirty="0">
              <a:solidFill>
                <a:srgbClr val="F8F2E8"/>
              </a:solidFill>
              <a:latin typeface="Plus Jakarta Sans ExtraBold"/>
              <a:ea typeface="Plus Jakarta Sans ExtraBold"/>
              <a:cs typeface="Plus Jakarta Sans ExtraBold"/>
              <a:sym typeface="Plus Jakarta Sans ExtraBold"/>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andá por un cafecito</a:t>
            </a:r>
            <a:endParaRPr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o mate, ¡y volvemos!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15 Minutos</a:t>
            </a:r>
          </a:p>
          <a:p>
            <a:pPr marL="0" lvl="0" indent="0" algn="l" rtl="0">
              <a:spcBef>
                <a:spcPts val="0"/>
              </a:spcBef>
              <a:spcAft>
                <a:spcPts val="0"/>
              </a:spcAft>
              <a:buNone/>
            </a:pPr>
            <a:endParaRPr lang="es" sz="2400" dirty="0">
              <a:solidFill>
                <a:srgbClr val="F8F2E8"/>
              </a:solidFill>
              <a:latin typeface="Plus Jakarta Sans"/>
              <a:ea typeface="Plus Jakarta Sans"/>
              <a:cs typeface="Plus Jakarta Sans"/>
              <a:sym typeface="Plus Jakarta Sans"/>
            </a:endParaRPr>
          </a:p>
          <a:p>
            <a:pPr marL="0" lvl="0" indent="0" algn="l" rtl="0">
              <a:spcBef>
                <a:spcPts val="0"/>
              </a:spcBef>
              <a:spcAft>
                <a:spcPts val="0"/>
              </a:spcAft>
              <a:buNone/>
            </a:pPr>
            <a:r>
              <a:rPr lang="es" sz="2400" dirty="0">
                <a:solidFill>
                  <a:schemeClr val="tx1"/>
                </a:solidFill>
                <a:latin typeface="Plus Jakarta Sans"/>
                <a:ea typeface="Plus Jakarta Sans"/>
                <a:cs typeface="Plus Jakarta Sans"/>
                <a:sym typeface="Plus Jakarta Sans"/>
              </a:rPr>
              <a:t>20:10</a:t>
            </a:r>
          </a:p>
          <a:p>
            <a:pPr marL="0" lvl="0" indent="0" algn="l" rtl="0">
              <a:spcBef>
                <a:spcPts val="0"/>
              </a:spcBef>
              <a:spcAft>
                <a:spcPts val="0"/>
              </a:spcAft>
              <a:buNone/>
            </a:pPr>
            <a:r>
              <a:rPr lang="es" sz="2400" dirty="0">
                <a:solidFill>
                  <a:srgbClr val="F8F2E8"/>
                </a:solidFill>
                <a:latin typeface="Plus Jakarta Sans"/>
                <a:ea typeface="Plus Jakarta Sans"/>
                <a:cs typeface="Plus Jakarta Sans"/>
                <a:sym typeface="Plus Jakarta Sans"/>
              </a:rPr>
              <a:t>UTC -3</a:t>
            </a:r>
            <a:endParaRPr sz="2400" dirty="0">
              <a:solidFill>
                <a:srgbClr val="F8F2E8"/>
              </a:solidFill>
              <a:latin typeface="Plus Jakarta Sans"/>
              <a:ea typeface="Plus Jakarta Sans"/>
              <a:cs typeface="Plus Jakarta Sans"/>
              <a:sym typeface="Plus Jakarta Sans"/>
            </a:endParaRPr>
          </a:p>
        </p:txBody>
      </p:sp>
      <p:pic>
        <p:nvPicPr>
          <p:cNvPr id="467" name="Google Shape;467;p60" title="Vector.png"/>
          <p:cNvPicPr preferRelativeResize="0"/>
          <p:nvPr/>
        </p:nvPicPr>
        <p:blipFill rotWithShape="1">
          <a:blip r:embed="rId3">
            <a:alphaModFix/>
          </a:blip>
          <a:srcRect l="30" r="40"/>
          <a:stretch/>
        </p:blipFill>
        <p:spPr>
          <a:xfrm>
            <a:off x="7520578" y="2347936"/>
            <a:ext cx="524575" cy="447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62"/>
          <p:cNvSpPr txBox="1"/>
          <p:nvPr/>
        </p:nvSpPr>
        <p:spPr>
          <a:xfrm>
            <a:off x="571500" y="2392650"/>
            <a:ext cx="6977400" cy="1500000"/>
          </a:xfrm>
          <a:prstGeom prst="rect">
            <a:avLst/>
          </a:prstGeom>
          <a:noFill/>
          <a:ln>
            <a:noFill/>
          </a:ln>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s" sz="4900">
                <a:solidFill>
                  <a:srgbClr val="F8F2E8"/>
                </a:solidFill>
                <a:latin typeface="Plus Jakarta Sans ExtraBold"/>
                <a:ea typeface="Plus Jakarta Sans ExtraBold"/>
                <a:cs typeface="Plus Jakarta Sans ExtraBold"/>
                <a:sym typeface="Plus Jakarta Sans ExtraBold"/>
              </a:rPr>
              <a:t>¡Gracias por </a:t>
            </a:r>
            <a:r>
              <a:rPr lang="es" sz="4900">
                <a:solidFill>
                  <a:srgbClr val="FDAB2E"/>
                </a:solidFill>
                <a:latin typeface="Plus Jakarta Sans ExtraBold"/>
                <a:ea typeface="Plus Jakarta Sans ExtraBold"/>
                <a:cs typeface="Plus Jakarta Sans ExtraBold"/>
                <a:sym typeface="Plus Jakarta Sans ExtraBold"/>
              </a:rPr>
              <a:t>estudiar </a:t>
            </a:r>
            <a:r>
              <a:rPr lang="es" sz="4900">
                <a:solidFill>
                  <a:srgbClr val="F8F2E8"/>
                </a:solidFill>
                <a:latin typeface="Plus Jakarta Sans ExtraBold"/>
                <a:ea typeface="Plus Jakarta Sans ExtraBold"/>
                <a:cs typeface="Plus Jakarta Sans ExtraBold"/>
                <a:sym typeface="Plus Jakarta Sans ExtraBold"/>
              </a:rPr>
              <a:t>con nosotros!</a:t>
            </a:r>
            <a:endParaRPr sz="4900">
              <a:solidFill>
                <a:srgbClr val="F8F2E8"/>
              </a:solidFill>
              <a:latin typeface="Plus Jakarta Sans ExtraBold"/>
              <a:ea typeface="Plus Jakarta Sans ExtraBold"/>
              <a:cs typeface="Plus Jakarta Sans ExtraBold"/>
              <a:sym typeface="Plus Jakarta Sans ExtraBold"/>
            </a:endParaRPr>
          </a:p>
        </p:txBody>
      </p:sp>
      <p:sp>
        <p:nvSpPr>
          <p:cNvPr id="479" name="Google Shape;479;p62"/>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F8F2E8"/>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F8F2E8"/>
              </a:solidFill>
              <a:latin typeface="Plus Jakarta Sans"/>
              <a:ea typeface="Plus Jakarta Sans"/>
              <a:cs typeface="Plus Jakarta Sans"/>
              <a:sym typeface="Plus Jakarta Sans"/>
            </a:endParaRPr>
          </a:p>
        </p:txBody>
      </p:sp>
      <p:pic>
        <p:nvPicPr>
          <p:cNvPr id="480" name="Google Shape;480;p62" title="Group 1321317428.png"/>
          <p:cNvPicPr preferRelativeResize="0"/>
          <p:nvPr/>
        </p:nvPicPr>
        <p:blipFill>
          <a:blip r:embed="rId3">
            <a:alphaModFix/>
          </a:blip>
          <a:stretch>
            <a:fillRect/>
          </a:stretch>
        </p:blipFill>
        <p:spPr>
          <a:xfrm>
            <a:off x="7711325" y="609525"/>
            <a:ext cx="861174" cy="8577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571500" y="2175175"/>
            <a:ext cx="6462900" cy="1500000"/>
          </a:xfrm>
          <a:prstGeom prst="rect">
            <a:avLst/>
          </a:prstGeom>
          <a:noFill/>
          <a:ln>
            <a:noFill/>
          </a:ln>
        </p:spPr>
        <p:txBody>
          <a:bodyPr spcFirstLastPara="1" wrap="square" lIns="91425" tIns="91425" rIns="91425" bIns="91425" anchor="t" anchorCtr="0">
            <a:noAutofit/>
          </a:bodyPr>
          <a:lstStyle/>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¡Muchas</a:t>
            </a:r>
            <a:endParaRPr sz="6100">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s" sz="6100">
                <a:solidFill>
                  <a:srgbClr val="260700"/>
                </a:solidFill>
                <a:latin typeface="Plus Jakarta Sans ExtraBold"/>
                <a:ea typeface="Plus Jakarta Sans ExtraBold"/>
                <a:cs typeface="Plus Jakarta Sans ExtraBold"/>
                <a:sym typeface="Plus Jakarta Sans ExtraBold"/>
              </a:rPr>
              <a:t>gracias!</a:t>
            </a:r>
            <a:endParaRPr sz="6100">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571500" y="3792150"/>
            <a:ext cx="8001000" cy="9063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6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s" sz="6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6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alphaModFix/>
          </a:blip>
          <a:stretch>
            <a:fillRect/>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751</TotalTime>
  <Words>1111</Words>
  <Application>Microsoft Office PowerPoint</Application>
  <PresentationFormat>On-screen Show (16:9)</PresentationFormat>
  <Paragraphs>54</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Plus Jakarta Sans Light</vt:lpstr>
      <vt:lpstr>Plus Jakarta Sans</vt:lpstr>
      <vt:lpstr>Arial</vt:lpstr>
      <vt:lpstr>Plus Jakarta Sans ExtraBold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Leandro Araque</cp:lastModifiedBy>
  <cp:revision>7</cp:revision>
  <dcterms:modified xsi:type="dcterms:W3CDTF">2026-05-15T00:02:15Z</dcterms:modified>
</cp:coreProperties>
</file>