
<file path=[Content_Types].xml><?xml version="1.0" encoding="utf-8"?>
<Types xmlns="http://schemas.openxmlformats.org/package/2006/content-types">
  <Default Extension="fntdata" ContentType="application/x-fontdata"/>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9" r:id="rId1"/>
  </p:sldMasterIdLst>
  <p:notesMasterIdLst>
    <p:notesMasterId r:id="rId21"/>
  </p:notesMasterIdLst>
  <p:sldIdLst>
    <p:sldId id="256" r:id="rId2"/>
    <p:sldId id="292" r:id="rId3"/>
    <p:sldId id="257" r:id="rId4"/>
    <p:sldId id="298" r:id="rId5"/>
    <p:sldId id="304" r:id="rId6"/>
    <p:sldId id="307" r:id="rId7"/>
    <p:sldId id="306" r:id="rId8"/>
    <p:sldId id="309" r:id="rId9"/>
    <p:sldId id="308" r:id="rId10"/>
    <p:sldId id="305" r:id="rId11"/>
    <p:sldId id="293" r:id="rId12"/>
    <p:sldId id="316" r:id="rId13"/>
    <p:sldId id="310" r:id="rId14"/>
    <p:sldId id="312" r:id="rId15"/>
    <p:sldId id="313" r:id="rId16"/>
    <p:sldId id="311" r:id="rId17"/>
    <p:sldId id="314" r:id="rId18"/>
    <p:sldId id="315" r:id="rId19"/>
    <p:sldId id="295" r:id="rId20"/>
  </p:sldIdLst>
  <p:sldSz cx="9144000" cy="5143500" type="screen16x9"/>
  <p:notesSz cx="6858000" cy="9144000"/>
  <p:embeddedFontLst>
    <p:embeddedFont>
      <p:font typeface="Plus Jakarta Sans" panose="020B0604020202020204" charset="0"/>
      <p:regular r:id="rId22"/>
      <p:bold r:id="rId23"/>
      <p:italic r:id="rId24"/>
      <p:boldItalic r:id="rId25"/>
    </p:embeddedFont>
    <p:embeddedFont>
      <p:font typeface="Plus Jakarta Sans ExtraBold" panose="020B0604020202020204" charset="0"/>
      <p:bold r:id="rId26"/>
      <p:boldItalic r:id="rId27"/>
    </p:embeddedFont>
    <p:embeddedFont>
      <p:font typeface="Plus Jakarta Sans Light" panose="020B0604020202020204" charset="0"/>
      <p:regular r:id="rId28"/>
      <p:bold r:id="rId29"/>
      <p:italic r:id="rId30"/>
      <p:bold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3" d="100"/>
          <a:sy n="133" d="100"/>
        </p:scale>
        <p:origin x="906" y="90"/>
      </p:cViewPr>
      <p:guideLst>
        <p:guide orient="horz" pos="1620"/>
        <p:guide pos="28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notesMaster" Target="notesMasters/notesMaster1.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g3bb91f55cac_0_2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8" name="Google Shape;458;g3bb91f55cac_0_2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b53643a157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b53643a157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a:extLst>
            <a:ext uri="{FF2B5EF4-FFF2-40B4-BE49-F238E27FC236}">
              <a16:creationId xmlns:a16="http://schemas.microsoft.com/office/drawing/2014/main" id="{4E21F3CF-45CB-1879-AC43-C17B12C4213A}"/>
            </a:ext>
          </a:extLst>
        </p:cNvPr>
        <p:cNvGrpSpPr/>
        <p:nvPr/>
      </p:nvGrpSpPr>
      <p:grpSpPr>
        <a:xfrm>
          <a:off x="0" y="0"/>
          <a:ext cx="0" cy="0"/>
          <a:chOff x="0" y="0"/>
          <a:chExt cx="0" cy="0"/>
        </a:xfrm>
      </p:grpSpPr>
      <p:sp>
        <p:nvSpPr>
          <p:cNvPr id="121" name="Google Shape;121;g3bb91f55cac_0_133:notes">
            <a:extLst>
              <a:ext uri="{FF2B5EF4-FFF2-40B4-BE49-F238E27FC236}">
                <a16:creationId xmlns:a16="http://schemas.microsoft.com/office/drawing/2014/main" id="{3532042A-F96C-22C7-E8A4-D6127A06641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3bb91f55cac_0_133:notes">
            <a:extLst>
              <a:ext uri="{FF2B5EF4-FFF2-40B4-BE49-F238E27FC236}">
                <a16:creationId xmlns:a16="http://schemas.microsoft.com/office/drawing/2014/main" id="{EF7813F5-612E-D787-A1B7-7B30584CC76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648156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83F9F571-ADCB-CA5C-A2B3-E9BAA4F7EE25}"/>
            </a:ext>
          </a:extLst>
        </p:cNvPr>
        <p:cNvGrpSpPr/>
        <p:nvPr/>
      </p:nvGrpSpPr>
      <p:grpSpPr>
        <a:xfrm>
          <a:off x="0" y="0"/>
          <a:ext cx="0" cy="0"/>
          <a:chOff x="0" y="0"/>
          <a:chExt cx="0" cy="0"/>
        </a:xfrm>
      </p:grpSpPr>
      <p:sp>
        <p:nvSpPr>
          <p:cNvPr id="96" name="Google Shape;96;g3b53643a157_0_32:notes">
            <a:extLst>
              <a:ext uri="{FF2B5EF4-FFF2-40B4-BE49-F238E27FC236}">
                <a16:creationId xmlns:a16="http://schemas.microsoft.com/office/drawing/2014/main" id="{256A91FA-D389-E4A9-1DBA-7A3DF00A88D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b53643a157_0_32:notes">
            <a:extLst>
              <a:ext uri="{FF2B5EF4-FFF2-40B4-BE49-F238E27FC236}">
                <a16:creationId xmlns:a16="http://schemas.microsoft.com/office/drawing/2014/main" id="{56FF8A4A-9444-D1C0-025A-9DEB07D6B9A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999398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a:extLst>
            <a:ext uri="{FF2B5EF4-FFF2-40B4-BE49-F238E27FC236}">
              <a16:creationId xmlns:a16="http://schemas.microsoft.com/office/drawing/2014/main" id="{EB07C7A5-F0F8-BE2B-F91A-9C4A19822804}"/>
            </a:ext>
          </a:extLst>
        </p:cNvPr>
        <p:cNvGrpSpPr/>
        <p:nvPr/>
      </p:nvGrpSpPr>
      <p:grpSpPr>
        <a:xfrm>
          <a:off x="0" y="0"/>
          <a:ext cx="0" cy="0"/>
          <a:chOff x="0" y="0"/>
          <a:chExt cx="0" cy="0"/>
        </a:xfrm>
      </p:grpSpPr>
      <p:sp>
        <p:nvSpPr>
          <p:cNvPr id="169" name="Google Shape;169;g3bb91f55cac_0_191:notes">
            <a:extLst>
              <a:ext uri="{FF2B5EF4-FFF2-40B4-BE49-F238E27FC236}">
                <a16:creationId xmlns:a16="http://schemas.microsoft.com/office/drawing/2014/main" id="{3E2C43EF-1B74-A511-2277-6A123C3E68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3bb91f55cac_0_191:notes">
            <a:extLst>
              <a:ext uri="{FF2B5EF4-FFF2-40B4-BE49-F238E27FC236}">
                <a16:creationId xmlns:a16="http://schemas.microsoft.com/office/drawing/2014/main" id="{EF580511-61CC-240C-10BC-2D9C034F0B1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475279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0F000AE2-51C8-2477-180F-FDE3573FD2E7}"/>
            </a:ext>
          </a:extLst>
        </p:cNvPr>
        <p:cNvGrpSpPr/>
        <p:nvPr/>
      </p:nvGrpSpPr>
      <p:grpSpPr>
        <a:xfrm>
          <a:off x="0" y="0"/>
          <a:ext cx="0" cy="0"/>
          <a:chOff x="0" y="0"/>
          <a:chExt cx="0" cy="0"/>
        </a:xfrm>
      </p:grpSpPr>
      <p:sp>
        <p:nvSpPr>
          <p:cNvPr id="96" name="Google Shape;96;g3b53643a157_0_32:notes">
            <a:extLst>
              <a:ext uri="{FF2B5EF4-FFF2-40B4-BE49-F238E27FC236}">
                <a16:creationId xmlns:a16="http://schemas.microsoft.com/office/drawing/2014/main" id="{0DD4F0D6-63FF-7236-DBA6-52E6154A472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b53643a157_0_32:notes">
            <a:extLst>
              <a:ext uri="{FF2B5EF4-FFF2-40B4-BE49-F238E27FC236}">
                <a16:creationId xmlns:a16="http://schemas.microsoft.com/office/drawing/2014/main" id="{B7DB78DA-0BC0-A135-A58E-BB7BD8271E5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095764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a:extLst>
            <a:ext uri="{FF2B5EF4-FFF2-40B4-BE49-F238E27FC236}">
              <a16:creationId xmlns:a16="http://schemas.microsoft.com/office/drawing/2014/main" id="{6A63AAF1-799A-1456-BE7E-409C6E4D317F}"/>
            </a:ext>
          </a:extLst>
        </p:cNvPr>
        <p:cNvGrpSpPr/>
        <p:nvPr/>
      </p:nvGrpSpPr>
      <p:grpSpPr>
        <a:xfrm>
          <a:off x="0" y="0"/>
          <a:ext cx="0" cy="0"/>
          <a:chOff x="0" y="0"/>
          <a:chExt cx="0" cy="0"/>
        </a:xfrm>
      </p:grpSpPr>
      <p:sp>
        <p:nvSpPr>
          <p:cNvPr id="121" name="Google Shape;121;g3bb91f55cac_0_133:notes">
            <a:extLst>
              <a:ext uri="{FF2B5EF4-FFF2-40B4-BE49-F238E27FC236}">
                <a16:creationId xmlns:a16="http://schemas.microsoft.com/office/drawing/2014/main" id="{5087A459-F4E6-89FF-D2D6-863742D552C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3bb91f55cac_0_133:notes">
            <a:extLst>
              <a:ext uri="{FF2B5EF4-FFF2-40B4-BE49-F238E27FC236}">
                <a16:creationId xmlns:a16="http://schemas.microsoft.com/office/drawing/2014/main" id="{24E4658D-26B6-C47E-48DD-1FA5B42F023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781183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3EE42DFC-B282-C479-960D-42FE8D28D012}"/>
            </a:ext>
          </a:extLst>
        </p:cNvPr>
        <p:cNvGrpSpPr/>
        <p:nvPr/>
      </p:nvGrpSpPr>
      <p:grpSpPr>
        <a:xfrm>
          <a:off x="0" y="0"/>
          <a:ext cx="0" cy="0"/>
          <a:chOff x="0" y="0"/>
          <a:chExt cx="0" cy="0"/>
        </a:xfrm>
      </p:grpSpPr>
      <p:sp>
        <p:nvSpPr>
          <p:cNvPr id="96" name="Google Shape;96;g3b53643a157_0_32:notes">
            <a:extLst>
              <a:ext uri="{FF2B5EF4-FFF2-40B4-BE49-F238E27FC236}">
                <a16:creationId xmlns:a16="http://schemas.microsoft.com/office/drawing/2014/main" id="{E9CBF863-CB18-B6E3-858D-C89CB96615D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b53643a157_0_32:notes">
            <a:extLst>
              <a:ext uri="{FF2B5EF4-FFF2-40B4-BE49-F238E27FC236}">
                <a16:creationId xmlns:a16="http://schemas.microsoft.com/office/drawing/2014/main" id="{5D848550-07F6-DCC0-EBC4-52BB4B517CF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279686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a:extLst>
            <a:ext uri="{FF2B5EF4-FFF2-40B4-BE49-F238E27FC236}">
              <a16:creationId xmlns:a16="http://schemas.microsoft.com/office/drawing/2014/main" id="{2181F9B4-FDE2-0D67-5AA3-49942A95B63A}"/>
            </a:ext>
          </a:extLst>
        </p:cNvPr>
        <p:cNvGrpSpPr/>
        <p:nvPr/>
      </p:nvGrpSpPr>
      <p:grpSpPr>
        <a:xfrm>
          <a:off x="0" y="0"/>
          <a:ext cx="0" cy="0"/>
          <a:chOff x="0" y="0"/>
          <a:chExt cx="0" cy="0"/>
        </a:xfrm>
      </p:grpSpPr>
      <p:sp>
        <p:nvSpPr>
          <p:cNvPr id="121" name="Google Shape;121;g3bb91f55cac_0_133:notes">
            <a:extLst>
              <a:ext uri="{FF2B5EF4-FFF2-40B4-BE49-F238E27FC236}">
                <a16:creationId xmlns:a16="http://schemas.microsoft.com/office/drawing/2014/main" id="{D428C1D0-F381-C536-7515-D8A4D16066B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3bb91f55cac_0_133:notes">
            <a:extLst>
              <a:ext uri="{FF2B5EF4-FFF2-40B4-BE49-F238E27FC236}">
                <a16:creationId xmlns:a16="http://schemas.microsoft.com/office/drawing/2014/main" id="{8DF6C58F-4949-2F8A-B60B-0086B164A6F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420592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g3bb91f55cac_0_3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4" name="Google Shape;464;g3bb91f55cac_0_3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a:extLst>
            <a:ext uri="{FF2B5EF4-FFF2-40B4-BE49-F238E27FC236}">
              <a16:creationId xmlns:a16="http://schemas.microsoft.com/office/drawing/2014/main" id="{8F4FFB6C-0788-85C3-510C-62E8F06C09C7}"/>
            </a:ext>
          </a:extLst>
        </p:cNvPr>
        <p:cNvGrpSpPr/>
        <p:nvPr/>
      </p:nvGrpSpPr>
      <p:grpSpPr>
        <a:xfrm>
          <a:off x="0" y="0"/>
          <a:ext cx="0" cy="0"/>
          <a:chOff x="0" y="0"/>
          <a:chExt cx="0" cy="0"/>
        </a:xfrm>
      </p:grpSpPr>
      <p:sp>
        <p:nvSpPr>
          <p:cNvPr id="121" name="Google Shape;121;g3bb91f55cac_0_133:notes">
            <a:extLst>
              <a:ext uri="{FF2B5EF4-FFF2-40B4-BE49-F238E27FC236}">
                <a16:creationId xmlns:a16="http://schemas.microsoft.com/office/drawing/2014/main" id="{4AC7B5DA-BC88-5FE3-0A85-CB047E291E9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3bb91f55cac_0_133:notes">
            <a:extLst>
              <a:ext uri="{FF2B5EF4-FFF2-40B4-BE49-F238E27FC236}">
                <a16:creationId xmlns:a16="http://schemas.microsoft.com/office/drawing/2014/main" id="{753F45E8-E8BC-1694-CF67-F27A3B35E51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833646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D080B11A-80A9-8206-42C5-6ECA9EA0783F}"/>
            </a:ext>
          </a:extLst>
        </p:cNvPr>
        <p:cNvGrpSpPr/>
        <p:nvPr/>
      </p:nvGrpSpPr>
      <p:grpSpPr>
        <a:xfrm>
          <a:off x="0" y="0"/>
          <a:ext cx="0" cy="0"/>
          <a:chOff x="0" y="0"/>
          <a:chExt cx="0" cy="0"/>
        </a:xfrm>
      </p:grpSpPr>
      <p:sp>
        <p:nvSpPr>
          <p:cNvPr id="96" name="Google Shape;96;g3b53643a157_0_32:notes">
            <a:extLst>
              <a:ext uri="{FF2B5EF4-FFF2-40B4-BE49-F238E27FC236}">
                <a16:creationId xmlns:a16="http://schemas.microsoft.com/office/drawing/2014/main" id="{7E8D283E-D6E1-5469-954C-DC96560C86B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b53643a157_0_32:notes">
            <a:extLst>
              <a:ext uri="{FF2B5EF4-FFF2-40B4-BE49-F238E27FC236}">
                <a16:creationId xmlns:a16="http://schemas.microsoft.com/office/drawing/2014/main" id="{17B9279B-0775-8C7F-B813-DB422E4138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087923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a:extLst>
            <a:ext uri="{FF2B5EF4-FFF2-40B4-BE49-F238E27FC236}">
              <a16:creationId xmlns:a16="http://schemas.microsoft.com/office/drawing/2014/main" id="{997FDCF5-B61D-C27A-7937-D85C652FC3EF}"/>
            </a:ext>
          </a:extLst>
        </p:cNvPr>
        <p:cNvGrpSpPr/>
        <p:nvPr/>
      </p:nvGrpSpPr>
      <p:grpSpPr>
        <a:xfrm>
          <a:off x="0" y="0"/>
          <a:ext cx="0" cy="0"/>
          <a:chOff x="0" y="0"/>
          <a:chExt cx="0" cy="0"/>
        </a:xfrm>
      </p:grpSpPr>
      <p:sp>
        <p:nvSpPr>
          <p:cNvPr id="121" name="Google Shape;121;g3bb91f55cac_0_133:notes">
            <a:extLst>
              <a:ext uri="{FF2B5EF4-FFF2-40B4-BE49-F238E27FC236}">
                <a16:creationId xmlns:a16="http://schemas.microsoft.com/office/drawing/2014/main" id="{9DBC5C81-B11F-C4E9-E1E9-F10FB94A461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3bb91f55cac_0_133:notes">
            <a:extLst>
              <a:ext uri="{FF2B5EF4-FFF2-40B4-BE49-F238E27FC236}">
                <a16:creationId xmlns:a16="http://schemas.microsoft.com/office/drawing/2014/main" id="{CCCE5F75-D217-7194-65C6-0D2C13A7CFC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423159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AC6E23E8-CDAF-9510-2F22-2445295E69E4}"/>
            </a:ext>
          </a:extLst>
        </p:cNvPr>
        <p:cNvGrpSpPr/>
        <p:nvPr/>
      </p:nvGrpSpPr>
      <p:grpSpPr>
        <a:xfrm>
          <a:off x="0" y="0"/>
          <a:ext cx="0" cy="0"/>
          <a:chOff x="0" y="0"/>
          <a:chExt cx="0" cy="0"/>
        </a:xfrm>
      </p:grpSpPr>
      <p:sp>
        <p:nvSpPr>
          <p:cNvPr id="96" name="Google Shape;96;g3b53643a157_0_32:notes">
            <a:extLst>
              <a:ext uri="{FF2B5EF4-FFF2-40B4-BE49-F238E27FC236}">
                <a16:creationId xmlns:a16="http://schemas.microsoft.com/office/drawing/2014/main" id="{CFC5195A-E44F-0815-0D5F-DA8453A2E2D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b53643a157_0_32:notes">
            <a:extLst>
              <a:ext uri="{FF2B5EF4-FFF2-40B4-BE49-F238E27FC236}">
                <a16:creationId xmlns:a16="http://schemas.microsoft.com/office/drawing/2014/main" id="{271C3C1E-532A-258F-AB31-D2ACEDDD8F4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336512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a:extLst>
            <a:ext uri="{FF2B5EF4-FFF2-40B4-BE49-F238E27FC236}">
              <a16:creationId xmlns:a16="http://schemas.microsoft.com/office/drawing/2014/main" id="{90CF4B60-6A30-D571-4525-3D02BD69E6E5}"/>
            </a:ext>
          </a:extLst>
        </p:cNvPr>
        <p:cNvGrpSpPr/>
        <p:nvPr/>
      </p:nvGrpSpPr>
      <p:grpSpPr>
        <a:xfrm>
          <a:off x="0" y="0"/>
          <a:ext cx="0" cy="0"/>
          <a:chOff x="0" y="0"/>
          <a:chExt cx="0" cy="0"/>
        </a:xfrm>
      </p:grpSpPr>
      <p:sp>
        <p:nvSpPr>
          <p:cNvPr id="121" name="Google Shape;121;g3bb91f55cac_0_133:notes">
            <a:extLst>
              <a:ext uri="{FF2B5EF4-FFF2-40B4-BE49-F238E27FC236}">
                <a16:creationId xmlns:a16="http://schemas.microsoft.com/office/drawing/2014/main" id="{EF8C6EB5-67DD-428F-F7E8-53E59C3331D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3bb91f55cac_0_133:notes">
            <a:extLst>
              <a:ext uri="{FF2B5EF4-FFF2-40B4-BE49-F238E27FC236}">
                <a16:creationId xmlns:a16="http://schemas.microsoft.com/office/drawing/2014/main" id="{529B1C58-2C24-45F5-ED82-BAC83BEED6C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865757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178DF1EF-EC58-F427-BA53-8E551F71E784}"/>
            </a:ext>
          </a:extLst>
        </p:cNvPr>
        <p:cNvGrpSpPr/>
        <p:nvPr/>
      </p:nvGrpSpPr>
      <p:grpSpPr>
        <a:xfrm>
          <a:off x="0" y="0"/>
          <a:ext cx="0" cy="0"/>
          <a:chOff x="0" y="0"/>
          <a:chExt cx="0" cy="0"/>
        </a:xfrm>
      </p:grpSpPr>
      <p:sp>
        <p:nvSpPr>
          <p:cNvPr id="96" name="Google Shape;96;g3b53643a157_0_32:notes">
            <a:extLst>
              <a:ext uri="{FF2B5EF4-FFF2-40B4-BE49-F238E27FC236}">
                <a16:creationId xmlns:a16="http://schemas.microsoft.com/office/drawing/2014/main" id="{9C631974-E17C-3525-7E14-BC397D2CC0A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b53643a157_0_32:notes">
            <a:extLst>
              <a:ext uri="{FF2B5EF4-FFF2-40B4-BE49-F238E27FC236}">
                <a16:creationId xmlns:a16="http://schemas.microsoft.com/office/drawing/2014/main" id="{4FF73BCF-3083-9A1F-61D7-0B42B002A79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913276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FAE5F7D1-7D75-0525-325D-74740B60D33E}"/>
            </a:ext>
          </a:extLst>
        </p:cNvPr>
        <p:cNvGrpSpPr/>
        <p:nvPr/>
      </p:nvGrpSpPr>
      <p:grpSpPr>
        <a:xfrm>
          <a:off x="0" y="0"/>
          <a:ext cx="0" cy="0"/>
          <a:chOff x="0" y="0"/>
          <a:chExt cx="0" cy="0"/>
        </a:xfrm>
      </p:grpSpPr>
      <p:sp>
        <p:nvSpPr>
          <p:cNvPr id="130" name="Google Shape;130;g3bb91f55cac_0_146:notes">
            <a:extLst>
              <a:ext uri="{FF2B5EF4-FFF2-40B4-BE49-F238E27FC236}">
                <a16:creationId xmlns:a16="http://schemas.microsoft.com/office/drawing/2014/main" id="{422827B4-7377-EF16-9037-59A26523B19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3bb91f55cac_0_146:notes">
            <a:extLst>
              <a:ext uri="{FF2B5EF4-FFF2-40B4-BE49-F238E27FC236}">
                <a16:creationId xmlns:a16="http://schemas.microsoft.com/office/drawing/2014/main" id="{4FD0AB93-E403-D4BE-4174-70FDA1C9A4B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443808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g3b53643a157_0_3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6" name="Google Shape;476;g3b53643a157_0_3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co 1">
  <p:cSld name="BLANK_3">
    <p:bg>
      <p:bgPr>
        <a:solidFill>
          <a:schemeClr val="lt1"/>
        </a:solidFill>
        <a:effectLst/>
      </p:bgPr>
    </p:bg>
    <p:spTree>
      <p:nvGrpSpPr>
        <p:cNvPr id="1" name="Shape 53"/>
        <p:cNvGrpSpPr/>
        <p:nvPr/>
      </p:nvGrpSpPr>
      <p:grpSpPr>
        <a:xfrm>
          <a:off x="0" y="0"/>
          <a:ext cx="0" cy="0"/>
          <a:chOff x="0" y="0"/>
          <a:chExt cx="0" cy="0"/>
        </a:xfrm>
      </p:grpSpPr>
      <p:sp>
        <p:nvSpPr>
          <p:cNvPr id="54" name="Google Shape;54;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
        <p:nvSpPr>
          <p:cNvPr id="55" name="Google Shape;55;p14"/>
          <p:cNvSpPr txBox="1"/>
          <p:nvPr/>
        </p:nvSpPr>
        <p:spPr>
          <a:xfrm>
            <a:off x="476125" y="165026"/>
            <a:ext cx="644400" cy="1884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s" sz="500">
                <a:solidFill>
                  <a:srgbClr val="222224"/>
                </a:solidFill>
                <a:latin typeface="Plus Jakarta Sans"/>
                <a:ea typeface="Plus Jakarta Sans"/>
                <a:cs typeface="Plus Jakarta Sans"/>
                <a:sym typeface="Plus Jakarta Sans"/>
              </a:rPr>
              <a:t>Coderhouse</a:t>
            </a:r>
            <a:endParaRPr sz="500">
              <a:solidFill>
                <a:srgbClr val="222224"/>
              </a:solidFill>
              <a:latin typeface="Plus Jakarta Sans"/>
              <a:ea typeface="Plus Jakarta Sans"/>
              <a:cs typeface="Plus Jakarta Sans"/>
              <a:sym typeface="Plus Jakarta Sans"/>
            </a:endParaRPr>
          </a:p>
        </p:txBody>
      </p:sp>
      <p:sp>
        <p:nvSpPr>
          <p:cNvPr id="56" name="Google Shape;56;p14"/>
          <p:cNvSpPr txBox="1"/>
          <p:nvPr/>
        </p:nvSpPr>
        <p:spPr>
          <a:xfrm>
            <a:off x="6923014" y="165026"/>
            <a:ext cx="1188600" cy="1884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None/>
            </a:pPr>
            <a:r>
              <a:rPr lang="es" sz="500">
                <a:solidFill>
                  <a:srgbClr val="222224"/>
                </a:solidFill>
                <a:latin typeface="Plus Jakarta Sans"/>
                <a:ea typeface="Plus Jakarta Sans"/>
                <a:cs typeface="Plus Jakarta Sans"/>
                <a:sym typeface="Plus Jakarta Sans"/>
              </a:rPr>
              <a:t>Internal  Presentation</a:t>
            </a:r>
            <a:endParaRPr sz="500">
              <a:solidFill>
                <a:srgbClr val="222224"/>
              </a:solidFill>
              <a:latin typeface="Plus Jakarta Sans"/>
              <a:ea typeface="Plus Jakarta Sans"/>
              <a:cs typeface="Plus Jakarta Sans"/>
              <a:sym typeface="Plus Jakarta Sans"/>
            </a:endParaRPr>
          </a:p>
        </p:txBody>
      </p:sp>
      <p:sp>
        <p:nvSpPr>
          <p:cNvPr id="57" name="Google Shape;57;p14"/>
          <p:cNvSpPr txBox="1"/>
          <p:nvPr/>
        </p:nvSpPr>
        <p:spPr>
          <a:xfrm>
            <a:off x="2196557" y="165026"/>
            <a:ext cx="1242000" cy="1884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s" sz="500">
                <a:solidFill>
                  <a:srgbClr val="222224"/>
                </a:solidFill>
                <a:latin typeface="Plus Jakarta Sans"/>
                <a:ea typeface="Plus Jakarta Sans"/>
                <a:cs typeface="Plus Jakarta Sans"/>
                <a:sym typeface="Plus Jakarta Sans"/>
              </a:rPr>
              <a:t>2026</a:t>
            </a:r>
            <a:endParaRPr sz="500">
              <a:solidFill>
                <a:srgbClr val="222224"/>
              </a:solidFill>
              <a:latin typeface="Plus Jakarta Sans"/>
              <a:ea typeface="Plus Jakarta Sans"/>
              <a:cs typeface="Plus Jakarta Sans"/>
              <a:sym typeface="Plus Jakarta Sans"/>
            </a:endParaRPr>
          </a:p>
        </p:txBody>
      </p:sp>
      <p:sp>
        <p:nvSpPr>
          <p:cNvPr id="58" name="Google Shape;58;p14"/>
          <p:cNvSpPr txBox="1"/>
          <p:nvPr/>
        </p:nvSpPr>
        <p:spPr>
          <a:xfrm>
            <a:off x="8373525" y="90649"/>
            <a:ext cx="369600" cy="337200"/>
          </a:xfrm>
          <a:prstGeom prst="rect">
            <a:avLst/>
          </a:prstGeom>
          <a:noFill/>
          <a:ln>
            <a:noFill/>
          </a:ln>
        </p:spPr>
        <p:txBody>
          <a:bodyPr spcFirstLastPara="1" wrap="square" lIns="88475" tIns="88475" rIns="88475" bIns="88475" anchor="ctr" anchorCtr="0">
            <a:noAutofit/>
          </a:bodyPr>
          <a:lstStyle/>
          <a:p>
            <a:pPr marL="0" lvl="0" indent="0" algn="ctr" rtl="0">
              <a:lnSpc>
                <a:spcPct val="100000"/>
              </a:lnSpc>
              <a:spcBef>
                <a:spcPts val="0"/>
              </a:spcBef>
              <a:spcAft>
                <a:spcPts val="0"/>
              </a:spcAft>
              <a:buNone/>
            </a:pPr>
            <a:fld id="{00000000-1234-1234-1234-123412341234}" type="slidenum">
              <a:rPr lang="es" sz="500">
                <a:solidFill>
                  <a:srgbClr val="222224"/>
                </a:solidFill>
                <a:latin typeface="Plus Jakarta Sans"/>
                <a:ea typeface="Plus Jakarta Sans"/>
                <a:cs typeface="Plus Jakarta Sans"/>
                <a:sym typeface="Plus Jakarta Sans"/>
              </a:rPr>
              <a:t>‹#›</a:t>
            </a:fld>
            <a:endParaRPr sz="500">
              <a:solidFill>
                <a:srgbClr val="222224"/>
              </a:solidFill>
              <a:latin typeface="Plus Jakarta Sans"/>
              <a:ea typeface="Plus Jakarta Sans"/>
              <a:cs typeface="Plus Jakarta Sans"/>
              <a:sym typeface="Plus Jakarta San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Negro">
  <p:cSld name="BLANK_2">
    <p:bg>
      <p:bgPr>
        <a:solidFill>
          <a:srgbClr val="171717"/>
        </a:solidFill>
        <a:effectLst/>
      </p:bgPr>
    </p:bg>
    <p:spTree>
      <p:nvGrpSpPr>
        <p:cNvPr id="1" name="Shape 77"/>
        <p:cNvGrpSpPr/>
        <p:nvPr/>
      </p:nvGrpSpPr>
      <p:grpSpPr>
        <a:xfrm>
          <a:off x="0" y="0"/>
          <a:ext cx="0" cy="0"/>
          <a:chOff x="0" y="0"/>
          <a:chExt cx="0" cy="0"/>
        </a:xfrm>
      </p:grpSpPr>
      <p:sp>
        <p:nvSpPr>
          <p:cNvPr id="78" name="Google Shape;78;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Marrón">
  <p:cSld name="BLANK_2_1">
    <p:bg>
      <p:bgPr>
        <a:solidFill>
          <a:srgbClr val="260700"/>
        </a:solidFill>
        <a:effectLst/>
      </p:bgPr>
    </p:bg>
    <p:spTree>
      <p:nvGrpSpPr>
        <p:cNvPr id="1" name="Shape 79"/>
        <p:cNvGrpSpPr/>
        <p:nvPr/>
      </p:nvGrpSpPr>
      <p:grpSpPr>
        <a:xfrm>
          <a:off x="0" y="0"/>
          <a:ext cx="0" cy="0"/>
          <a:chOff x="0" y="0"/>
          <a:chExt cx="0" cy="0"/>
        </a:xfrm>
      </p:grpSpPr>
      <p:sp>
        <p:nvSpPr>
          <p:cNvPr id="80" name="Google Shape;80;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Naranja">
  <p:cSld name="BLANK_2_1_1">
    <p:bg>
      <p:bgPr>
        <a:solidFill>
          <a:srgbClr val="FF632B"/>
        </a:solidFill>
        <a:effectLst/>
      </p:bgPr>
    </p:bg>
    <p:spTree>
      <p:nvGrpSpPr>
        <p:cNvPr id="1" name="Shape 81"/>
        <p:cNvGrpSpPr/>
        <p:nvPr/>
      </p:nvGrpSpPr>
      <p:grpSpPr>
        <a:xfrm>
          <a:off x="0" y="0"/>
          <a:ext cx="0" cy="0"/>
          <a:chOff x="0" y="0"/>
          <a:chExt cx="0" cy="0"/>
        </a:xfrm>
      </p:grpSpPr>
      <p:sp>
        <p:nvSpPr>
          <p:cNvPr id="82" name="Google Shape;82;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Rosa">
  <p:cSld name="BLANK_2_1_1_1">
    <p:bg>
      <p:bgPr>
        <a:solidFill>
          <a:srgbClr val="FE64A3"/>
        </a:solidFill>
        <a:effectLst/>
      </p:bgPr>
    </p:bg>
    <p:spTree>
      <p:nvGrpSpPr>
        <p:cNvPr id="1" name="Shape 83"/>
        <p:cNvGrpSpPr/>
        <p:nvPr/>
      </p:nvGrpSpPr>
      <p:grpSpPr>
        <a:xfrm>
          <a:off x="0" y="0"/>
          <a:ext cx="0" cy="0"/>
          <a:chOff x="0" y="0"/>
          <a:chExt cx="0" cy="0"/>
        </a:xfrm>
      </p:grpSpPr>
      <p:sp>
        <p:nvSpPr>
          <p:cNvPr id="84" name="Google Shape;84;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Gradiente">
  <p:cSld name="BLANK_1">
    <p:spTree>
      <p:nvGrpSpPr>
        <p:cNvPr id="1" name="Shape 85"/>
        <p:cNvGrpSpPr/>
        <p:nvPr/>
      </p:nvGrpSpPr>
      <p:grpSpPr>
        <a:xfrm>
          <a:off x="0" y="0"/>
          <a:ext cx="0" cy="0"/>
          <a:chOff x="0" y="0"/>
          <a:chExt cx="0" cy="0"/>
        </a:xfrm>
      </p:grpSpPr>
      <p:pic>
        <p:nvPicPr>
          <p:cNvPr id="86" name="Google Shape;86;p22" title="Coder Facebook (6).png"/>
          <p:cNvPicPr preferRelativeResize="0"/>
          <p:nvPr/>
        </p:nvPicPr>
        <p:blipFill>
          <a:blip r:embed="rId2">
            <a:alphaModFix/>
          </a:blip>
          <a:stretch>
            <a:fillRect/>
          </a:stretch>
        </p:blipFill>
        <p:spPr>
          <a:xfrm>
            <a:off x="-111725" y="0"/>
            <a:ext cx="9255725" cy="5206351"/>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60" r:id="rId11"/>
    <p:sldLayoutId id="2147483664" r:id="rId12"/>
    <p:sldLayoutId id="2147483665" r:id="rId13"/>
    <p:sldLayoutId id="2147483666" r:id="rId14"/>
    <p:sldLayoutId id="2147483667" r:id="rId15"/>
    <p:sldLayoutId id="2147483668"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23"/>
          <p:cNvSpPr txBox="1"/>
          <p:nvPr/>
        </p:nvSpPr>
        <p:spPr>
          <a:xfrm>
            <a:off x="1887453" y="1876800"/>
            <a:ext cx="5434650" cy="1389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MX" sz="3200" dirty="0">
                <a:solidFill>
                  <a:srgbClr val="F8F2E8"/>
                </a:solidFill>
                <a:latin typeface="Plus Jakarta Sans ExtraBold"/>
                <a:ea typeface="Plus Jakarta Sans ExtraBold"/>
                <a:cs typeface="Plus Jakarta Sans ExtraBold"/>
                <a:sym typeface="Plus Jakarta Sans ExtraBold"/>
              </a:rPr>
              <a:t>Profundización en ecosistemas de automatización</a:t>
            </a:r>
          </a:p>
        </p:txBody>
      </p:sp>
      <p:pic>
        <p:nvPicPr>
          <p:cNvPr id="93" name="Google Shape;93;p23" title="logo gradient 1.png"/>
          <p:cNvPicPr preferRelativeResize="0"/>
          <p:nvPr/>
        </p:nvPicPr>
        <p:blipFill>
          <a:blip r:embed="rId3">
            <a:alphaModFix/>
          </a:blip>
          <a:stretch>
            <a:fillRect/>
          </a:stretch>
        </p:blipFill>
        <p:spPr>
          <a:xfrm>
            <a:off x="3830803" y="4523150"/>
            <a:ext cx="1547950" cy="4522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p59"/>
          <p:cNvSpPr txBox="1"/>
          <p:nvPr/>
        </p:nvSpPr>
        <p:spPr>
          <a:xfrm>
            <a:off x="652525" y="1336525"/>
            <a:ext cx="3873300" cy="171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4800">
                <a:solidFill>
                  <a:srgbClr val="F8F2E8"/>
                </a:solidFill>
                <a:latin typeface="Plus Jakarta Sans ExtraBold"/>
                <a:ea typeface="Plus Jakarta Sans ExtraBold"/>
                <a:cs typeface="Plus Jakarta Sans ExtraBold"/>
                <a:sym typeface="Plus Jakarta Sans ExtraBold"/>
              </a:rPr>
              <a:t>¡Esta clase va a ser     grabada!	</a:t>
            </a:r>
            <a:endParaRPr sz="4800">
              <a:solidFill>
                <a:srgbClr val="F8F2E8"/>
              </a:solidFill>
              <a:latin typeface="Plus Jakarta Sans ExtraBold"/>
              <a:ea typeface="Plus Jakarta Sans ExtraBold"/>
              <a:cs typeface="Plus Jakarta Sans ExtraBold"/>
              <a:sym typeface="Plus Jakarta Sans ExtraBold"/>
            </a:endParaRPr>
          </a:p>
        </p:txBody>
      </p:sp>
      <p:sp>
        <p:nvSpPr>
          <p:cNvPr id="461" name="Google Shape;461;p59"/>
          <p:cNvSpPr/>
          <p:nvPr/>
        </p:nvSpPr>
        <p:spPr>
          <a:xfrm>
            <a:off x="3601525" y="3168750"/>
            <a:ext cx="228300" cy="228300"/>
          </a:xfrm>
          <a:prstGeom prst="ellipse">
            <a:avLst/>
          </a:prstGeom>
          <a:solidFill>
            <a:srgbClr val="FDAB2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24"/>
          <p:cNvSpPr txBox="1"/>
          <p:nvPr/>
        </p:nvSpPr>
        <p:spPr>
          <a:xfrm>
            <a:off x="6180025" y="314075"/>
            <a:ext cx="2630700" cy="171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3000">
                <a:solidFill>
                  <a:srgbClr val="FF632B"/>
                </a:solidFill>
                <a:latin typeface="Plus Jakarta Sans ExtraBold"/>
                <a:ea typeface="Plus Jakarta Sans ExtraBold"/>
                <a:cs typeface="Plus Jakarta Sans ExtraBold"/>
                <a:sym typeface="Plus Jakarta Sans ExtraBold"/>
              </a:rPr>
              <a:t>01</a:t>
            </a:r>
            <a:endParaRPr sz="13000">
              <a:solidFill>
                <a:srgbClr val="FF632B"/>
              </a:solidFill>
              <a:latin typeface="Plus Jakarta Sans ExtraBold"/>
              <a:ea typeface="Plus Jakarta Sans ExtraBold"/>
              <a:cs typeface="Plus Jakarta Sans ExtraBold"/>
              <a:sym typeface="Plus Jakarta Sans ExtraBold"/>
            </a:endParaRPr>
          </a:p>
        </p:txBody>
      </p:sp>
      <p:sp>
        <p:nvSpPr>
          <p:cNvPr id="100" name="Google Shape;100;p24"/>
          <p:cNvSpPr txBox="1"/>
          <p:nvPr/>
        </p:nvSpPr>
        <p:spPr>
          <a:xfrm>
            <a:off x="576700" y="3820625"/>
            <a:ext cx="6462900" cy="1719900"/>
          </a:xfrm>
          <a:prstGeom prst="rect">
            <a:avLst/>
          </a:prstGeom>
          <a:noFill/>
          <a:ln>
            <a:noFill/>
          </a:ln>
        </p:spPr>
        <p:txBody>
          <a:bodyPr spcFirstLastPara="1" wrap="square" lIns="91425" tIns="91425" rIns="91425" bIns="91425" anchor="t" anchorCtr="0">
            <a:noAutofit/>
          </a:bodyPr>
          <a:lstStyle/>
          <a:p>
            <a:pPr lvl="0">
              <a:lnSpc>
                <a:spcPct val="80000"/>
              </a:lnSpc>
            </a:pPr>
            <a:r>
              <a:rPr lang="es-MX" sz="4800" dirty="0" err="1">
                <a:solidFill>
                  <a:srgbClr val="F8F2E8"/>
                </a:solidFill>
                <a:latin typeface="Plus Jakarta Sans ExtraBold"/>
                <a:ea typeface="Plus Jakarta Sans ExtraBold"/>
                <a:cs typeface="Plus Jakarta Sans ExtraBold"/>
                <a:sym typeface="Plus Jakarta Sans ExtraBold"/>
              </a:rPr>
              <a:t>Webhooks</a:t>
            </a:r>
            <a:endParaRPr sz="4800" dirty="0">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3">
          <a:extLst>
            <a:ext uri="{FF2B5EF4-FFF2-40B4-BE49-F238E27FC236}">
              <a16:creationId xmlns:a16="http://schemas.microsoft.com/office/drawing/2014/main" id="{02275C4C-A0CF-BB8F-C9DB-CE49022DBDF5}"/>
            </a:ext>
          </a:extLst>
        </p:cNvPr>
        <p:cNvGrpSpPr/>
        <p:nvPr/>
      </p:nvGrpSpPr>
      <p:grpSpPr>
        <a:xfrm>
          <a:off x="0" y="0"/>
          <a:ext cx="0" cy="0"/>
          <a:chOff x="0" y="0"/>
          <a:chExt cx="0" cy="0"/>
        </a:xfrm>
      </p:grpSpPr>
      <p:sp>
        <p:nvSpPr>
          <p:cNvPr id="124" name="Google Shape;124;p27">
            <a:extLst>
              <a:ext uri="{FF2B5EF4-FFF2-40B4-BE49-F238E27FC236}">
                <a16:creationId xmlns:a16="http://schemas.microsoft.com/office/drawing/2014/main" id="{315B3F71-C53C-100F-715B-D3E9549F0E29}"/>
              </a:ext>
            </a:extLst>
          </p:cNvPr>
          <p:cNvSpPr txBox="1"/>
          <p:nvPr/>
        </p:nvSpPr>
        <p:spPr>
          <a:xfrm>
            <a:off x="602400" y="659600"/>
            <a:ext cx="4783200"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MX" sz="3500" dirty="0">
                <a:solidFill>
                  <a:srgbClr val="FF632B"/>
                </a:solidFill>
                <a:latin typeface="Plus Jakarta Sans ExtraBold"/>
                <a:ea typeface="Plus Jakarta Sans ExtraBold"/>
                <a:cs typeface="Plus Jakarta Sans ExtraBold"/>
                <a:sym typeface="Plus Jakarta Sans ExtraBold"/>
              </a:rPr>
              <a:t>El Sistema Nervioso de la Automatización</a:t>
            </a:r>
            <a:endParaRPr sz="1100" dirty="0">
              <a:solidFill>
                <a:srgbClr val="260700"/>
              </a:solidFill>
              <a:latin typeface="Plus Jakarta Sans"/>
              <a:ea typeface="Plus Jakarta Sans"/>
              <a:cs typeface="Plus Jakarta Sans"/>
              <a:sym typeface="Plus Jakarta Sans"/>
            </a:endParaRPr>
          </a:p>
        </p:txBody>
      </p:sp>
      <p:pic>
        <p:nvPicPr>
          <p:cNvPr id="126" name="Google Shape;126;p27">
            <a:extLst>
              <a:ext uri="{FF2B5EF4-FFF2-40B4-BE49-F238E27FC236}">
                <a16:creationId xmlns:a16="http://schemas.microsoft.com/office/drawing/2014/main" id="{8F5B236F-BCDD-17C3-78B8-E438631D1E84}"/>
              </a:ext>
            </a:extLst>
          </p:cNvPr>
          <p:cNvPicPr preferRelativeResize="0"/>
          <p:nvPr/>
        </p:nvPicPr>
        <p:blipFill>
          <a:blip r:embed="rId3">
            <a:alphaModFix/>
          </a:blip>
          <a:stretch>
            <a:fillRect/>
          </a:stretch>
        </p:blipFill>
        <p:spPr>
          <a:xfrm>
            <a:off x="5506500" y="527051"/>
            <a:ext cx="3183900" cy="4376428"/>
          </a:xfrm>
          <a:prstGeom prst="rect">
            <a:avLst/>
          </a:prstGeom>
          <a:noFill/>
          <a:ln>
            <a:noFill/>
          </a:ln>
        </p:spPr>
      </p:pic>
      <p:sp>
        <p:nvSpPr>
          <p:cNvPr id="128" name="Google Shape;128;p27">
            <a:extLst>
              <a:ext uri="{FF2B5EF4-FFF2-40B4-BE49-F238E27FC236}">
                <a16:creationId xmlns:a16="http://schemas.microsoft.com/office/drawing/2014/main" id="{30CC07D8-3487-4A4B-2738-B4414E95B2C1}"/>
              </a:ext>
            </a:extLst>
          </p:cNvPr>
          <p:cNvSpPr txBox="1"/>
          <p:nvPr/>
        </p:nvSpPr>
        <p:spPr>
          <a:xfrm>
            <a:off x="683050" y="2075900"/>
            <a:ext cx="4018549" cy="1908000"/>
          </a:xfrm>
          <a:prstGeom prst="rect">
            <a:avLst/>
          </a:prstGeom>
          <a:noFill/>
          <a:ln>
            <a:noFill/>
          </a:ln>
        </p:spPr>
        <p:txBody>
          <a:bodyPr spcFirstLastPara="1" wrap="square" lIns="91425" tIns="91425" rIns="91425" bIns="91425" anchor="t" anchorCtr="0">
            <a:noAutofit/>
          </a:bodyPr>
          <a:lstStyle/>
          <a:p>
            <a:pPr marL="171450" lvl="0" indent="-171450" algn="l" rtl="0">
              <a:spcBef>
                <a:spcPts val="0"/>
              </a:spcBef>
              <a:spcAft>
                <a:spcPts val="0"/>
              </a:spcAft>
              <a:buFont typeface="Arial" panose="020B0604020202020204" pitchFamily="34" charset="0"/>
              <a:buChar char="•"/>
            </a:pPr>
            <a:r>
              <a:rPr lang="es-MX" sz="1200" dirty="0">
                <a:solidFill>
                  <a:srgbClr val="260700"/>
                </a:solidFill>
                <a:latin typeface="Plus Jakarta Sans Light"/>
                <a:ea typeface="Plus Jakarta Sans Light"/>
                <a:cs typeface="Plus Jakarta Sans Light"/>
                <a:sym typeface="Plus Jakarta Sans Light"/>
              </a:rPr>
              <a:t>Un </a:t>
            </a:r>
            <a:r>
              <a:rPr lang="es-MX" sz="1200" dirty="0" err="1">
                <a:solidFill>
                  <a:srgbClr val="260700"/>
                </a:solidFill>
                <a:latin typeface="Plus Jakarta Sans Light"/>
                <a:ea typeface="Plus Jakarta Sans Light"/>
                <a:cs typeface="Plus Jakarta Sans Light"/>
                <a:sym typeface="Plus Jakarta Sans Light"/>
              </a:rPr>
              <a:t>Webhook</a:t>
            </a:r>
            <a:r>
              <a:rPr lang="es-MX" sz="1200" dirty="0">
                <a:solidFill>
                  <a:srgbClr val="260700"/>
                </a:solidFill>
                <a:latin typeface="Plus Jakarta Sans Light"/>
                <a:ea typeface="Plus Jakarta Sans Light"/>
                <a:cs typeface="Plus Jakarta Sans Light"/>
                <a:sym typeface="Plus Jakarta Sans Light"/>
              </a:rPr>
              <a:t> es un mecanismo que permite a dos sistemas comunicarse en tiempo real. En lugar de que nuestro flujo pregunte constantemente " ¿Hay un paciente nuevo?" (lo que consume recursos), el </a:t>
            </a:r>
            <a:r>
              <a:rPr lang="es-MX" sz="1200" dirty="0" err="1">
                <a:solidFill>
                  <a:srgbClr val="260700"/>
                </a:solidFill>
                <a:latin typeface="Plus Jakarta Sans Light"/>
                <a:ea typeface="Plus Jakarta Sans Light"/>
                <a:cs typeface="Plus Jakarta Sans Light"/>
                <a:sym typeface="Plus Jakarta Sans Light"/>
              </a:rPr>
              <a:t>Webhook</a:t>
            </a:r>
            <a:r>
              <a:rPr lang="es-MX" sz="1200" dirty="0">
                <a:solidFill>
                  <a:srgbClr val="260700"/>
                </a:solidFill>
                <a:latin typeface="Plus Jakarta Sans Light"/>
                <a:ea typeface="Plus Jakarta Sans Light"/>
                <a:cs typeface="Plus Jakarta Sans Light"/>
                <a:sym typeface="Plus Jakarta Sans Light"/>
              </a:rPr>
              <a:t> se queda escuchando pasivamente. Cuando un sistema externo (como un formulario o un software de laboratorio) tiene un dato nuevo, "toca el timbre" del </a:t>
            </a:r>
            <a:r>
              <a:rPr lang="es-MX" sz="1200" dirty="0" err="1">
                <a:solidFill>
                  <a:srgbClr val="260700"/>
                </a:solidFill>
                <a:latin typeface="Plus Jakarta Sans Light"/>
                <a:ea typeface="Plus Jakarta Sans Light"/>
                <a:cs typeface="Plus Jakarta Sans Light"/>
                <a:sym typeface="Plus Jakarta Sans Light"/>
              </a:rPr>
              <a:t>Webhook</a:t>
            </a:r>
            <a:r>
              <a:rPr lang="es-MX" sz="1200" dirty="0">
                <a:solidFill>
                  <a:srgbClr val="260700"/>
                </a:solidFill>
                <a:latin typeface="Plus Jakarta Sans Light"/>
                <a:ea typeface="Plus Jakarta Sans Light"/>
                <a:cs typeface="Plus Jakarta Sans Light"/>
                <a:sym typeface="Plus Jakarta Sans Light"/>
              </a:rPr>
              <a:t> y dispara el flujo automáticamente.</a:t>
            </a:r>
            <a:endParaRPr sz="1200" dirty="0">
              <a:solidFill>
                <a:srgbClr val="260700"/>
              </a:solidFill>
              <a:latin typeface="Plus Jakarta Sans Light"/>
              <a:ea typeface="Plus Jakarta Sans Light"/>
              <a:cs typeface="Plus Jakarta Sans Light"/>
              <a:sym typeface="Plus Jakarta Sans Light"/>
            </a:endParaRPr>
          </a:p>
        </p:txBody>
      </p:sp>
    </p:spTree>
    <p:extLst>
      <p:ext uri="{BB962C8B-B14F-4D97-AF65-F5344CB8AC3E}">
        <p14:creationId xmlns:p14="http://schemas.microsoft.com/office/powerpoint/2010/main" val="3866914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8">
          <a:extLst>
            <a:ext uri="{FF2B5EF4-FFF2-40B4-BE49-F238E27FC236}">
              <a16:creationId xmlns:a16="http://schemas.microsoft.com/office/drawing/2014/main" id="{F612A70C-628E-A181-91E3-1F4D4C3FBE05}"/>
            </a:ext>
          </a:extLst>
        </p:cNvPr>
        <p:cNvGrpSpPr/>
        <p:nvPr/>
      </p:nvGrpSpPr>
      <p:grpSpPr>
        <a:xfrm>
          <a:off x="0" y="0"/>
          <a:ext cx="0" cy="0"/>
          <a:chOff x="0" y="0"/>
          <a:chExt cx="0" cy="0"/>
        </a:xfrm>
      </p:grpSpPr>
      <p:sp>
        <p:nvSpPr>
          <p:cNvPr id="99" name="Google Shape;99;p24">
            <a:extLst>
              <a:ext uri="{FF2B5EF4-FFF2-40B4-BE49-F238E27FC236}">
                <a16:creationId xmlns:a16="http://schemas.microsoft.com/office/drawing/2014/main" id="{84366FB8-B5B3-9403-C602-09785A9A272C}"/>
              </a:ext>
            </a:extLst>
          </p:cNvPr>
          <p:cNvSpPr txBox="1"/>
          <p:nvPr/>
        </p:nvSpPr>
        <p:spPr>
          <a:xfrm>
            <a:off x="6180025" y="314075"/>
            <a:ext cx="2630700" cy="171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3000" dirty="0">
                <a:solidFill>
                  <a:srgbClr val="FF632B"/>
                </a:solidFill>
                <a:latin typeface="Plus Jakarta Sans ExtraBold"/>
                <a:ea typeface="Plus Jakarta Sans ExtraBold"/>
                <a:cs typeface="Plus Jakarta Sans ExtraBold"/>
                <a:sym typeface="Plus Jakarta Sans ExtraBold"/>
              </a:rPr>
              <a:t>02</a:t>
            </a:r>
            <a:endParaRPr sz="13000" dirty="0">
              <a:solidFill>
                <a:srgbClr val="FF632B"/>
              </a:solidFill>
              <a:latin typeface="Plus Jakarta Sans ExtraBold"/>
              <a:ea typeface="Plus Jakarta Sans ExtraBold"/>
              <a:cs typeface="Plus Jakarta Sans ExtraBold"/>
              <a:sym typeface="Plus Jakarta Sans ExtraBold"/>
            </a:endParaRPr>
          </a:p>
        </p:txBody>
      </p:sp>
      <p:sp>
        <p:nvSpPr>
          <p:cNvPr id="100" name="Google Shape;100;p24">
            <a:extLst>
              <a:ext uri="{FF2B5EF4-FFF2-40B4-BE49-F238E27FC236}">
                <a16:creationId xmlns:a16="http://schemas.microsoft.com/office/drawing/2014/main" id="{91EEBCC0-36AF-F9F2-F892-71DBC7BE5E12}"/>
              </a:ext>
            </a:extLst>
          </p:cNvPr>
          <p:cNvSpPr txBox="1"/>
          <p:nvPr/>
        </p:nvSpPr>
        <p:spPr>
          <a:xfrm>
            <a:off x="619900" y="2935025"/>
            <a:ext cx="6462900" cy="1719900"/>
          </a:xfrm>
          <a:prstGeom prst="rect">
            <a:avLst/>
          </a:prstGeom>
          <a:noFill/>
          <a:ln>
            <a:noFill/>
          </a:ln>
        </p:spPr>
        <p:txBody>
          <a:bodyPr spcFirstLastPara="1" wrap="square" lIns="91425" tIns="91425" rIns="91425" bIns="91425" anchor="t" anchorCtr="0">
            <a:noAutofit/>
          </a:bodyPr>
          <a:lstStyle/>
          <a:p>
            <a:pPr lvl="0">
              <a:lnSpc>
                <a:spcPct val="80000"/>
              </a:lnSpc>
            </a:pPr>
            <a:r>
              <a:rPr lang="es-MX" sz="4800" dirty="0">
                <a:solidFill>
                  <a:srgbClr val="F8F2E8"/>
                </a:solidFill>
                <a:latin typeface="Plus Jakarta Sans ExtraBold"/>
                <a:ea typeface="Plus Jakarta Sans ExtraBold"/>
                <a:cs typeface="Plus Jakarta Sans ExtraBold"/>
                <a:sym typeface="Plus Jakarta Sans ExtraBold"/>
              </a:rPr>
              <a:t>Parametrización Clínica</a:t>
            </a:r>
            <a:endParaRPr sz="4800" dirty="0">
              <a:solidFill>
                <a:srgbClr val="F8F2E8"/>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21224536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1">
          <a:extLst>
            <a:ext uri="{FF2B5EF4-FFF2-40B4-BE49-F238E27FC236}">
              <a16:creationId xmlns:a16="http://schemas.microsoft.com/office/drawing/2014/main" id="{801B8037-E5B3-1DD3-CA37-5D7D620012B1}"/>
            </a:ext>
          </a:extLst>
        </p:cNvPr>
        <p:cNvGrpSpPr/>
        <p:nvPr/>
      </p:nvGrpSpPr>
      <p:grpSpPr>
        <a:xfrm>
          <a:off x="0" y="0"/>
          <a:ext cx="0" cy="0"/>
          <a:chOff x="0" y="0"/>
          <a:chExt cx="0" cy="0"/>
        </a:xfrm>
      </p:grpSpPr>
      <p:sp>
        <p:nvSpPr>
          <p:cNvPr id="172" name="Google Shape;172;p31">
            <a:extLst>
              <a:ext uri="{FF2B5EF4-FFF2-40B4-BE49-F238E27FC236}">
                <a16:creationId xmlns:a16="http://schemas.microsoft.com/office/drawing/2014/main" id="{A4DD7123-4E93-6BDA-C39A-B7D8EB3D86A8}"/>
              </a:ext>
            </a:extLst>
          </p:cNvPr>
          <p:cNvSpPr txBox="1"/>
          <p:nvPr/>
        </p:nvSpPr>
        <p:spPr>
          <a:xfrm>
            <a:off x="602400" y="659600"/>
            <a:ext cx="6462900"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MX" sz="3500" dirty="0">
                <a:solidFill>
                  <a:srgbClr val="FF632B"/>
                </a:solidFill>
                <a:latin typeface="Plus Jakarta Sans ExtraBold"/>
                <a:ea typeface="Plus Jakarta Sans ExtraBold"/>
                <a:cs typeface="Plus Jakarta Sans ExtraBold"/>
                <a:sym typeface="Plus Jakarta Sans ExtraBold"/>
              </a:rPr>
              <a:t>Temperatura y </a:t>
            </a:r>
          </a:p>
          <a:p>
            <a:pPr marL="0" lvl="0" indent="0" algn="l" rtl="0">
              <a:spcBef>
                <a:spcPts val="0"/>
              </a:spcBef>
              <a:spcAft>
                <a:spcPts val="0"/>
              </a:spcAft>
              <a:buNone/>
            </a:pPr>
            <a:r>
              <a:rPr lang="es-MX" sz="3500" dirty="0">
                <a:solidFill>
                  <a:srgbClr val="FF632B"/>
                </a:solidFill>
                <a:latin typeface="Plus Jakarta Sans ExtraBold"/>
                <a:ea typeface="Plus Jakarta Sans ExtraBold"/>
                <a:cs typeface="Plus Jakarta Sans ExtraBold"/>
                <a:sym typeface="Plus Jakarta Sans ExtraBold"/>
              </a:rPr>
              <a:t>Límites</a:t>
            </a:r>
            <a:endParaRPr sz="200" dirty="0">
              <a:solidFill>
                <a:srgbClr val="260700"/>
              </a:solidFill>
              <a:latin typeface="Plus Jakarta Sans"/>
              <a:ea typeface="Plus Jakarta Sans"/>
              <a:cs typeface="Plus Jakarta Sans"/>
              <a:sym typeface="Plus Jakarta Sans"/>
            </a:endParaRPr>
          </a:p>
        </p:txBody>
      </p:sp>
      <p:pic>
        <p:nvPicPr>
          <p:cNvPr id="174" name="Google Shape;174;p31" title="giphy (1).gif">
            <a:extLst>
              <a:ext uri="{FF2B5EF4-FFF2-40B4-BE49-F238E27FC236}">
                <a16:creationId xmlns:a16="http://schemas.microsoft.com/office/drawing/2014/main" id="{4D0264BE-F5E6-9F91-F799-45E3BA9C0DFC}"/>
              </a:ext>
            </a:extLst>
          </p:cNvPr>
          <p:cNvPicPr preferRelativeResize="0"/>
          <p:nvPr/>
        </p:nvPicPr>
        <p:blipFill>
          <a:blip r:embed="rId3">
            <a:alphaModFix/>
          </a:blip>
          <a:stretch>
            <a:fillRect/>
          </a:stretch>
        </p:blipFill>
        <p:spPr>
          <a:xfrm>
            <a:off x="5124041" y="0"/>
            <a:ext cx="5143500" cy="5143500"/>
          </a:xfrm>
          <a:prstGeom prst="rect">
            <a:avLst/>
          </a:prstGeom>
          <a:noFill/>
          <a:ln>
            <a:noFill/>
          </a:ln>
        </p:spPr>
      </p:pic>
      <p:sp>
        <p:nvSpPr>
          <p:cNvPr id="2" name="Google Shape;173;p31">
            <a:extLst>
              <a:ext uri="{FF2B5EF4-FFF2-40B4-BE49-F238E27FC236}">
                <a16:creationId xmlns:a16="http://schemas.microsoft.com/office/drawing/2014/main" id="{11A987EF-5997-2401-29B2-131012B82696}"/>
              </a:ext>
            </a:extLst>
          </p:cNvPr>
          <p:cNvSpPr txBox="1"/>
          <p:nvPr/>
        </p:nvSpPr>
        <p:spPr>
          <a:xfrm>
            <a:off x="517200" y="2159500"/>
            <a:ext cx="4054800" cy="1661963"/>
          </a:xfrm>
          <a:prstGeom prst="rect">
            <a:avLst/>
          </a:prstGeom>
          <a:noFill/>
          <a:ln>
            <a:noFill/>
          </a:ln>
        </p:spPr>
        <p:txBody>
          <a:bodyPr spcFirstLastPara="1" wrap="square" lIns="91425" tIns="91425" rIns="91425" bIns="91425" anchor="t" anchorCtr="0">
            <a:spAutoFit/>
          </a:bodyPr>
          <a:lstStyle/>
          <a:p>
            <a:pPr marL="155575" lvl="0">
              <a:buClr>
                <a:srgbClr val="222224"/>
              </a:buClr>
              <a:buSzPts val="1150"/>
            </a:pPr>
            <a:r>
              <a:rPr lang="es-MX" sz="1200" dirty="0"/>
              <a:t>La Inteligencia Artificial por defecto está diseñada para ser creativa, pero en la salud necesitamos precisión absoluta. Al configurar la Temperatura a 0.2, le quitamos la imaginación al modelo y lo volvemos determinista y conservador. Además, limitar los Tokens (ej. a 500) evita que el modelo alucine explicaciones largas, forzándolo a ser conciso y rápido.</a:t>
            </a:r>
            <a:endParaRPr sz="1150" dirty="0">
              <a:solidFill>
                <a:srgbClr val="222224"/>
              </a:solidFill>
              <a:latin typeface="Plus Jakarta Sans"/>
              <a:ea typeface="Plus Jakarta Sans"/>
              <a:cs typeface="Plus Jakarta Sans"/>
              <a:sym typeface="Plus Jakarta Sans"/>
            </a:endParaRPr>
          </a:p>
        </p:txBody>
      </p:sp>
    </p:spTree>
    <p:extLst>
      <p:ext uri="{BB962C8B-B14F-4D97-AF65-F5344CB8AC3E}">
        <p14:creationId xmlns:p14="http://schemas.microsoft.com/office/powerpoint/2010/main" val="39384132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8">
          <a:extLst>
            <a:ext uri="{FF2B5EF4-FFF2-40B4-BE49-F238E27FC236}">
              <a16:creationId xmlns:a16="http://schemas.microsoft.com/office/drawing/2014/main" id="{9AD20039-1FF3-B2CA-7D15-613A59605B4E}"/>
            </a:ext>
          </a:extLst>
        </p:cNvPr>
        <p:cNvGrpSpPr/>
        <p:nvPr/>
      </p:nvGrpSpPr>
      <p:grpSpPr>
        <a:xfrm>
          <a:off x="0" y="0"/>
          <a:ext cx="0" cy="0"/>
          <a:chOff x="0" y="0"/>
          <a:chExt cx="0" cy="0"/>
        </a:xfrm>
      </p:grpSpPr>
      <p:sp>
        <p:nvSpPr>
          <p:cNvPr id="99" name="Google Shape;99;p24">
            <a:extLst>
              <a:ext uri="{FF2B5EF4-FFF2-40B4-BE49-F238E27FC236}">
                <a16:creationId xmlns:a16="http://schemas.microsoft.com/office/drawing/2014/main" id="{3B9A2665-E230-5153-99E5-D969932C7E62}"/>
              </a:ext>
            </a:extLst>
          </p:cNvPr>
          <p:cNvSpPr txBox="1"/>
          <p:nvPr/>
        </p:nvSpPr>
        <p:spPr>
          <a:xfrm>
            <a:off x="6180025" y="314075"/>
            <a:ext cx="2630700" cy="171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3000" dirty="0">
                <a:solidFill>
                  <a:srgbClr val="FF632B"/>
                </a:solidFill>
                <a:latin typeface="Plus Jakarta Sans ExtraBold"/>
                <a:ea typeface="Plus Jakarta Sans ExtraBold"/>
                <a:cs typeface="Plus Jakarta Sans ExtraBold"/>
                <a:sym typeface="Plus Jakarta Sans ExtraBold"/>
              </a:rPr>
              <a:t>03</a:t>
            </a:r>
            <a:endParaRPr sz="13000" dirty="0">
              <a:solidFill>
                <a:srgbClr val="FF632B"/>
              </a:solidFill>
              <a:latin typeface="Plus Jakarta Sans ExtraBold"/>
              <a:ea typeface="Plus Jakarta Sans ExtraBold"/>
              <a:cs typeface="Plus Jakarta Sans ExtraBold"/>
              <a:sym typeface="Plus Jakarta Sans ExtraBold"/>
            </a:endParaRPr>
          </a:p>
        </p:txBody>
      </p:sp>
      <p:sp>
        <p:nvSpPr>
          <p:cNvPr id="100" name="Google Shape;100;p24">
            <a:extLst>
              <a:ext uri="{FF2B5EF4-FFF2-40B4-BE49-F238E27FC236}">
                <a16:creationId xmlns:a16="http://schemas.microsoft.com/office/drawing/2014/main" id="{571B54BD-7853-9BBB-90B4-6D6F05796F06}"/>
              </a:ext>
            </a:extLst>
          </p:cNvPr>
          <p:cNvSpPr txBox="1"/>
          <p:nvPr/>
        </p:nvSpPr>
        <p:spPr>
          <a:xfrm>
            <a:off x="619900" y="2935025"/>
            <a:ext cx="6462900" cy="1719900"/>
          </a:xfrm>
          <a:prstGeom prst="rect">
            <a:avLst/>
          </a:prstGeom>
          <a:noFill/>
          <a:ln>
            <a:noFill/>
          </a:ln>
        </p:spPr>
        <p:txBody>
          <a:bodyPr spcFirstLastPara="1" wrap="square" lIns="91425" tIns="91425" rIns="91425" bIns="91425" anchor="t" anchorCtr="0">
            <a:noAutofit/>
          </a:bodyPr>
          <a:lstStyle/>
          <a:p>
            <a:pPr lvl="0">
              <a:lnSpc>
                <a:spcPct val="80000"/>
              </a:lnSpc>
            </a:pPr>
            <a:r>
              <a:rPr lang="es-MX" sz="4800" dirty="0">
                <a:solidFill>
                  <a:srgbClr val="F8F2E8"/>
                </a:solidFill>
                <a:latin typeface="Plus Jakarta Sans ExtraBold"/>
                <a:ea typeface="Plus Jakarta Sans ExtraBold"/>
                <a:cs typeface="Plus Jakarta Sans ExtraBold"/>
                <a:sym typeface="Plus Jakarta Sans ExtraBold"/>
              </a:rPr>
              <a:t>Output </a:t>
            </a:r>
            <a:r>
              <a:rPr lang="es-MX" sz="4800" dirty="0" err="1">
                <a:solidFill>
                  <a:srgbClr val="F8F2E8"/>
                </a:solidFill>
                <a:latin typeface="Plus Jakarta Sans ExtraBold"/>
                <a:ea typeface="Plus Jakarta Sans ExtraBold"/>
                <a:cs typeface="Plus Jakarta Sans ExtraBold"/>
                <a:sym typeface="Plus Jakarta Sans ExtraBold"/>
              </a:rPr>
              <a:t>Schemas</a:t>
            </a:r>
            <a:r>
              <a:rPr lang="es-MX" sz="4800" dirty="0">
                <a:solidFill>
                  <a:srgbClr val="F8F2E8"/>
                </a:solidFill>
                <a:latin typeface="Plus Jakarta Sans ExtraBold"/>
                <a:ea typeface="Plus Jakarta Sans ExtraBold"/>
                <a:cs typeface="Plus Jakarta Sans ExtraBold"/>
                <a:sym typeface="Plus Jakarta Sans ExtraBold"/>
              </a:rPr>
              <a:t> (JSON)</a:t>
            </a:r>
            <a:endParaRPr sz="4800" dirty="0">
              <a:solidFill>
                <a:srgbClr val="F8F2E8"/>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19114510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3">
          <a:extLst>
            <a:ext uri="{FF2B5EF4-FFF2-40B4-BE49-F238E27FC236}">
              <a16:creationId xmlns:a16="http://schemas.microsoft.com/office/drawing/2014/main" id="{2060215B-79DC-22EF-94FF-04D458AB341F}"/>
            </a:ext>
          </a:extLst>
        </p:cNvPr>
        <p:cNvGrpSpPr/>
        <p:nvPr/>
      </p:nvGrpSpPr>
      <p:grpSpPr>
        <a:xfrm>
          <a:off x="0" y="0"/>
          <a:ext cx="0" cy="0"/>
          <a:chOff x="0" y="0"/>
          <a:chExt cx="0" cy="0"/>
        </a:xfrm>
      </p:grpSpPr>
      <p:sp>
        <p:nvSpPr>
          <p:cNvPr id="124" name="Google Shape;124;p27">
            <a:extLst>
              <a:ext uri="{FF2B5EF4-FFF2-40B4-BE49-F238E27FC236}">
                <a16:creationId xmlns:a16="http://schemas.microsoft.com/office/drawing/2014/main" id="{3A6DC661-5D33-FAFC-1F9F-F25AC755C83A}"/>
              </a:ext>
            </a:extLst>
          </p:cNvPr>
          <p:cNvSpPr txBox="1"/>
          <p:nvPr/>
        </p:nvSpPr>
        <p:spPr>
          <a:xfrm>
            <a:off x="4068000" y="659600"/>
            <a:ext cx="4641600"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MX" sz="3500" dirty="0">
                <a:solidFill>
                  <a:srgbClr val="FF632B"/>
                </a:solidFill>
                <a:latin typeface="Plus Jakarta Sans ExtraBold"/>
                <a:ea typeface="Plus Jakarta Sans ExtraBold"/>
                <a:cs typeface="Plus Jakarta Sans ExtraBold"/>
                <a:sym typeface="Plus Jakarta Sans ExtraBold"/>
              </a:rPr>
              <a:t>El Idioma</a:t>
            </a:r>
            <a:endParaRPr sz="1100" dirty="0">
              <a:solidFill>
                <a:srgbClr val="260700"/>
              </a:solidFill>
              <a:latin typeface="Plus Jakarta Sans"/>
              <a:ea typeface="Plus Jakarta Sans"/>
              <a:cs typeface="Plus Jakarta Sans"/>
              <a:sym typeface="Plus Jakarta Sans"/>
            </a:endParaRPr>
          </a:p>
        </p:txBody>
      </p:sp>
      <p:sp>
        <p:nvSpPr>
          <p:cNvPr id="128" name="Google Shape;128;p27">
            <a:extLst>
              <a:ext uri="{FF2B5EF4-FFF2-40B4-BE49-F238E27FC236}">
                <a16:creationId xmlns:a16="http://schemas.microsoft.com/office/drawing/2014/main" id="{46D823DA-C510-3A85-9926-0F1004D39424}"/>
              </a:ext>
            </a:extLst>
          </p:cNvPr>
          <p:cNvSpPr txBox="1"/>
          <p:nvPr/>
        </p:nvSpPr>
        <p:spPr>
          <a:xfrm>
            <a:off x="4333451" y="2025500"/>
            <a:ext cx="4283320" cy="2373700"/>
          </a:xfrm>
          <a:prstGeom prst="rect">
            <a:avLst/>
          </a:prstGeom>
          <a:noFill/>
          <a:ln>
            <a:noFill/>
          </a:ln>
        </p:spPr>
        <p:txBody>
          <a:bodyPr spcFirstLastPara="1" wrap="square" lIns="91425" tIns="91425" rIns="91425" bIns="91425" anchor="t" anchorCtr="0">
            <a:noAutofit/>
          </a:bodyPr>
          <a:lstStyle/>
          <a:p>
            <a:pPr lvl="0"/>
            <a:r>
              <a:rPr lang="es-MX" sz="1200" dirty="0"/>
              <a:t>Si un LLM responde con texto libre ("Hola, el paciente tiene..."), ningún otro software podrá leer esa respuesta automáticamente. Al forzar a la IA a responder bajo un esquema </a:t>
            </a:r>
            <a:r>
              <a:rPr lang="es-MX" sz="1200" b="1" dirty="0"/>
              <a:t>JSON estricto</a:t>
            </a:r>
            <a:r>
              <a:rPr lang="es-MX" sz="1200" dirty="0"/>
              <a:t> (llaves y valores estructurados), logramos que la salida de la IA se convierta en variables predecibles (</a:t>
            </a:r>
            <a:r>
              <a:rPr lang="es-MX" dirty="0" err="1"/>
              <a:t>patient_id</a:t>
            </a:r>
            <a:r>
              <a:rPr lang="es-MX" sz="1200" dirty="0"/>
              <a:t>, </a:t>
            </a:r>
            <a:r>
              <a:rPr lang="es-MX" dirty="0"/>
              <a:t>diagnosis</a:t>
            </a:r>
            <a:r>
              <a:rPr lang="es-MX" sz="1200" dirty="0"/>
              <a:t>) que el resto de nuestros nodos (como </a:t>
            </a:r>
            <a:r>
              <a:rPr lang="es-MX" sz="1200" dirty="0" err="1"/>
              <a:t>Slack</a:t>
            </a:r>
            <a:r>
              <a:rPr lang="es-MX" sz="1200" dirty="0"/>
              <a:t> o bases de datos) pueden </a:t>
            </a:r>
            <a:r>
              <a:rPr lang="es-MX" sz="1200" i="1" dirty="0" err="1"/>
              <a:t>parsear</a:t>
            </a:r>
            <a:r>
              <a:rPr lang="es-MX" sz="1200" dirty="0"/>
              <a:t> (extraer) sin errores.</a:t>
            </a:r>
            <a:endParaRPr lang="es-MX" sz="1200" dirty="0">
              <a:solidFill>
                <a:srgbClr val="260700"/>
              </a:solidFill>
              <a:latin typeface="Plus Jakarta Sans Light"/>
              <a:ea typeface="Plus Jakarta Sans Light"/>
              <a:cs typeface="Plus Jakarta Sans Light"/>
              <a:sym typeface="Plus Jakarta Sans Light"/>
            </a:endParaRPr>
          </a:p>
        </p:txBody>
      </p:sp>
      <p:pic>
        <p:nvPicPr>
          <p:cNvPr id="2" name="Google Shape;135;p28" title="hf_20260120_145510_ad5b6536-112d-4c60-99e3-15a3b1b1ce7b.png">
            <a:extLst>
              <a:ext uri="{FF2B5EF4-FFF2-40B4-BE49-F238E27FC236}">
                <a16:creationId xmlns:a16="http://schemas.microsoft.com/office/drawing/2014/main" id="{D108CC75-6B5E-53CB-1A8A-59417E258815}"/>
              </a:ext>
            </a:extLst>
          </p:cNvPr>
          <p:cNvPicPr preferRelativeResize="0"/>
          <p:nvPr/>
        </p:nvPicPr>
        <p:blipFill rotWithShape="1">
          <a:blip r:embed="rId3">
            <a:alphaModFix/>
          </a:blip>
          <a:srcRect t="11342" b="11342"/>
          <a:stretch/>
        </p:blipFill>
        <p:spPr>
          <a:xfrm>
            <a:off x="527229" y="509009"/>
            <a:ext cx="3197278" cy="4394817"/>
          </a:xfrm>
          <a:prstGeom prst="rect">
            <a:avLst/>
          </a:prstGeom>
          <a:noFill/>
          <a:ln>
            <a:noFill/>
          </a:ln>
        </p:spPr>
      </p:pic>
    </p:spTree>
    <p:extLst>
      <p:ext uri="{BB962C8B-B14F-4D97-AF65-F5344CB8AC3E}">
        <p14:creationId xmlns:p14="http://schemas.microsoft.com/office/powerpoint/2010/main" val="39799963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8">
          <a:extLst>
            <a:ext uri="{FF2B5EF4-FFF2-40B4-BE49-F238E27FC236}">
              <a16:creationId xmlns:a16="http://schemas.microsoft.com/office/drawing/2014/main" id="{80B0DF6C-EE26-677B-ED5A-69FE24B5D65B}"/>
            </a:ext>
          </a:extLst>
        </p:cNvPr>
        <p:cNvGrpSpPr/>
        <p:nvPr/>
      </p:nvGrpSpPr>
      <p:grpSpPr>
        <a:xfrm>
          <a:off x="0" y="0"/>
          <a:ext cx="0" cy="0"/>
          <a:chOff x="0" y="0"/>
          <a:chExt cx="0" cy="0"/>
        </a:xfrm>
      </p:grpSpPr>
      <p:sp>
        <p:nvSpPr>
          <p:cNvPr id="99" name="Google Shape;99;p24">
            <a:extLst>
              <a:ext uri="{FF2B5EF4-FFF2-40B4-BE49-F238E27FC236}">
                <a16:creationId xmlns:a16="http://schemas.microsoft.com/office/drawing/2014/main" id="{069F1B25-F352-B840-6CE9-7624D5486A4B}"/>
              </a:ext>
            </a:extLst>
          </p:cNvPr>
          <p:cNvSpPr txBox="1"/>
          <p:nvPr/>
        </p:nvSpPr>
        <p:spPr>
          <a:xfrm>
            <a:off x="6180025" y="314075"/>
            <a:ext cx="2630700" cy="171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3000" dirty="0">
                <a:solidFill>
                  <a:srgbClr val="FF632B"/>
                </a:solidFill>
                <a:latin typeface="Plus Jakarta Sans ExtraBold"/>
                <a:ea typeface="Plus Jakarta Sans ExtraBold"/>
                <a:cs typeface="Plus Jakarta Sans ExtraBold"/>
                <a:sym typeface="Plus Jakarta Sans ExtraBold"/>
              </a:rPr>
              <a:t>04</a:t>
            </a:r>
            <a:endParaRPr sz="13000" dirty="0">
              <a:solidFill>
                <a:srgbClr val="FF632B"/>
              </a:solidFill>
              <a:latin typeface="Plus Jakarta Sans ExtraBold"/>
              <a:ea typeface="Plus Jakarta Sans ExtraBold"/>
              <a:cs typeface="Plus Jakarta Sans ExtraBold"/>
              <a:sym typeface="Plus Jakarta Sans ExtraBold"/>
            </a:endParaRPr>
          </a:p>
        </p:txBody>
      </p:sp>
      <p:sp>
        <p:nvSpPr>
          <p:cNvPr id="100" name="Google Shape;100;p24">
            <a:extLst>
              <a:ext uri="{FF2B5EF4-FFF2-40B4-BE49-F238E27FC236}">
                <a16:creationId xmlns:a16="http://schemas.microsoft.com/office/drawing/2014/main" id="{167ECE44-20E5-C7A1-D175-036384739E74}"/>
              </a:ext>
            </a:extLst>
          </p:cNvPr>
          <p:cNvSpPr txBox="1"/>
          <p:nvPr/>
        </p:nvSpPr>
        <p:spPr>
          <a:xfrm>
            <a:off x="619900" y="2935025"/>
            <a:ext cx="6462900" cy="1719900"/>
          </a:xfrm>
          <a:prstGeom prst="rect">
            <a:avLst/>
          </a:prstGeom>
          <a:noFill/>
          <a:ln>
            <a:noFill/>
          </a:ln>
        </p:spPr>
        <p:txBody>
          <a:bodyPr spcFirstLastPara="1" wrap="square" lIns="91425" tIns="91425" rIns="91425" bIns="91425" anchor="t" anchorCtr="0">
            <a:noAutofit/>
          </a:bodyPr>
          <a:lstStyle/>
          <a:p>
            <a:pPr lvl="0">
              <a:lnSpc>
                <a:spcPct val="80000"/>
              </a:lnSpc>
            </a:pPr>
            <a:r>
              <a:rPr lang="es-MX" sz="4800" dirty="0">
                <a:solidFill>
                  <a:srgbClr val="F8F2E8"/>
                </a:solidFill>
                <a:latin typeface="Plus Jakarta Sans ExtraBold"/>
                <a:ea typeface="Plus Jakarta Sans ExtraBold"/>
                <a:cs typeface="Plus Jakarta Sans ExtraBold"/>
                <a:sym typeface="Plus Jakarta Sans ExtraBold"/>
              </a:rPr>
              <a:t>Resiliencia del Sistema</a:t>
            </a:r>
            <a:endParaRPr sz="4800" dirty="0">
              <a:solidFill>
                <a:srgbClr val="F8F2E8"/>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5070106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3">
          <a:extLst>
            <a:ext uri="{FF2B5EF4-FFF2-40B4-BE49-F238E27FC236}">
              <a16:creationId xmlns:a16="http://schemas.microsoft.com/office/drawing/2014/main" id="{AE89386A-C384-7038-F1F4-CCFC728A95E6}"/>
            </a:ext>
          </a:extLst>
        </p:cNvPr>
        <p:cNvGrpSpPr/>
        <p:nvPr/>
      </p:nvGrpSpPr>
      <p:grpSpPr>
        <a:xfrm>
          <a:off x="0" y="0"/>
          <a:ext cx="0" cy="0"/>
          <a:chOff x="0" y="0"/>
          <a:chExt cx="0" cy="0"/>
        </a:xfrm>
      </p:grpSpPr>
      <p:sp>
        <p:nvSpPr>
          <p:cNvPr id="124" name="Google Shape;124;p27">
            <a:extLst>
              <a:ext uri="{FF2B5EF4-FFF2-40B4-BE49-F238E27FC236}">
                <a16:creationId xmlns:a16="http://schemas.microsoft.com/office/drawing/2014/main" id="{2549D75C-BEDF-FCB2-0070-853C1633EE56}"/>
              </a:ext>
            </a:extLst>
          </p:cNvPr>
          <p:cNvSpPr txBox="1"/>
          <p:nvPr/>
        </p:nvSpPr>
        <p:spPr>
          <a:xfrm>
            <a:off x="602400" y="659600"/>
            <a:ext cx="4904100"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MX" sz="3500" dirty="0">
                <a:solidFill>
                  <a:srgbClr val="FF632B"/>
                </a:solidFill>
                <a:latin typeface="Plus Jakarta Sans ExtraBold"/>
                <a:ea typeface="Plus Jakarta Sans ExtraBold"/>
                <a:cs typeface="Plus Jakarta Sans ExtraBold"/>
                <a:sym typeface="Plus Jakarta Sans ExtraBold"/>
              </a:rPr>
              <a:t>Diseño a Prueba de Fallos: La Ruta de </a:t>
            </a:r>
            <a:r>
              <a:rPr lang="es-MX" sz="3500" dirty="0" err="1">
                <a:solidFill>
                  <a:srgbClr val="FF632B"/>
                </a:solidFill>
                <a:latin typeface="Plus Jakarta Sans ExtraBold"/>
                <a:ea typeface="Plus Jakarta Sans ExtraBold"/>
                <a:cs typeface="Plus Jakarta Sans ExtraBold"/>
                <a:sym typeface="Plus Jakarta Sans ExtraBold"/>
              </a:rPr>
              <a:t>Fallback</a:t>
            </a:r>
            <a:endParaRPr sz="1100" dirty="0">
              <a:solidFill>
                <a:srgbClr val="260700"/>
              </a:solidFill>
              <a:latin typeface="Plus Jakarta Sans"/>
              <a:ea typeface="Plus Jakarta Sans"/>
              <a:cs typeface="Plus Jakarta Sans"/>
              <a:sym typeface="Plus Jakarta Sans"/>
            </a:endParaRPr>
          </a:p>
        </p:txBody>
      </p:sp>
      <p:pic>
        <p:nvPicPr>
          <p:cNvPr id="126" name="Google Shape;126;p27">
            <a:extLst>
              <a:ext uri="{FF2B5EF4-FFF2-40B4-BE49-F238E27FC236}">
                <a16:creationId xmlns:a16="http://schemas.microsoft.com/office/drawing/2014/main" id="{8F6A7008-F8AC-83B9-5D0A-9A72A556F449}"/>
              </a:ext>
            </a:extLst>
          </p:cNvPr>
          <p:cNvPicPr preferRelativeResize="0"/>
          <p:nvPr/>
        </p:nvPicPr>
        <p:blipFill>
          <a:blip r:embed="rId3">
            <a:alphaModFix/>
          </a:blip>
          <a:stretch>
            <a:fillRect/>
          </a:stretch>
        </p:blipFill>
        <p:spPr>
          <a:xfrm>
            <a:off x="5506500" y="527051"/>
            <a:ext cx="3183900" cy="4376428"/>
          </a:xfrm>
          <a:prstGeom prst="rect">
            <a:avLst/>
          </a:prstGeom>
          <a:noFill/>
          <a:ln>
            <a:noFill/>
          </a:ln>
        </p:spPr>
      </p:pic>
      <p:sp>
        <p:nvSpPr>
          <p:cNvPr id="128" name="Google Shape;128;p27">
            <a:extLst>
              <a:ext uri="{FF2B5EF4-FFF2-40B4-BE49-F238E27FC236}">
                <a16:creationId xmlns:a16="http://schemas.microsoft.com/office/drawing/2014/main" id="{AF2A817C-6472-BEF2-5CEC-077F70707682}"/>
              </a:ext>
            </a:extLst>
          </p:cNvPr>
          <p:cNvSpPr txBox="1"/>
          <p:nvPr/>
        </p:nvSpPr>
        <p:spPr>
          <a:xfrm>
            <a:off x="769450" y="2689601"/>
            <a:ext cx="4140949" cy="1908000"/>
          </a:xfrm>
          <a:prstGeom prst="rect">
            <a:avLst/>
          </a:prstGeom>
          <a:noFill/>
          <a:ln>
            <a:noFill/>
          </a:ln>
        </p:spPr>
        <p:txBody>
          <a:bodyPr spcFirstLastPara="1" wrap="square" lIns="91425" tIns="91425" rIns="91425" bIns="91425" anchor="t" anchorCtr="0">
            <a:noAutofit/>
          </a:bodyPr>
          <a:lstStyle/>
          <a:p>
            <a:pPr lvl="0" algn="l" rtl="0">
              <a:spcBef>
                <a:spcPts val="0"/>
              </a:spcBef>
              <a:spcAft>
                <a:spcPts val="0"/>
              </a:spcAft>
            </a:pPr>
            <a:r>
              <a:rPr lang="es-MX" sz="1200" dirty="0">
                <a:solidFill>
                  <a:srgbClr val="260700"/>
                </a:solidFill>
                <a:latin typeface="Plus Jakarta Sans Light"/>
                <a:ea typeface="Plus Jakarta Sans Light"/>
                <a:cs typeface="Plus Jakarta Sans Light"/>
                <a:sym typeface="Plus Jakarta Sans Light"/>
              </a:rPr>
              <a:t>En la automatización real, las </a:t>
            </a:r>
            <a:r>
              <a:rPr lang="es-MX" sz="1200" dirty="0" err="1">
                <a:solidFill>
                  <a:srgbClr val="260700"/>
                </a:solidFill>
                <a:latin typeface="Plus Jakarta Sans Light"/>
                <a:ea typeface="Plus Jakarta Sans Light"/>
                <a:cs typeface="Plus Jakarta Sans Light"/>
                <a:sym typeface="Plus Jakarta Sans Light"/>
              </a:rPr>
              <a:t>APIs</a:t>
            </a:r>
            <a:r>
              <a:rPr lang="es-MX" sz="1200" dirty="0">
                <a:solidFill>
                  <a:srgbClr val="260700"/>
                </a:solidFill>
                <a:latin typeface="Plus Jakarta Sans Light"/>
                <a:ea typeface="Plus Jakarta Sans Light"/>
                <a:cs typeface="Plus Jakarta Sans Light"/>
                <a:sym typeface="Plus Jakarta Sans Light"/>
              </a:rPr>
              <a:t> externas (como </a:t>
            </a:r>
            <a:r>
              <a:rPr lang="es-MX" sz="1200" dirty="0" err="1">
                <a:solidFill>
                  <a:srgbClr val="260700"/>
                </a:solidFill>
                <a:latin typeface="Plus Jakarta Sans Light"/>
                <a:ea typeface="Plus Jakarta Sans Light"/>
                <a:cs typeface="Plus Jakarta Sans Light"/>
                <a:sym typeface="Plus Jakarta Sans Light"/>
              </a:rPr>
              <a:t>Groq</a:t>
            </a:r>
            <a:r>
              <a:rPr lang="es-MX" sz="1200" dirty="0">
                <a:solidFill>
                  <a:srgbClr val="260700"/>
                </a:solidFill>
                <a:latin typeface="Plus Jakarta Sans Light"/>
                <a:ea typeface="Plus Jakarta Sans Light"/>
                <a:cs typeface="Plus Jakarta Sans Light"/>
                <a:sym typeface="Plus Jakarta Sans Light"/>
              </a:rPr>
              <a:t> u </a:t>
            </a:r>
            <a:r>
              <a:rPr lang="es-MX" sz="1200" dirty="0" err="1">
                <a:solidFill>
                  <a:srgbClr val="260700"/>
                </a:solidFill>
                <a:latin typeface="Plus Jakarta Sans Light"/>
                <a:ea typeface="Plus Jakarta Sans Light"/>
                <a:cs typeface="Plus Jakarta Sans Light"/>
                <a:sym typeface="Plus Jakarta Sans Light"/>
              </a:rPr>
              <a:t>OpenAI</a:t>
            </a:r>
            <a:r>
              <a:rPr lang="es-MX" sz="1200" dirty="0">
                <a:solidFill>
                  <a:srgbClr val="260700"/>
                </a:solidFill>
                <a:latin typeface="Plus Jakarta Sans Light"/>
                <a:ea typeface="Plus Jakarta Sans Light"/>
                <a:cs typeface="Plus Jakarta Sans Light"/>
                <a:sym typeface="Plus Jakarta Sans Light"/>
              </a:rPr>
              <a:t>) a veces se caen. Un flujo profesional nunca se detiene ante un error. Utilizando herramientas de manejo de errores (como Continue </a:t>
            </a:r>
            <a:r>
              <a:rPr lang="es-MX" sz="1200" dirty="0" err="1">
                <a:solidFill>
                  <a:srgbClr val="260700"/>
                </a:solidFill>
                <a:latin typeface="Plus Jakarta Sans Light"/>
                <a:ea typeface="Plus Jakarta Sans Light"/>
                <a:cs typeface="Plus Jakarta Sans Light"/>
                <a:sym typeface="Plus Jakarta Sans Light"/>
              </a:rPr>
              <a:t>On</a:t>
            </a:r>
            <a:r>
              <a:rPr lang="es-MX" sz="1200" dirty="0">
                <a:solidFill>
                  <a:srgbClr val="260700"/>
                </a:solidFill>
                <a:latin typeface="Plus Jakarta Sans Light"/>
                <a:ea typeface="Plus Jakarta Sans Light"/>
                <a:cs typeface="Plus Jakarta Sans Light"/>
                <a:sym typeface="Plus Jakarta Sans Light"/>
              </a:rPr>
              <a:t> </a:t>
            </a:r>
            <a:r>
              <a:rPr lang="es-MX" sz="1200" dirty="0" err="1">
                <a:solidFill>
                  <a:srgbClr val="260700"/>
                </a:solidFill>
                <a:latin typeface="Plus Jakarta Sans Light"/>
                <a:ea typeface="Plus Jakarta Sans Light"/>
                <a:cs typeface="Plus Jakarta Sans Light"/>
                <a:sym typeface="Plus Jakarta Sans Light"/>
              </a:rPr>
              <a:t>Fail</a:t>
            </a:r>
            <a:r>
              <a:rPr lang="es-MX" sz="1200" dirty="0">
                <a:solidFill>
                  <a:srgbClr val="260700"/>
                </a:solidFill>
                <a:latin typeface="Plus Jakarta Sans Light"/>
                <a:ea typeface="Plus Jakarta Sans Light"/>
                <a:cs typeface="Plus Jakarta Sans Light"/>
                <a:sym typeface="Plus Jakarta Sans Light"/>
              </a:rPr>
              <a:t> y nodos condicionales IF), construimos "rutas de rescate". Si la IA falla o se queda muda, el sistema lo detecta y genera automáticamente una alerta de emergencia, garantizando que ningún paciente quede sin atención por una falla tecnológica.</a:t>
            </a:r>
            <a:endParaRPr sz="1200" dirty="0">
              <a:solidFill>
                <a:srgbClr val="260700"/>
              </a:solidFill>
              <a:latin typeface="Plus Jakarta Sans Light"/>
              <a:ea typeface="Plus Jakarta Sans Light"/>
              <a:cs typeface="Plus Jakarta Sans Light"/>
              <a:sym typeface="Plus Jakarta Sans Light"/>
            </a:endParaRPr>
          </a:p>
        </p:txBody>
      </p:sp>
    </p:spTree>
    <p:extLst>
      <p:ext uri="{BB962C8B-B14F-4D97-AF65-F5344CB8AC3E}">
        <p14:creationId xmlns:p14="http://schemas.microsoft.com/office/powerpoint/2010/main" val="4739248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sp>
        <p:nvSpPr>
          <p:cNvPr id="466" name="Google Shape;466;p60"/>
          <p:cNvSpPr txBox="1"/>
          <p:nvPr/>
        </p:nvSpPr>
        <p:spPr>
          <a:xfrm>
            <a:off x="652525" y="1336525"/>
            <a:ext cx="6254700" cy="244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6000" dirty="0">
                <a:solidFill>
                  <a:srgbClr val="F8F2E8"/>
                </a:solidFill>
                <a:latin typeface="Plus Jakarta Sans ExtraBold"/>
                <a:ea typeface="Plus Jakarta Sans ExtraBold"/>
                <a:cs typeface="Plus Jakarta Sans ExtraBold"/>
                <a:sym typeface="Plus Jakarta Sans ExtraBold"/>
              </a:rPr>
              <a:t>Break,</a:t>
            </a:r>
            <a:endParaRPr sz="6000" dirty="0">
              <a:solidFill>
                <a:srgbClr val="F8F2E8"/>
              </a:solidFill>
              <a:latin typeface="Plus Jakarta Sans ExtraBold"/>
              <a:ea typeface="Plus Jakarta Sans ExtraBold"/>
              <a:cs typeface="Plus Jakarta Sans ExtraBold"/>
              <a:sym typeface="Plus Jakarta Sans ExtraBold"/>
            </a:endParaRPr>
          </a:p>
          <a:p>
            <a:pPr marL="0" lvl="0" indent="0" algn="l" rtl="0">
              <a:spcBef>
                <a:spcPts val="0"/>
              </a:spcBef>
              <a:spcAft>
                <a:spcPts val="0"/>
              </a:spcAft>
              <a:buNone/>
            </a:pPr>
            <a:endParaRPr sz="2800" dirty="0">
              <a:solidFill>
                <a:srgbClr val="F8F2E8"/>
              </a:solidFill>
              <a:latin typeface="Plus Jakarta Sans ExtraBold"/>
              <a:ea typeface="Plus Jakarta Sans ExtraBold"/>
              <a:cs typeface="Plus Jakarta Sans ExtraBold"/>
              <a:sym typeface="Plus Jakarta Sans ExtraBold"/>
            </a:endParaRPr>
          </a:p>
          <a:p>
            <a:pPr marL="0" lvl="0" indent="0" algn="l" rtl="0">
              <a:spcBef>
                <a:spcPts val="0"/>
              </a:spcBef>
              <a:spcAft>
                <a:spcPts val="0"/>
              </a:spcAft>
              <a:buNone/>
            </a:pPr>
            <a:r>
              <a:rPr lang="es" sz="2400" dirty="0">
                <a:solidFill>
                  <a:srgbClr val="F8F2E8"/>
                </a:solidFill>
                <a:latin typeface="Plus Jakarta Sans"/>
                <a:ea typeface="Plus Jakarta Sans"/>
                <a:cs typeface="Plus Jakarta Sans"/>
                <a:sym typeface="Plus Jakarta Sans"/>
              </a:rPr>
              <a:t>andá por un cafecito</a:t>
            </a:r>
            <a:endParaRPr sz="2400" dirty="0">
              <a:solidFill>
                <a:srgbClr val="F8F2E8"/>
              </a:solidFill>
              <a:latin typeface="Plus Jakarta Sans"/>
              <a:ea typeface="Plus Jakarta Sans"/>
              <a:cs typeface="Plus Jakarta Sans"/>
              <a:sym typeface="Plus Jakarta Sans"/>
            </a:endParaRPr>
          </a:p>
          <a:p>
            <a:pPr marL="0" lvl="0" indent="0" algn="l" rtl="0">
              <a:spcBef>
                <a:spcPts val="0"/>
              </a:spcBef>
              <a:spcAft>
                <a:spcPts val="0"/>
              </a:spcAft>
              <a:buNone/>
            </a:pPr>
            <a:r>
              <a:rPr lang="es" sz="2400" dirty="0">
                <a:solidFill>
                  <a:srgbClr val="F8F2E8"/>
                </a:solidFill>
                <a:latin typeface="Plus Jakarta Sans"/>
                <a:ea typeface="Plus Jakarta Sans"/>
                <a:cs typeface="Plus Jakarta Sans"/>
                <a:sym typeface="Plus Jakarta Sans"/>
              </a:rPr>
              <a:t>o mate, ¡y volvemos!</a:t>
            </a:r>
            <a:endParaRPr sz="2400" dirty="0">
              <a:solidFill>
                <a:srgbClr val="F8F2E8"/>
              </a:solidFill>
              <a:latin typeface="Plus Jakarta Sans"/>
              <a:ea typeface="Plus Jakarta Sans"/>
              <a:cs typeface="Plus Jakarta Sans"/>
              <a:sym typeface="Plus Jakarta Sans"/>
            </a:endParaRPr>
          </a:p>
        </p:txBody>
      </p:sp>
      <p:pic>
        <p:nvPicPr>
          <p:cNvPr id="467" name="Google Shape;467;p60" title="Vector.png"/>
          <p:cNvPicPr preferRelativeResize="0"/>
          <p:nvPr/>
        </p:nvPicPr>
        <p:blipFill rotWithShape="1">
          <a:blip r:embed="rId3">
            <a:alphaModFix/>
          </a:blip>
          <a:srcRect l="30" r="40"/>
          <a:stretch/>
        </p:blipFill>
        <p:spPr>
          <a:xfrm>
            <a:off x="7520578" y="2347936"/>
            <a:ext cx="524575" cy="4476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3">
          <a:extLst>
            <a:ext uri="{FF2B5EF4-FFF2-40B4-BE49-F238E27FC236}">
              <a16:creationId xmlns:a16="http://schemas.microsoft.com/office/drawing/2014/main" id="{5A956FD9-4E32-AF99-C049-DE6DF683777B}"/>
            </a:ext>
          </a:extLst>
        </p:cNvPr>
        <p:cNvGrpSpPr/>
        <p:nvPr/>
      </p:nvGrpSpPr>
      <p:grpSpPr>
        <a:xfrm>
          <a:off x="0" y="0"/>
          <a:ext cx="0" cy="0"/>
          <a:chOff x="0" y="0"/>
          <a:chExt cx="0" cy="0"/>
        </a:xfrm>
      </p:grpSpPr>
      <p:sp>
        <p:nvSpPr>
          <p:cNvPr id="124" name="Google Shape;124;p27">
            <a:extLst>
              <a:ext uri="{FF2B5EF4-FFF2-40B4-BE49-F238E27FC236}">
                <a16:creationId xmlns:a16="http://schemas.microsoft.com/office/drawing/2014/main" id="{E2AA661D-F041-F2EC-EFA6-EDBD0F8BC1D6}"/>
              </a:ext>
            </a:extLst>
          </p:cNvPr>
          <p:cNvSpPr txBox="1"/>
          <p:nvPr/>
        </p:nvSpPr>
        <p:spPr>
          <a:xfrm>
            <a:off x="4787050" y="659600"/>
            <a:ext cx="3922549"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MX" sz="3500" dirty="0" err="1">
                <a:solidFill>
                  <a:srgbClr val="FF632B"/>
                </a:solidFill>
                <a:latin typeface="Plus Jakarta Sans ExtraBold"/>
                <a:ea typeface="Plus Jakarta Sans ExtraBold"/>
                <a:cs typeface="Plus Jakarta Sans ExtraBold"/>
                <a:sym typeface="Plus Jakarta Sans ExtraBold"/>
              </a:rPr>
              <a:t>Embeddings</a:t>
            </a:r>
            <a:r>
              <a:rPr lang="es-MX" sz="3500" dirty="0">
                <a:solidFill>
                  <a:srgbClr val="FF632B"/>
                </a:solidFill>
                <a:latin typeface="Plus Jakarta Sans ExtraBold"/>
                <a:ea typeface="Plus Jakarta Sans ExtraBold"/>
                <a:cs typeface="Plus Jakarta Sans ExtraBold"/>
                <a:sym typeface="Plus Jakarta Sans ExtraBold"/>
              </a:rPr>
              <a:t>: El Mapa Semántico</a:t>
            </a:r>
            <a:endParaRPr sz="1100" dirty="0">
              <a:solidFill>
                <a:srgbClr val="260700"/>
              </a:solidFill>
              <a:latin typeface="Plus Jakarta Sans"/>
              <a:ea typeface="Plus Jakarta Sans"/>
              <a:cs typeface="Plus Jakarta Sans"/>
              <a:sym typeface="Plus Jakarta Sans"/>
            </a:endParaRPr>
          </a:p>
        </p:txBody>
      </p:sp>
      <p:pic>
        <p:nvPicPr>
          <p:cNvPr id="4" name="Google Shape;136;p28" title="hf_20260122_141813_a16bd891-bda5-4db3-833a-4f326df30118.png">
            <a:extLst>
              <a:ext uri="{FF2B5EF4-FFF2-40B4-BE49-F238E27FC236}">
                <a16:creationId xmlns:a16="http://schemas.microsoft.com/office/drawing/2014/main" id="{5C6EBAAA-8CAD-CCD7-C87D-BC22646A2C6E}"/>
              </a:ext>
            </a:extLst>
          </p:cNvPr>
          <p:cNvPicPr preferRelativeResize="0"/>
          <p:nvPr/>
        </p:nvPicPr>
        <p:blipFill rotWithShape="1">
          <a:blip r:embed="rId3">
            <a:alphaModFix/>
          </a:blip>
          <a:srcRect l="19963" r="19963"/>
          <a:stretch/>
        </p:blipFill>
        <p:spPr>
          <a:xfrm>
            <a:off x="0" y="-1745414"/>
            <a:ext cx="9144000" cy="8562034"/>
          </a:xfrm>
          <a:prstGeom prst="rect">
            <a:avLst/>
          </a:prstGeom>
          <a:noFill/>
          <a:ln>
            <a:noFill/>
          </a:ln>
        </p:spPr>
      </p:pic>
      <p:sp>
        <p:nvSpPr>
          <p:cNvPr id="2" name="Google Shape;466;p60">
            <a:extLst>
              <a:ext uri="{FF2B5EF4-FFF2-40B4-BE49-F238E27FC236}">
                <a16:creationId xmlns:a16="http://schemas.microsoft.com/office/drawing/2014/main" id="{BE3DD03A-71D3-7348-C41E-ABC04278368D}"/>
              </a:ext>
            </a:extLst>
          </p:cNvPr>
          <p:cNvSpPr txBox="1"/>
          <p:nvPr/>
        </p:nvSpPr>
        <p:spPr>
          <a:xfrm>
            <a:off x="155725" y="3809201"/>
            <a:ext cx="6254700" cy="244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AR" sz="6000" dirty="0">
                <a:solidFill>
                  <a:srgbClr val="F8F2E8"/>
                </a:solidFill>
                <a:latin typeface="Plus Jakarta Sans ExtraBold"/>
                <a:ea typeface="Plus Jakarta Sans ExtraBold"/>
                <a:cs typeface="Plus Jakarta Sans ExtraBold"/>
                <a:sym typeface="Plus Jakarta Sans ExtraBold"/>
              </a:rPr>
              <a:t>Practica</a:t>
            </a:r>
            <a:endParaRPr sz="2400" dirty="0">
              <a:solidFill>
                <a:srgbClr val="F8F2E8"/>
              </a:solidFill>
              <a:latin typeface="Plus Jakarta Sans"/>
              <a:ea typeface="Plus Jakarta Sans"/>
              <a:cs typeface="Plus Jakarta Sans"/>
              <a:sym typeface="Plus Jakarta Sans"/>
            </a:endParaRPr>
          </a:p>
        </p:txBody>
      </p:sp>
    </p:spTree>
    <p:extLst>
      <p:ext uri="{BB962C8B-B14F-4D97-AF65-F5344CB8AC3E}">
        <p14:creationId xmlns:p14="http://schemas.microsoft.com/office/powerpoint/2010/main" val="24566445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8">
          <a:extLst>
            <a:ext uri="{FF2B5EF4-FFF2-40B4-BE49-F238E27FC236}">
              <a16:creationId xmlns:a16="http://schemas.microsoft.com/office/drawing/2014/main" id="{2DC0DD3A-CC85-A578-B021-18EC2A23A428}"/>
            </a:ext>
          </a:extLst>
        </p:cNvPr>
        <p:cNvGrpSpPr/>
        <p:nvPr/>
      </p:nvGrpSpPr>
      <p:grpSpPr>
        <a:xfrm>
          <a:off x="0" y="0"/>
          <a:ext cx="0" cy="0"/>
          <a:chOff x="0" y="0"/>
          <a:chExt cx="0" cy="0"/>
        </a:xfrm>
      </p:grpSpPr>
      <p:sp>
        <p:nvSpPr>
          <p:cNvPr id="99" name="Google Shape;99;p24">
            <a:extLst>
              <a:ext uri="{FF2B5EF4-FFF2-40B4-BE49-F238E27FC236}">
                <a16:creationId xmlns:a16="http://schemas.microsoft.com/office/drawing/2014/main" id="{46C7E1DD-4373-20D0-5F32-FBCBB2D790FE}"/>
              </a:ext>
            </a:extLst>
          </p:cNvPr>
          <p:cNvSpPr txBox="1"/>
          <p:nvPr/>
        </p:nvSpPr>
        <p:spPr>
          <a:xfrm>
            <a:off x="6180025" y="314075"/>
            <a:ext cx="2630700" cy="171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3000" dirty="0">
                <a:solidFill>
                  <a:srgbClr val="FF632B"/>
                </a:solidFill>
                <a:latin typeface="Plus Jakarta Sans ExtraBold"/>
                <a:ea typeface="Plus Jakarta Sans ExtraBold"/>
                <a:cs typeface="Plus Jakarta Sans ExtraBold"/>
                <a:sym typeface="Plus Jakarta Sans ExtraBold"/>
              </a:rPr>
              <a:t>05</a:t>
            </a:r>
            <a:endParaRPr sz="13000" dirty="0">
              <a:solidFill>
                <a:srgbClr val="FF632B"/>
              </a:solidFill>
              <a:latin typeface="Plus Jakarta Sans ExtraBold"/>
              <a:ea typeface="Plus Jakarta Sans ExtraBold"/>
              <a:cs typeface="Plus Jakarta Sans ExtraBold"/>
              <a:sym typeface="Plus Jakarta Sans ExtraBold"/>
            </a:endParaRPr>
          </a:p>
        </p:txBody>
      </p:sp>
      <p:sp>
        <p:nvSpPr>
          <p:cNvPr id="100" name="Google Shape;100;p24">
            <a:extLst>
              <a:ext uri="{FF2B5EF4-FFF2-40B4-BE49-F238E27FC236}">
                <a16:creationId xmlns:a16="http://schemas.microsoft.com/office/drawing/2014/main" id="{375C9359-47C4-4D0A-629A-131C52504FAC}"/>
              </a:ext>
            </a:extLst>
          </p:cNvPr>
          <p:cNvSpPr txBox="1"/>
          <p:nvPr/>
        </p:nvSpPr>
        <p:spPr>
          <a:xfrm>
            <a:off x="619900" y="2935025"/>
            <a:ext cx="6462900" cy="1719900"/>
          </a:xfrm>
          <a:prstGeom prst="rect">
            <a:avLst/>
          </a:prstGeom>
          <a:noFill/>
          <a:ln>
            <a:noFill/>
          </a:ln>
        </p:spPr>
        <p:txBody>
          <a:bodyPr spcFirstLastPara="1" wrap="square" lIns="91425" tIns="91425" rIns="91425" bIns="91425" anchor="t" anchorCtr="0">
            <a:noAutofit/>
          </a:bodyPr>
          <a:lstStyle/>
          <a:p>
            <a:pPr lvl="0">
              <a:lnSpc>
                <a:spcPct val="80000"/>
              </a:lnSpc>
            </a:pPr>
            <a:r>
              <a:rPr lang="es-MX" sz="4800" dirty="0">
                <a:solidFill>
                  <a:srgbClr val="F8F2E8"/>
                </a:solidFill>
                <a:latin typeface="Plus Jakarta Sans ExtraBold"/>
                <a:ea typeface="Plus Jakarta Sans ExtraBold"/>
                <a:cs typeface="Plus Jakarta Sans ExtraBold"/>
                <a:sym typeface="Plus Jakarta Sans ExtraBold"/>
              </a:rPr>
              <a:t>Transformando Texto en Matemáticas</a:t>
            </a:r>
            <a:endParaRPr sz="4800" dirty="0">
              <a:solidFill>
                <a:srgbClr val="F8F2E8"/>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39969319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3">
          <a:extLst>
            <a:ext uri="{FF2B5EF4-FFF2-40B4-BE49-F238E27FC236}">
              <a16:creationId xmlns:a16="http://schemas.microsoft.com/office/drawing/2014/main" id="{CA669C43-A8F9-2EA8-5750-784D19D474A1}"/>
            </a:ext>
          </a:extLst>
        </p:cNvPr>
        <p:cNvGrpSpPr/>
        <p:nvPr/>
      </p:nvGrpSpPr>
      <p:grpSpPr>
        <a:xfrm>
          <a:off x="0" y="0"/>
          <a:ext cx="0" cy="0"/>
          <a:chOff x="0" y="0"/>
          <a:chExt cx="0" cy="0"/>
        </a:xfrm>
      </p:grpSpPr>
      <p:sp>
        <p:nvSpPr>
          <p:cNvPr id="124" name="Google Shape;124;p27">
            <a:extLst>
              <a:ext uri="{FF2B5EF4-FFF2-40B4-BE49-F238E27FC236}">
                <a16:creationId xmlns:a16="http://schemas.microsoft.com/office/drawing/2014/main" id="{1661318B-F0DA-6635-6D43-BB84FC8D8622}"/>
              </a:ext>
            </a:extLst>
          </p:cNvPr>
          <p:cNvSpPr txBox="1"/>
          <p:nvPr/>
        </p:nvSpPr>
        <p:spPr>
          <a:xfrm>
            <a:off x="4787050" y="659600"/>
            <a:ext cx="3922549"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MX" sz="3500" dirty="0" err="1">
                <a:solidFill>
                  <a:srgbClr val="FF632B"/>
                </a:solidFill>
                <a:latin typeface="Plus Jakarta Sans ExtraBold"/>
                <a:ea typeface="Plus Jakarta Sans ExtraBold"/>
                <a:cs typeface="Plus Jakarta Sans ExtraBold"/>
                <a:sym typeface="Plus Jakarta Sans ExtraBold"/>
              </a:rPr>
              <a:t>Embeddings</a:t>
            </a:r>
            <a:r>
              <a:rPr lang="es-MX" sz="3500" dirty="0">
                <a:solidFill>
                  <a:srgbClr val="FF632B"/>
                </a:solidFill>
                <a:latin typeface="Plus Jakarta Sans ExtraBold"/>
                <a:ea typeface="Plus Jakarta Sans ExtraBold"/>
                <a:cs typeface="Plus Jakarta Sans ExtraBold"/>
                <a:sym typeface="Plus Jakarta Sans ExtraBold"/>
              </a:rPr>
              <a:t>: El Mapa Semántico</a:t>
            </a:r>
            <a:endParaRPr sz="1100" dirty="0">
              <a:solidFill>
                <a:srgbClr val="260700"/>
              </a:solidFill>
              <a:latin typeface="Plus Jakarta Sans"/>
              <a:ea typeface="Plus Jakarta Sans"/>
              <a:cs typeface="Plus Jakarta Sans"/>
              <a:sym typeface="Plus Jakarta Sans"/>
            </a:endParaRPr>
          </a:p>
        </p:txBody>
      </p:sp>
      <p:sp>
        <p:nvSpPr>
          <p:cNvPr id="128" name="Google Shape;128;p27">
            <a:extLst>
              <a:ext uri="{FF2B5EF4-FFF2-40B4-BE49-F238E27FC236}">
                <a16:creationId xmlns:a16="http://schemas.microsoft.com/office/drawing/2014/main" id="{AB5E53EA-DB52-E29B-690D-BEB37BA28CC7}"/>
              </a:ext>
            </a:extLst>
          </p:cNvPr>
          <p:cNvSpPr txBox="1"/>
          <p:nvPr/>
        </p:nvSpPr>
        <p:spPr>
          <a:xfrm>
            <a:off x="4787051" y="1917500"/>
            <a:ext cx="3922548" cy="2373700"/>
          </a:xfrm>
          <a:prstGeom prst="rect">
            <a:avLst/>
          </a:prstGeom>
          <a:noFill/>
          <a:ln>
            <a:noFill/>
          </a:ln>
        </p:spPr>
        <p:txBody>
          <a:bodyPr spcFirstLastPara="1" wrap="square" lIns="91425" tIns="91425" rIns="91425" bIns="91425" anchor="t" anchorCtr="0">
            <a:noAutofit/>
          </a:bodyPr>
          <a:lstStyle/>
          <a:p>
            <a:pPr lvl="0"/>
            <a:r>
              <a:rPr lang="es-MX" sz="1200" dirty="0"/>
              <a:t>Un "</a:t>
            </a:r>
            <a:r>
              <a:rPr lang="es-MX" sz="1200" dirty="0" err="1"/>
              <a:t>Embedding</a:t>
            </a:r>
            <a:r>
              <a:rPr lang="es-MX" sz="1200" dirty="0"/>
              <a:t>" es el proceso de convertir palabras o textos completos en largas listas de números (coordenadas matemáticas). La magia de esto es que agrupa conceptos por su </a:t>
            </a:r>
            <a:r>
              <a:rPr lang="es-MX" sz="1200" i="1" dirty="0"/>
              <a:t>significado</a:t>
            </a:r>
            <a:r>
              <a:rPr lang="es-MX" sz="1200" dirty="0"/>
              <a:t>. En este espacio matemático, "dolor de cabeza" y "migraña" están muy cerca, aunque no compartan las mismas letras. Esto permite que la IA entienda el contexto real de las palabras.</a:t>
            </a:r>
            <a:endParaRPr lang="es-MX" sz="1200" dirty="0">
              <a:solidFill>
                <a:srgbClr val="260700"/>
              </a:solidFill>
              <a:latin typeface="Plus Jakarta Sans Light"/>
              <a:ea typeface="Plus Jakarta Sans Light"/>
              <a:cs typeface="Plus Jakarta Sans Light"/>
              <a:sym typeface="Plus Jakarta Sans Light"/>
            </a:endParaRPr>
          </a:p>
        </p:txBody>
      </p:sp>
      <p:pic>
        <p:nvPicPr>
          <p:cNvPr id="4" name="Google Shape;136;p28" title="hf_20260122_141813_a16bd891-bda5-4db3-833a-4f326df30118.png">
            <a:extLst>
              <a:ext uri="{FF2B5EF4-FFF2-40B4-BE49-F238E27FC236}">
                <a16:creationId xmlns:a16="http://schemas.microsoft.com/office/drawing/2014/main" id="{13EDC6BC-2562-9894-DEC6-479EF5F7CF63}"/>
              </a:ext>
            </a:extLst>
          </p:cNvPr>
          <p:cNvPicPr preferRelativeResize="0"/>
          <p:nvPr/>
        </p:nvPicPr>
        <p:blipFill rotWithShape="1">
          <a:blip r:embed="rId3">
            <a:alphaModFix/>
          </a:blip>
          <a:srcRect l="19963" r="19963"/>
          <a:stretch/>
        </p:blipFill>
        <p:spPr>
          <a:xfrm>
            <a:off x="299461" y="803387"/>
            <a:ext cx="4159739" cy="3894994"/>
          </a:xfrm>
          <a:prstGeom prst="rect">
            <a:avLst/>
          </a:prstGeom>
          <a:noFill/>
          <a:ln>
            <a:noFill/>
          </a:ln>
        </p:spPr>
      </p:pic>
    </p:spTree>
    <p:extLst>
      <p:ext uri="{BB962C8B-B14F-4D97-AF65-F5344CB8AC3E}">
        <p14:creationId xmlns:p14="http://schemas.microsoft.com/office/powerpoint/2010/main" val="37637576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8">
          <a:extLst>
            <a:ext uri="{FF2B5EF4-FFF2-40B4-BE49-F238E27FC236}">
              <a16:creationId xmlns:a16="http://schemas.microsoft.com/office/drawing/2014/main" id="{40E729E4-8209-902B-09E3-C4666B34E3C2}"/>
            </a:ext>
          </a:extLst>
        </p:cNvPr>
        <p:cNvGrpSpPr/>
        <p:nvPr/>
      </p:nvGrpSpPr>
      <p:grpSpPr>
        <a:xfrm>
          <a:off x="0" y="0"/>
          <a:ext cx="0" cy="0"/>
          <a:chOff x="0" y="0"/>
          <a:chExt cx="0" cy="0"/>
        </a:xfrm>
      </p:grpSpPr>
      <p:sp>
        <p:nvSpPr>
          <p:cNvPr id="99" name="Google Shape;99;p24">
            <a:extLst>
              <a:ext uri="{FF2B5EF4-FFF2-40B4-BE49-F238E27FC236}">
                <a16:creationId xmlns:a16="http://schemas.microsoft.com/office/drawing/2014/main" id="{EAF6A3B6-7AE6-C097-F0D6-95E28F7AE631}"/>
              </a:ext>
            </a:extLst>
          </p:cNvPr>
          <p:cNvSpPr txBox="1"/>
          <p:nvPr/>
        </p:nvSpPr>
        <p:spPr>
          <a:xfrm>
            <a:off x="6180025" y="314075"/>
            <a:ext cx="2630700" cy="171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3000" dirty="0">
                <a:solidFill>
                  <a:srgbClr val="FF632B"/>
                </a:solidFill>
                <a:latin typeface="Plus Jakarta Sans ExtraBold"/>
                <a:ea typeface="Plus Jakarta Sans ExtraBold"/>
                <a:cs typeface="Plus Jakarta Sans ExtraBold"/>
                <a:sym typeface="Plus Jakarta Sans ExtraBold"/>
              </a:rPr>
              <a:t>06</a:t>
            </a:r>
            <a:endParaRPr sz="13000" dirty="0">
              <a:solidFill>
                <a:srgbClr val="FF632B"/>
              </a:solidFill>
              <a:latin typeface="Plus Jakarta Sans ExtraBold"/>
              <a:ea typeface="Plus Jakarta Sans ExtraBold"/>
              <a:cs typeface="Plus Jakarta Sans ExtraBold"/>
              <a:sym typeface="Plus Jakarta Sans ExtraBold"/>
            </a:endParaRPr>
          </a:p>
        </p:txBody>
      </p:sp>
      <p:sp>
        <p:nvSpPr>
          <p:cNvPr id="100" name="Google Shape;100;p24">
            <a:extLst>
              <a:ext uri="{FF2B5EF4-FFF2-40B4-BE49-F238E27FC236}">
                <a16:creationId xmlns:a16="http://schemas.microsoft.com/office/drawing/2014/main" id="{AB2A950C-46A9-1556-004F-12653DA39A28}"/>
              </a:ext>
            </a:extLst>
          </p:cNvPr>
          <p:cNvSpPr txBox="1"/>
          <p:nvPr/>
        </p:nvSpPr>
        <p:spPr>
          <a:xfrm>
            <a:off x="619900" y="2935025"/>
            <a:ext cx="6462900" cy="1719900"/>
          </a:xfrm>
          <a:prstGeom prst="rect">
            <a:avLst/>
          </a:prstGeom>
          <a:noFill/>
          <a:ln>
            <a:noFill/>
          </a:ln>
        </p:spPr>
        <p:txBody>
          <a:bodyPr spcFirstLastPara="1" wrap="square" lIns="91425" tIns="91425" rIns="91425" bIns="91425" anchor="t" anchorCtr="0">
            <a:noAutofit/>
          </a:bodyPr>
          <a:lstStyle/>
          <a:p>
            <a:pPr lvl="0">
              <a:lnSpc>
                <a:spcPct val="80000"/>
              </a:lnSpc>
            </a:pPr>
            <a:r>
              <a:rPr lang="es-MX" sz="4800" dirty="0">
                <a:solidFill>
                  <a:srgbClr val="F8F2E8"/>
                </a:solidFill>
                <a:latin typeface="Plus Jakarta Sans ExtraBold"/>
                <a:ea typeface="Plus Jakarta Sans ExtraBold"/>
                <a:cs typeface="Plus Jakarta Sans ExtraBold"/>
                <a:sym typeface="Plus Jakarta Sans ExtraBold"/>
              </a:rPr>
              <a:t>Memoria Corporativa</a:t>
            </a:r>
            <a:endParaRPr sz="4800" dirty="0">
              <a:solidFill>
                <a:srgbClr val="F8F2E8"/>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6027230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3">
          <a:extLst>
            <a:ext uri="{FF2B5EF4-FFF2-40B4-BE49-F238E27FC236}">
              <a16:creationId xmlns:a16="http://schemas.microsoft.com/office/drawing/2014/main" id="{2BF9E9DC-996E-4BA7-796A-ACB19D14AF0E}"/>
            </a:ext>
          </a:extLst>
        </p:cNvPr>
        <p:cNvGrpSpPr/>
        <p:nvPr/>
      </p:nvGrpSpPr>
      <p:grpSpPr>
        <a:xfrm>
          <a:off x="0" y="0"/>
          <a:ext cx="0" cy="0"/>
          <a:chOff x="0" y="0"/>
          <a:chExt cx="0" cy="0"/>
        </a:xfrm>
      </p:grpSpPr>
      <p:sp>
        <p:nvSpPr>
          <p:cNvPr id="124" name="Google Shape;124;p27">
            <a:extLst>
              <a:ext uri="{FF2B5EF4-FFF2-40B4-BE49-F238E27FC236}">
                <a16:creationId xmlns:a16="http://schemas.microsoft.com/office/drawing/2014/main" id="{B66EF12D-C611-26B5-9718-ADB12481C668}"/>
              </a:ext>
            </a:extLst>
          </p:cNvPr>
          <p:cNvSpPr txBox="1"/>
          <p:nvPr/>
        </p:nvSpPr>
        <p:spPr>
          <a:xfrm>
            <a:off x="602400" y="659600"/>
            <a:ext cx="4545600"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MX" sz="3500" dirty="0">
                <a:solidFill>
                  <a:srgbClr val="FF632B"/>
                </a:solidFill>
                <a:latin typeface="Plus Jakarta Sans ExtraBold"/>
                <a:ea typeface="Plus Jakarta Sans ExtraBold"/>
                <a:cs typeface="Plus Jakarta Sans ExtraBold"/>
                <a:sym typeface="Plus Jakarta Sans ExtraBold"/>
              </a:rPr>
              <a:t>Bases de Datos Vectoriales y RAG</a:t>
            </a:r>
            <a:endParaRPr sz="1100" dirty="0">
              <a:solidFill>
                <a:srgbClr val="260700"/>
              </a:solidFill>
              <a:latin typeface="Plus Jakarta Sans"/>
              <a:ea typeface="Plus Jakarta Sans"/>
              <a:cs typeface="Plus Jakarta Sans"/>
              <a:sym typeface="Plus Jakarta Sans"/>
            </a:endParaRPr>
          </a:p>
        </p:txBody>
      </p:sp>
      <p:pic>
        <p:nvPicPr>
          <p:cNvPr id="126" name="Google Shape;126;p27">
            <a:extLst>
              <a:ext uri="{FF2B5EF4-FFF2-40B4-BE49-F238E27FC236}">
                <a16:creationId xmlns:a16="http://schemas.microsoft.com/office/drawing/2014/main" id="{ACE5B701-B71A-1B17-B054-A21502E95A87}"/>
              </a:ext>
            </a:extLst>
          </p:cNvPr>
          <p:cNvPicPr preferRelativeResize="0"/>
          <p:nvPr/>
        </p:nvPicPr>
        <p:blipFill>
          <a:blip r:embed="rId3">
            <a:alphaModFix/>
          </a:blip>
          <a:stretch>
            <a:fillRect/>
          </a:stretch>
        </p:blipFill>
        <p:spPr>
          <a:xfrm>
            <a:off x="5506500" y="527051"/>
            <a:ext cx="3183900" cy="4376428"/>
          </a:xfrm>
          <a:prstGeom prst="rect">
            <a:avLst/>
          </a:prstGeom>
          <a:noFill/>
          <a:ln>
            <a:noFill/>
          </a:ln>
        </p:spPr>
      </p:pic>
      <p:sp>
        <p:nvSpPr>
          <p:cNvPr id="128" name="Google Shape;128;p27">
            <a:extLst>
              <a:ext uri="{FF2B5EF4-FFF2-40B4-BE49-F238E27FC236}">
                <a16:creationId xmlns:a16="http://schemas.microsoft.com/office/drawing/2014/main" id="{186C523D-3FFD-5BC2-FF18-28885ABB6CBD}"/>
              </a:ext>
            </a:extLst>
          </p:cNvPr>
          <p:cNvSpPr txBox="1"/>
          <p:nvPr/>
        </p:nvSpPr>
        <p:spPr>
          <a:xfrm>
            <a:off x="697450" y="2018300"/>
            <a:ext cx="4220149" cy="1908000"/>
          </a:xfrm>
          <a:prstGeom prst="rect">
            <a:avLst/>
          </a:prstGeom>
          <a:noFill/>
          <a:ln>
            <a:noFill/>
          </a:ln>
        </p:spPr>
        <p:txBody>
          <a:bodyPr spcFirstLastPara="1" wrap="square" lIns="91425" tIns="91425" rIns="91425" bIns="91425" anchor="t" anchorCtr="0">
            <a:noAutofit/>
          </a:bodyPr>
          <a:lstStyle/>
          <a:p>
            <a:pPr lvl="0"/>
            <a:r>
              <a:rPr lang="es-MX" sz="1200" dirty="0"/>
              <a:t>Las bases de datos tradicionales buscan coincidencias exactas de texto. Las </a:t>
            </a:r>
            <a:r>
              <a:rPr lang="es-MX" sz="1200" b="1" dirty="0"/>
              <a:t>Bases Vectoriales</a:t>
            </a:r>
            <a:r>
              <a:rPr lang="es-MX" sz="1200" dirty="0"/>
              <a:t> almacenan nuestros </a:t>
            </a:r>
            <a:r>
              <a:rPr lang="es-MX" sz="1200" dirty="0" err="1"/>
              <a:t>Embeddings</a:t>
            </a:r>
            <a:r>
              <a:rPr lang="es-MX" sz="1200" dirty="0"/>
              <a:t> y permiten buscar información por </a:t>
            </a:r>
            <a:r>
              <a:rPr lang="es-MX" sz="1200" i="1" dirty="0"/>
              <a:t>similitud de ideas</a:t>
            </a:r>
            <a:r>
              <a:rPr lang="es-MX" sz="1200" dirty="0"/>
              <a:t>. El sistema </a:t>
            </a:r>
            <a:r>
              <a:rPr lang="es-MX" sz="1200" b="1" dirty="0"/>
              <a:t>RAG</a:t>
            </a:r>
            <a:r>
              <a:rPr lang="es-MX" sz="1200" dirty="0"/>
              <a:t> (Generación Aumentada por Recuperación) usa esta base para buscar el protocolo médico exacto que el paciente necesita en milisegundos, y se lo inyecta a la IA en el </a:t>
            </a:r>
            <a:r>
              <a:rPr lang="es-MX" sz="1200" dirty="0" err="1"/>
              <a:t>prompt</a:t>
            </a:r>
            <a:r>
              <a:rPr lang="es-MX" sz="1200" dirty="0"/>
              <a:t> para que tome decisiones basadas en las reglas privadas del hospital, sin alucinar.</a:t>
            </a:r>
            <a:endParaRPr lang="es-MX" sz="1200" dirty="0">
              <a:solidFill>
                <a:srgbClr val="260700"/>
              </a:solidFill>
              <a:latin typeface="Plus Jakarta Sans Light"/>
              <a:ea typeface="Plus Jakarta Sans Light"/>
              <a:cs typeface="Plus Jakarta Sans Light"/>
              <a:sym typeface="Plus Jakarta Sans Light"/>
            </a:endParaRPr>
          </a:p>
        </p:txBody>
      </p:sp>
    </p:spTree>
    <p:extLst>
      <p:ext uri="{BB962C8B-B14F-4D97-AF65-F5344CB8AC3E}">
        <p14:creationId xmlns:p14="http://schemas.microsoft.com/office/powerpoint/2010/main" val="35050291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8">
          <a:extLst>
            <a:ext uri="{FF2B5EF4-FFF2-40B4-BE49-F238E27FC236}">
              <a16:creationId xmlns:a16="http://schemas.microsoft.com/office/drawing/2014/main" id="{C2D2C212-E8B5-D14A-134C-4AAFC091D33C}"/>
            </a:ext>
          </a:extLst>
        </p:cNvPr>
        <p:cNvGrpSpPr/>
        <p:nvPr/>
      </p:nvGrpSpPr>
      <p:grpSpPr>
        <a:xfrm>
          <a:off x="0" y="0"/>
          <a:ext cx="0" cy="0"/>
          <a:chOff x="0" y="0"/>
          <a:chExt cx="0" cy="0"/>
        </a:xfrm>
      </p:grpSpPr>
      <p:sp>
        <p:nvSpPr>
          <p:cNvPr id="99" name="Google Shape;99;p24">
            <a:extLst>
              <a:ext uri="{FF2B5EF4-FFF2-40B4-BE49-F238E27FC236}">
                <a16:creationId xmlns:a16="http://schemas.microsoft.com/office/drawing/2014/main" id="{8FD84831-B678-5F4A-CF6B-7565ACAB4262}"/>
              </a:ext>
            </a:extLst>
          </p:cNvPr>
          <p:cNvSpPr txBox="1"/>
          <p:nvPr/>
        </p:nvSpPr>
        <p:spPr>
          <a:xfrm>
            <a:off x="6180025" y="314075"/>
            <a:ext cx="2630700" cy="171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3000" dirty="0">
                <a:solidFill>
                  <a:srgbClr val="FF632B"/>
                </a:solidFill>
                <a:latin typeface="Plus Jakarta Sans ExtraBold"/>
                <a:ea typeface="Plus Jakarta Sans ExtraBold"/>
                <a:cs typeface="Plus Jakarta Sans ExtraBold"/>
                <a:sym typeface="Plus Jakarta Sans ExtraBold"/>
              </a:rPr>
              <a:t>07</a:t>
            </a:r>
            <a:endParaRPr sz="13000" dirty="0">
              <a:solidFill>
                <a:srgbClr val="FF632B"/>
              </a:solidFill>
              <a:latin typeface="Plus Jakarta Sans ExtraBold"/>
              <a:ea typeface="Plus Jakarta Sans ExtraBold"/>
              <a:cs typeface="Plus Jakarta Sans ExtraBold"/>
              <a:sym typeface="Plus Jakarta Sans ExtraBold"/>
            </a:endParaRPr>
          </a:p>
        </p:txBody>
      </p:sp>
      <p:sp>
        <p:nvSpPr>
          <p:cNvPr id="100" name="Google Shape;100;p24">
            <a:extLst>
              <a:ext uri="{FF2B5EF4-FFF2-40B4-BE49-F238E27FC236}">
                <a16:creationId xmlns:a16="http://schemas.microsoft.com/office/drawing/2014/main" id="{22618A1B-B46C-7F0C-CCD6-C78CE55C0999}"/>
              </a:ext>
            </a:extLst>
          </p:cNvPr>
          <p:cNvSpPr txBox="1"/>
          <p:nvPr/>
        </p:nvSpPr>
        <p:spPr>
          <a:xfrm>
            <a:off x="619900" y="2935025"/>
            <a:ext cx="6462900" cy="1719900"/>
          </a:xfrm>
          <a:prstGeom prst="rect">
            <a:avLst/>
          </a:prstGeom>
          <a:noFill/>
          <a:ln>
            <a:noFill/>
          </a:ln>
        </p:spPr>
        <p:txBody>
          <a:bodyPr spcFirstLastPara="1" wrap="square" lIns="91425" tIns="91425" rIns="91425" bIns="91425" anchor="t" anchorCtr="0">
            <a:noAutofit/>
          </a:bodyPr>
          <a:lstStyle/>
          <a:p>
            <a:pPr lvl="0">
              <a:lnSpc>
                <a:spcPct val="80000"/>
              </a:lnSpc>
            </a:pPr>
            <a:r>
              <a:rPr lang="es-MX" sz="4800" dirty="0">
                <a:solidFill>
                  <a:srgbClr val="F8F2E8"/>
                </a:solidFill>
                <a:latin typeface="Plus Jakarta Sans ExtraBold"/>
                <a:ea typeface="Plus Jakarta Sans ExtraBold"/>
                <a:cs typeface="Plus Jakarta Sans ExtraBold"/>
                <a:sym typeface="Plus Jakarta Sans ExtraBold"/>
              </a:rPr>
              <a:t>Preparando los Datos</a:t>
            </a:r>
            <a:endParaRPr sz="4800" dirty="0">
              <a:solidFill>
                <a:srgbClr val="F8F2E8"/>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27057419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8C34D7FA-3375-1499-BFE0-B1106CA73E95}"/>
            </a:ext>
          </a:extLst>
        </p:cNvPr>
        <p:cNvGrpSpPr/>
        <p:nvPr/>
      </p:nvGrpSpPr>
      <p:grpSpPr>
        <a:xfrm>
          <a:off x="0" y="0"/>
          <a:ext cx="0" cy="0"/>
          <a:chOff x="0" y="0"/>
          <a:chExt cx="0" cy="0"/>
        </a:xfrm>
      </p:grpSpPr>
      <p:sp>
        <p:nvSpPr>
          <p:cNvPr id="133" name="Google Shape;133;p28">
            <a:extLst>
              <a:ext uri="{FF2B5EF4-FFF2-40B4-BE49-F238E27FC236}">
                <a16:creationId xmlns:a16="http://schemas.microsoft.com/office/drawing/2014/main" id="{4A16E776-2065-13E3-A881-436BC914E43E}"/>
              </a:ext>
            </a:extLst>
          </p:cNvPr>
          <p:cNvSpPr txBox="1"/>
          <p:nvPr/>
        </p:nvSpPr>
        <p:spPr>
          <a:xfrm>
            <a:off x="602400" y="659600"/>
            <a:ext cx="8131200"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300" dirty="0">
                <a:solidFill>
                  <a:srgbClr val="FF632B"/>
                </a:solidFill>
                <a:latin typeface="Plus Jakarta Sans ExtraBold"/>
                <a:ea typeface="Plus Jakarta Sans ExtraBold"/>
                <a:cs typeface="Plus Jakarta Sans ExtraBold"/>
                <a:sym typeface="Plus Jakarta Sans ExtraBold"/>
              </a:rPr>
              <a:t>Chunking: </a:t>
            </a:r>
            <a:r>
              <a:rPr lang="en-US" sz="3300" dirty="0" err="1">
                <a:solidFill>
                  <a:srgbClr val="FF632B"/>
                </a:solidFill>
                <a:latin typeface="Plus Jakarta Sans ExtraBold"/>
                <a:ea typeface="Plus Jakarta Sans ExtraBold"/>
                <a:cs typeface="Plus Jakarta Sans ExtraBold"/>
                <a:sym typeface="Plus Jakarta Sans ExtraBold"/>
              </a:rPr>
              <a:t>Fragmentación</a:t>
            </a:r>
            <a:r>
              <a:rPr lang="en-US" sz="3300" dirty="0">
                <a:solidFill>
                  <a:srgbClr val="FF632B"/>
                </a:solidFill>
                <a:latin typeface="Plus Jakarta Sans ExtraBold"/>
                <a:ea typeface="Plus Jakarta Sans ExtraBold"/>
                <a:cs typeface="Plus Jakarta Sans ExtraBold"/>
                <a:sym typeface="Plus Jakarta Sans ExtraBold"/>
              </a:rPr>
              <a:t> con </a:t>
            </a:r>
            <a:r>
              <a:rPr lang="en-US" sz="3300" dirty="0" err="1">
                <a:solidFill>
                  <a:srgbClr val="FF632B"/>
                </a:solidFill>
                <a:latin typeface="Plus Jakarta Sans ExtraBold"/>
                <a:ea typeface="Plus Jakarta Sans ExtraBold"/>
                <a:cs typeface="Plus Jakarta Sans ExtraBold"/>
                <a:sym typeface="Plus Jakarta Sans ExtraBold"/>
              </a:rPr>
              <a:t>Sentido</a:t>
            </a:r>
            <a:endParaRPr sz="3300" dirty="0">
              <a:solidFill>
                <a:srgbClr val="260700"/>
              </a:solidFill>
              <a:latin typeface="Plus Jakarta Sans"/>
              <a:ea typeface="Plus Jakarta Sans"/>
              <a:cs typeface="Plus Jakarta Sans"/>
              <a:sym typeface="Plus Jakarta Sans"/>
            </a:endParaRPr>
          </a:p>
        </p:txBody>
      </p:sp>
      <p:pic>
        <p:nvPicPr>
          <p:cNvPr id="134" name="Google Shape;134;p28" title="hf_20260120_144419_6c491729-e3ab-42a0-9041-39a7db198fdf.png">
            <a:extLst>
              <a:ext uri="{FF2B5EF4-FFF2-40B4-BE49-F238E27FC236}">
                <a16:creationId xmlns:a16="http://schemas.microsoft.com/office/drawing/2014/main" id="{14023D3F-668F-7B81-83CC-07751DA8C28D}"/>
              </a:ext>
            </a:extLst>
          </p:cNvPr>
          <p:cNvPicPr preferRelativeResize="0"/>
          <p:nvPr/>
        </p:nvPicPr>
        <p:blipFill rotWithShape="1">
          <a:blip r:embed="rId3">
            <a:alphaModFix/>
          </a:blip>
          <a:srcRect t="34485" b="34482"/>
          <a:stretch/>
        </p:blipFill>
        <p:spPr>
          <a:xfrm>
            <a:off x="4781227" y="1834850"/>
            <a:ext cx="4024800" cy="2185828"/>
          </a:xfrm>
          <a:prstGeom prst="rect">
            <a:avLst/>
          </a:prstGeom>
          <a:noFill/>
          <a:ln>
            <a:noFill/>
          </a:ln>
        </p:spPr>
      </p:pic>
      <p:sp>
        <p:nvSpPr>
          <p:cNvPr id="137" name="Google Shape;137;p28">
            <a:extLst>
              <a:ext uri="{FF2B5EF4-FFF2-40B4-BE49-F238E27FC236}">
                <a16:creationId xmlns:a16="http://schemas.microsoft.com/office/drawing/2014/main" id="{AE73B354-F5F2-DC55-60A5-AD6C9ED090A8}"/>
              </a:ext>
            </a:extLst>
          </p:cNvPr>
          <p:cNvSpPr txBox="1"/>
          <p:nvPr/>
        </p:nvSpPr>
        <p:spPr>
          <a:xfrm>
            <a:off x="711475" y="1499900"/>
            <a:ext cx="3651300" cy="1908000"/>
          </a:xfrm>
          <a:prstGeom prst="rect">
            <a:avLst/>
          </a:prstGeom>
          <a:noFill/>
          <a:ln>
            <a:noFill/>
          </a:ln>
        </p:spPr>
        <p:txBody>
          <a:bodyPr spcFirstLastPara="1" wrap="square" lIns="91425" tIns="91425" rIns="91425" bIns="91425" anchor="t" anchorCtr="0">
            <a:noAutofit/>
          </a:bodyPr>
          <a:lstStyle/>
          <a:p>
            <a:r>
              <a:rPr lang="es-MX" sz="1200" dirty="0"/>
              <a:t>No podemos enviarle un PDF clínico de 500 páginas a la IA de un solo golpe. El </a:t>
            </a:r>
            <a:r>
              <a:rPr lang="es-MX" sz="1200" i="1" dirty="0" err="1"/>
              <a:t>Chunking</a:t>
            </a:r>
            <a:r>
              <a:rPr lang="es-MX" sz="1200" dirty="0"/>
              <a:t> es el arte de "picar" esos documentos masivos en pedazos más pequeños (párrafos o secciones) antes de convertirlos en </a:t>
            </a:r>
            <a:r>
              <a:rPr lang="es-MX" sz="1200" dirty="0" err="1"/>
              <a:t>Embeddings</a:t>
            </a:r>
            <a:r>
              <a:rPr lang="es-MX" sz="1200" dirty="0"/>
              <a:t>. La clave médica aquí es preservar el sentido: el corte nunca debe dividir una idea, una dosis o una tabla a la mitad, o el sistema recuperará información incompleta.</a:t>
            </a:r>
          </a:p>
        </p:txBody>
      </p:sp>
    </p:spTree>
    <p:extLst>
      <p:ext uri="{BB962C8B-B14F-4D97-AF65-F5344CB8AC3E}">
        <p14:creationId xmlns:p14="http://schemas.microsoft.com/office/powerpoint/2010/main" val="31722727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77"/>
        <p:cNvGrpSpPr/>
        <p:nvPr/>
      </p:nvGrpSpPr>
      <p:grpSpPr>
        <a:xfrm>
          <a:off x="0" y="0"/>
          <a:ext cx="0" cy="0"/>
          <a:chOff x="0" y="0"/>
          <a:chExt cx="0" cy="0"/>
        </a:xfrm>
      </p:grpSpPr>
      <p:sp>
        <p:nvSpPr>
          <p:cNvPr id="478" name="Google Shape;478;p62"/>
          <p:cNvSpPr txBox="1"/>
          <p:nvPr/>
        </p:nvSpPr>
        <p:spPr>
          <a:xfrm>
            <a:off x="571500" y="2392650"/>
            <a:ext cx="6977400" cy="1500000"/>
          </a:xfrm>
          <a:prstGeom prst="rect">
            <a:avLst/>
          </a:prstGeom>
          <a:noFill/>
          <a:ln>
            <a:noFill/>
          </a:ln>
        </p:spPr>
        <p:txBody>
          <a:bodyPr spcFirstLastPara="1" wrap="square" lIns="91425" tIns="91425" rIns="91425" bIns="91425" anchor="t" anchorCtr="0">
            <a:noAutofit/>
          </a:bodyPr>
          <a:lstStyle/>
          <a:p>
            <a:pPr marL="0" lvl="0" indent="0" algn="l" rtl="0">
              <a:lnSpc>
                <a:spcPct val="80000"/>
              </a:lnSpc>
              <a:spcBef>
                <a:spcPts val="0"/>
              </a:spcBef>
              <a:spcAft>
                <a:spcPts val="0"/>
              </a:spcAft>
              <a:buNone/>
            </a:pPr>
            <a:r>
              <a:rPr lang="es" sz="4900">
                <a:solidFill>
                  <a:srgbClr val="F8F2E8"/>
                </a:solidFill>
                <a:latin typeface="Plus Jakarta Sans ExtraBold"/>
                <a:ea typeface="Plus Jakarta Sans ExtraBold"/>
                <a:cs typeface="Plus Jakarta Sans ExtraBold"/>
                <a:sym typeface="Plus Jakarta Sans ExtraBold"/>
              </a:rPr>
              <a:t>¡Gracias por </a:t>
            </a:r>
            <a:r>
              <a:rPr lang="es" sz="4900">
                <a:solidFill>
                  <a:srgbClr val="FDAB2E"/>
                </a:solidFill>
                <a:latin typeface="Plus Jakarta Sans ExtraBold"/>
                <a:ea typeface="Plus Jakarta Sans ExtraBold"/>
                <a:cs typeface="Plus Jakarta Sans ExtraBold"/>
                <a:sym typeface="Plus Jakarta Sans ExtraBold"/>
              </a:rPr>
              <a:t>estudiar </a:t>
            </a:r>
            <a:r>
              <a:rPr lang="es" sz="4900">
                <a:solidFill>
                  <a:srgbClr val="F8F2E8"/>
                </a:solidFill>
                <a:latin typeface="Plus Jakarta Sans ExtraBold"/>
                <a:ea typeface="Plus Jakarta Sans ExtraBold"/>
                <a:cs typeface="Plus Jakarta Sans ExtraBold"/>
                <a:sym typeface="Plus Jakarta Sans ExtraBold"/>
              </a:rPr>
              <a:t>con nosotros!</a:t>
            </a:r>
            <a:endParaRPr sz="4900">
              <a:solidFill>
                <a:srgbClr val="F8F2E8"/>
              </a:solidFill>
              <a:latin typeface="Plus Jakarta Sans ExtraBold"/>
              <a:ea typeface="Plus Jakarta Sans ExtraBold"/>
              <a:cs typeface="Plus Jakarta Sans ExtraBold"/>
              <a:sym typeface="Plus Jakarta Sans ExtraBold"/>
            </a:endParaRPr>
          </a:p>
        </p:txBody>
      </p:sp>
      <p:sp>
        <p:nvSpPr>
          <p:cNvPr id="479" name="Google Shape;479;p62"/>
          <p:cNvSpPr txBox="1"/>
          <p:nvPr/>
        </p:nvSpPr>
        <p:spPr>
          <a:xfrm>
            <a:off x="571500" y="3792150"/>
            <a:ext cx="8001000" cy="906300"/>
          </a:xfrm>
          <a:prstGeom prst="rect">
            <a:avLst/>
          </a:prstGeom>
          <a:noFill/>
          <a:ln>
            <a:noFill/>
          </a:ln>
        </p:spPr>
        <p:txBody>
          <a:bodyPr spcFirstLastPara="1" wrap="square" lIns="0" tIns="0" rIns="0" bIns="0" anchor="b" anchorCtr="0">
            <a:noAutofit/>
          </a:bodyPr>
          <a:lstStyle/>
          <a:p>
            <a:pPr marL="0" lvl="0" indent="0" algn="just" rtl="0">
              <a:spcBef>
                <a:spcPts val="0"/>
              </a:spcBef>
              <a:spcAft>
                <a:spcPts val="0"/>
              </a:spcAft>
              <a:buNone/>
            </a:pPr>
            <a:r>
              <a:rPr lang="es" sz="600">
                <a:solidFill>
                  <a:srgbClr val="F8F2E8"/>
                </a:solidFill>
                <a:latin typeface="Plus Jakarta Sans"/>
                <a:ea typeface="Plus Jakarta Sans"/>
                <a:cs typeface="Plus Jakarta Sans"/>
                <a:sym typeface="Plus Jakarta Sans"/>
              </a:rPr>
              <a:t>We have provided this presentation to you for informational and illustrative purposes on a confidential basis. We reserve the right to use of non-disclosure agreements (NDAs) to protect our privacy and intellectual property rights. The information contained in this document is highly sensitive, confidential and/or proprietary and is intended for the express use of the intended recipient, as denoted on the title page of this document. The recipient of this presentation agrees by its receipt not to reproduce, duplicate, or reveal, in whole or in part, information presented herein without written permission of Coderhouse. No representation or warranty, expressed or implied, is made as to the accuracy or completeness of the information contained in this presentation. Any quote contained herein is for estimation purposes. Estimates are based on current, known requirements. Actual estimates may change once project elements are finalized or negotiated. This document may contain confidential pricing information. All pricing is subject to change. </a:t>
            </a:r>
            <a:endParaRPr sz="600">
              <a:solidFill>
                <a:srgbClr val="F8F2E8"/>
              </a:solidFill>
              <a:latin typeface="Plus Jakarta Sans"/>
              <a:ea typeface="Plus Jakarta Sans"/>
              <a:cs typeface="Plus Jakarta Sans"/>
              <a:sym typeface="Plus Jakarta Sans"/>
            </a:endParaRPr>
          </a:p>
          <a:p>
            <a:pPr marL="0" lvl="0" indent="0" algn="just" rtl="0">
              <a:spcBef>
                <a:spcPts val="0"/>
              </a:spcBef>
              <a:spcAft>
                <a:spcPts val="0"/>
              </a:spcAft>
              <a:buNone/>
            </a:pPr>
            <a:endParaRPr sz="600">
              <a:solidFill>
                <a:srgbClr val="F8F2E8"/>
              </a:solidFill>
              <a:latin typeface="Plus Jakarta Sans"/>
              <a:ea typeface="Plus Jakarta Sans"/>
              <a:cs typeface="Plus Jakarta Sans"/>
              <a:sym typeface="Plus Jakarta Sans"/>
            </a:endParaRPr>
          </a:p>
          <a:p>
            <a:pPr marL="0" lvl="0" indent="0" algn="just" rtl="0">
              <a:spcBef>
                <a:spcPts val="0"/>
              </a:spcBef>
              <a:spcAft>
                <a:spcPts val="0"/>
              </a:spcAft>
              <a:buNone/>
            </a:pPr>
            <a:r>
              <a:rPr lang="es" sz="600">
                <a:solidFill>
                  <a:srgbClr val="F8F2E8"/>
                </a:solidFill>
                <a:latin typeface="Plus Jakarta Sans"/>
                <a:ea typeface="Plus Jakarta Sans"/>
                <a:cs typeface="Plus Jakarta Sans"/>
                <a:sym typeface="Plus Jakarta Sans"/>
              </a:rPr>
              <a:t>Copyright © 2026 Coderhouse. All rights reserved. Coderhouse and the Coderhouse logo are trademarks or registered trademarks of Coderhouse. in the U.S. and/or other countries. All other trademarks are the property of their respective owners.</a:t>
            </a:r>
            <a:endParaRPr sz="600">
              <a:solidFill>
                <a:srgbClr val="F8F2E8"/>
              </a:solidFill>
              <a:latin typeface="Plus Jakarta Sans"/>
              <a:ea typeface="Plus Jakarta Sans"/>
              <a:cs typeface="Plus Jakarta Sans"/>
              <a:sym typeface="Plus Jakarta Sans"/>
            </a:endParaRPr>
          </a:p>
        </p:txBody>
      </p:sp>
      <p:pic>
        <p:nvPicPr>
          <p:cNvPr id="480" name="Google Shape;480;p62" title="Group 1321317428.png"/>
          <p:cNvPicPr preferRelativeResize="0"/>
          <p:nvPr/>
        </p:nvPicPr>
        <p:blipFill>
          <a:blip r:embed="rId3">
            <a:alphaModFix/>
          </a:blip>
          <a:stretch>
            <a:fillRect/>
          </a:stretch>
        </p:blipFill>
        <p:spPr>
          <a:xfrm>
            <a:off x="7711325" y="609525"/>
            <a:ext cx="861174" cy="857749"/>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159</TotalTime>
  <Words>858</Words>
  <Application>Microsoft Office PowerPoint</Application>
  <PresentationFormat>On-screen Show (16:9)</PresentationFormat>
  <Paragraphs>41</Paragraphs>
  <Slides>19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Plus Jakarta Sans ExtraBold</vt:lpstr>
      <vt:lpstr>Arial</vt:lpstr>
      <vt:lpstr>Plus Jakarta Sans Light</vt:lpstr>
      <vt:lpstr>Plus Jakarta Sans</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Leandro Araque</cp:lastModifiedBy>
  <cp:revision>4</cp:revision>
  <dcterms:modified xsi:type="dcterms:W3CDTF">2026-04-21T21:59:05Z</dcterms:modified>
</cp:coreProperties>
</file>