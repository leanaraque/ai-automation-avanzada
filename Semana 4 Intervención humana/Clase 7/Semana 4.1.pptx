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2"/>
  </p:notesMasterIdLst>
  <p:sldIdLst>
    <p:sldId id="292" r:id="rId2"/>
    <p:sldId id="257" r:id="rId3"/>
    <p:sldId id="271" r:id="rId4"/>
    <p:sldId id="270" r:id="rId5"/>
    <p:sldId id="297" r:id="rId6"/>
    <p:sldId id="300" r:id="rId7"/>
    <p:sldId id="301" r:id="rId8"/>
    <p:sldId id="293" r:id="rId9"/>
    <p:sldId id="295" r:id="rId10"/>
    <p:sldId id="296" r:id="rId11"/>
  </p:sldIdLst>
  <p:sldSz cx="9144000" cy="5143500" type="screen16x9"/>
  <p:notesSz cx="6858000" cy="9144000"/>
  <p:embeddedFontLst>
    <p:embeddedFont>
      <p:font typeface="Plus Jakarta Sans" panose="020B0604020202020204" charset="0"/>
      <p:regular r:id="rId13"/>
      <p:bold r:id="rId14"/>
      <p:italic r:id="rId15"/>
      <p:boldItalic r:id="rId16"/>
    </p:embeddedFont>
    <p:embeddedFont>
      <p:font typeface="Plus Jakarta Sans ExtraBold" panose="020B0604020202020204" charset="0"/>
      <p:bold r:id="rId17"/>
      <p:boldItalic r:id="rId18"/>
    </p:embeddedFont>
    <p:embeddedFont>
      <p:font typeface="Plus Jakarta Sans Light"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E5C67B0-D0AA-C597-1D28-639449A02C5C}"/>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DE2C624-492A-4C6B-471C-D7F79B648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57497EE-B2AE-79EB-C064-5D6317B0B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473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4552E5D-0252-B7D7-5258-434517035A0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1AFF759-A9E4-AEE2-C621-5E13A72C2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CD7249D-FEF8-49B0-16BF-66CE74741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20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569500" y="32596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Diseño Human-in-</a:t>
            </a:r>
            <a:r>
              <a:rPr lang="es-MX" sz="4800" dirty="0" err="1">
                <a:solidFill>
                  <a:srgbClr val="F8F2E8"/>
                </a:solidFill>
                <a:latin typeface="Plus Jakarta Sans ExtraBold"/>
                <a:ea typeface="Plus Jakarta Sans ExtraBold"/>
                <a:cs typeface="Plus Jakarta Sans ExtraBold"/>
                <a:sym typeface="Plus Jakarta Sans ExtraBold"/>
              </a:rPr>
              <a:t>the</a:t>
            </a:r>
            <a:r>
              <a:rPr lang="es-MX" sz="4800" dirty="0">
                <a:solidFill>
                  <a:srgbClr val="F8F2E8"/>
                </a:solidFill>
                <a:latin typeface="Plus Jakarta Sans ExtraBold"/>
                <a:ea typeface="Plus Jakarta Sans ExtraBold"/>
                <a:cs typeface="Plus Jakarta Sans ExtraBold"/>
                <a:sym typeface="Plus Jakarta Sans ExtraBold"/>
              </a:rPr>
              <a:t>-</a:t>
            </a:r>
            <a:r>
              <a:rPr lang="es-MX" sz="4800" dirty="0" err="1">
                <a:solidFill>
                  <a:srgbClr val="F8F2E8"/>
                </a:solidFill>
                <a:latin typeface="Plus Jakarta Sans ExtraBold"/>
                <a:ea typeface="Plus Jakarta Sans ExtraBold"/>
                <a:cs typeface="Plus Jakarta Sans ExtraBold"/>
                <a:sym typeface="Plus Jakarta Sans ExtraBold"/>
              </a:rPr>
              <a:t>Loop</a:t>
            </a:r>
            <a:r>
              <a:rPr lang="es-MX" sz="4800" dirty="0">
                <a:solidFill>
                  <a:srgbClr val="F8F2E8"/>
                </a:solidFill>
                <a:latin typeface="Plus Jakarta Sans ExtraBold"/>
                <a:ea typeface="Plus Jakarta Sans ExtraBold"/>
                <a:cs typeface="Plus Jakarta Sans ExtraBold"/>
                <a:sym typeface="Plus Jakarta Sans ExtraBold"/>
              </a:rPr>
              <a:t> (HITL)</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En la salud, la IA no debe ejecutar acciones de forma autónoma por el riesgo de errores. El modelo HITL pausa el sistema antes de decisiones críticas, exigiendo la validación de un profesional. La máquina procesa rápido, pero el humano mantiene el control y la responsabilidad legal.</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El Freno de Emergencia de la Inteligencia Artificial</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440049" y="2905375"/>
            <a:ext cx="8523951"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Mecanismos de Pausa y Reanudación</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24085" y="2874000"/>
            <a:ext cx="7815600" cy="2269500"/>
          </a:xfrm>
          <a:prstGeom prst="rect">
            <a:avLst/>
          </a:prstGeom>
          <a:noFill/>
          <a:ln>
            <a:noFill/>
          </a:ln>
        </p:spPr>
        <p:txBody>
          <a:bodyPr spcFirstLastPara="1" wrap="square" lIns="91425" tIns="91425" rIns="91425" bIns="91425" anchor="t" anchorCtr="0">
            <a:noAutofit/>
          </a:bodyPr>
          <a:lstStyle/>
          <a:p>
            <a:r>
              <a:rPr lang="es-MX" sz="1200" dirty="0"/>
              <a:t>Un sistema automatizado no puede quedarse esperando indefinidamente la respuesta de un usuario porque saturaría los servidores. Para lograr una pausa eficiente, utilizamos nodos de espera combinados con </a:t>
            </a:r>
            <a:r>
              <a:rPr lang="es-MX" sz="1200" dirty="0" err="1"/>
              <a:t>webhooks</a:t>
            </a:r>
            <a:r>
              <a:rPr lang="es-MX" sz="1200" dirty="0"/>
              <a:t> de reanudación. Cuando la IA requiere intervención humana, el flujo se congela por completo y envía una alerta externa con un enlace único. El sistema permanece dormido hasta que el profesional interactúa con la notificación, momento en el cual una llamada silenciosa a ese enlace despierta el flujo instantáneamente e inyecta la decisión tomada para continuar la operación.</a:t>
            </a: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595200" y="465200"/>
            <a:ext cx="83184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Orquestación mediante </a:t>
            </a:r>
            <a:r>
              <a:rPr lang="es-MX" sz="4800" dirty="0" err="1">
                <a:solidFill>
                  <a:srgbClr val="FF632B"/>
                </a:solidFill>
                <a:latin typeface="Plus Jakarta Sans ExtraBold"/>
                <a:ea typeface="Plus Jakarta Sans ExtraBold"/>
                <a:cs typeface="Plus Jakarta Sans ExtraBold"/>
                <a:sym typeface="Plus Jakarta Sans ExtraBold"/>
              </a:rPr>
              <a:t>Webhooks</a:t>
            </a:r>
            <a:r>
              <a:rPr lang="es-MX" sz="4800" dirty="0">
                <a:solidFill>
                  <a:srgbClr val="FF632B"/>
                </a:solidFill>
                <a:latin typeface="Plus Jakarta Sans ExtraBold"/>
                <a:ea typeface="Plus Jakarta Sans ExtraBold"/>
                <a:cs typeface="Plus Jakarta Sans ExtraBold"/>
                <a:sym typeface="Plus Jakarta Sans ExtraBold"/>
              </a:rPr>
              <a:t> y Nodos de Espera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489BBB9-DD3B-BA16-C821-5DAF4C377F7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233B890-BF32-7E93-4E97-B5AE77DDB279}"/>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C0B55F0-4559-279A-33A9-1429D126B213}"/>
              </a:ext>
            </a:extLst>
          </p:cNvPr>
          <p:cNvSpPr txBox="1"/>
          <p:nvPr/>
        </p:nvSpPr>
        <p:spPr>
          <a:xfrm>
            <a:off x="744220" y="3698615"/>
            <a:ext cx="70983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Resiliencia Operativa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9622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AAFA1AF-DB83-7D55-0115-2FF41CBC95C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B2B2E9D-D2C1-FC5A-EADE-255F8DD4FE3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Depender de un solo supervisor crea un riesgo de bloqueo si este no responde. Las políticas de espera fijan un tiempo límite estricto. Si expira, el sistema activa un </a:t>
            </a:r>
            <a:r>
              <a:rPr lang="es-MX" sz="1200" dirty="0" err="1"/>
              <a:t>fallback</a:t>
            </a:r>
            <a:r>
              <a:rPr lang="es-MX" sz="1200" dirty="0"/>
              <a:t> automático, escalando el caso a otro médico u otro canal para garantizar que la emergencia siempre sea atendida.</a:t>
            </a:r>
          </a:p>
        </p:txBody>
      </p:sp>
      <p:sp>
        <p:nvSpPr>
          <p:cNvPr id="242" name="Google Shape;242;p38">
            <a:extLst>
              <a:ext uri="{FF2B5EF4-FFF2-40B4-BE49-F238E27FC236}">
                <a16:creationId xmlns:a16="http://schemas.microsoft.com/office/drawing/2014/main" id="{E5A715D0-0569-1438-29F4-A0A9A875B494}"/>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F632B"/>
                </a:solidFill>
                <a:latin typeface="Plus Jakarta Sans ExtraBold"/>
                <a:ea typeface="Plus Jakarta Sans ExtraBold"/>
                <a:cs typeface="Plus Jakarta Sans ExtraBold"/>
                <a:sym typeface="Plus Jakarta Sans ExtraBold"/>
              </a:rPr>
              <a:t>Timeouts</a:t>
            </a:r>
            <a:r>
              <a:rPr lang="es-MX" sz="4800" dirty="0">
                <a:solidFill>
                  <a:srgbClr val="FF632B"/>
                </a:solidFill>
                <a:latin typeface="Plus Jakarta Sans ExtraBold"/>
                <a:ea typeface="Plus Jakarta Sans ExtraBold"/>
                <a:cs typeface="Plus Jakarta Sans ExtraBold"/>
                <a:sym typeface="Plus Jakarta Sans ExtraBold"/>
              </a:rPr>
              <a:t> y </a:t>
            </a:r>
            <a:r>
              <a:rPr lang="es-MX" sz="4800" dirty="0" err="1">
                <a:solidFill>
                  <a:srgbClr val="FF632B"/>
                </a:solidFill>
                <a:latin typeface="Plus Jakarta Sans ExtraBold"/>
                <a:ea typeface="Plus Jakarta Sans ExtraBold"/>
                <a:cs typeface="Plus Jakarta Sans ExtraBold"/>
                <a:sym typeface="Plus Jakarta Sans ExtraBold"/>
              </a:rPr>
              <a:t>Fallbacks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64939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chemeClr val="tx1"/>
                </a:solidFill>
                <a:latin typeface="Plus Jakarta Sans"/>
                <a:ea typeface="Plus Jakarta Sans"/>
                <a:cs typeface="Plus Jakarta Sans"/>
                <a:sym typeface="Plus Jakarta Sans"/>
              </a:rPr>
              <a:t>19:55</a:t>
            </a: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641</TotalTime>
  <Words>719</Words>
  <Application>Microsoft Office PowerPoint</Application>
  <PresentationFormat>On-screen Show (16:9)</PresentationFormat>
  <Paragraphs>31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Plus Jakarta Sans ExtraBold</vt:lpstr>
      <vt:lpstr>Plus Jakarta Sans Light</vt:lpstr>
      <vt:lpstr>Arial</vt:lpstr>
      <vt:lpstr>Plus Jakarta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5</cp:revision>
  <dcterms:modified xsi:type="dcterms:W3CDTF">2026-05-08T00:13:21Z</dcterms:modified>
</cp:coreProperties>
</file>