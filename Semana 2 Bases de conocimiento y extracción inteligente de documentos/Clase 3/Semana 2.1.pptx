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13"/>
  </p:notesMasterIdLst>
  <p:sldIdLst>
    <p:sldId id="292" r:id="rId2"/>
    <p:sldId id="257" r:id="rId3"/>
    <p:sldId id="271" r:id="rId4"/>
    <p:sldId id="270" r:id="rId5"/>
    <p:sldId id="297" r:id="rId6"/>
    <p:sldId id="298" r:id="rId7"/>
    <p:sldId id="299" r:id="rId8"/>
    <p:sldId id="293" r:id="rId9"/>
    <p:sldId id="294" r:id="rId10"/>
    <p:sldId id="295" r:id="rId11"/>
    <p:sldId id="296" r:id="rId12"/>
  </p:sldIdLst>
  <p:sldSz cx="9144000" cy="5143500" type="screen16x9"/>
  <p:notesSz cx="6858000" cy="9144000"/>
  <p:embeddedFontLst>
    <p:embeddedFont>
      <p:font typeface="Plus Jakarta Sans" panose="020B0604020202020204" charset="0"/>
      <p:regular r:id="rId14"/>
      <p:bold r:id="rId15"/>
      <p:italic r:id="rId16"/>
      <p:boldItalic r:id="rId17"/>
    </p:embeddedFont>
    <p:embeddedFont>
      <p:font typeface="Plus Jakarta Sans ExtraBold" panose="020B0604020202020204" charset="0"/>
      <p:bold r:id="rId18"/>
      <p:boldItalic r:id="rId19"/>
    </p:embeddedFont>
    <p:embeddedFont>
      <p:font typeface="Plus Jakarta Sans Light" panose="020B0604020202020204"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8" d="100"/>
          <a:sy n="128" d="100"/>
        </p:scale>
        <p:origin x="1056" y="120"/>
      </p:cViewPr>
      <p:guideLst>
        <p:guide orient="horz" pos="1620"/>
        <p:guide pos="2880"/>
      </p:guideLst>
    </p:cSldViewPr>
  </p:slideViewPr>
  <p:notesTextViewPr>
    <p:cViewPr>
      <p:scale>
        <a:sx n="3" d="2"/>
        <a:sy n="3" d="2"/>
      </p:scale>
      <p:origin x="-6" y="-1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3bb91f55cac_0_2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3bb91f55cac_0_2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b53643a157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53643a157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b53643a157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b53643a157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B963C9C3-3633-88B0-BD3D-404542B14E1F}"/>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FEFE7E9F-B9AA-F8E9-E788-F20C2CD1A7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ABB37961-763C-6CF2-99B9-9A7D108A41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64527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0EF06551-5E2B-2BB9-FF7D-D78CB71065A1}"/>
            </a:ext>
          </a:extLst>
        </p:cNvPr>
        <p:cNvGrpSpPr/>
        <p:nvPr/>
      </p:nvGrpSpPr>
      <p:grpSpPr>
        <a:xfrm>
          <a:off x="0" y="0"/>
          <a:ext cx="0" cy="0"/>
          <a:chOff x="0" y="0"/>
          <a:chExt cx="0" cy="0"/>
        </a:xfrm>
      </p:grpSpPr>
      <p:sp>
        <p:nvSpPr>
          <p:cNvPr id="96" name="Google Shape;96;g3b53643a157_0_32:notes">
            <a:extLst>
              <a:ext uri="{FF2B5EF4-FFF2-40B4-BE49-F238E27FC236}">
                <a16:creationId xmlns:a16="http://schemas.microsoft.com/office/drawing/2014/main" id="{DCF7B3FE-5083-3B4E-CC6C-1657BBB564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53643a157_0_32:notes">
            <a:extLst>
              <a:ext uri="{FF2B5EF4-FFF2-40B4-BE49-F238E27FC236}">
                <a16:creationId xmlns:a16="http://schemas.microsoft.com/office/drawing/2014/main" id="{51DC51FD-37CC-55EB-DC92-9A119F6CF3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87149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4C89965C-BDFF-ABA7-584A-B5DCCC45AEA0}"/>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7A5683A8-734D-B67A-63E8-5DA301E0CE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5B95BAB4-448E-116E-CDB6-7FA8290F4B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14781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3bb91f55cac_0_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3bb91f55cac_0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3bb91f55cac_0_3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3bb91f55cac_0_3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3b53643a157_0_3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6" name="Google Shape;476;g3b53643a157_0_3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3b53643a157_0_3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b53643a157_0_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Atardecer">
  <p:cSld name="BLANK_4">
    <p:bg>
      <p:bgPr>
        <a:solidFill>
          <a:srgbClr val="F8F2E8"/>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pic>
        <p:nvPicPr>
          <p:cNvPr id="52" name="Google Shape;52;p13" title="Group 1321318181.png"/>
          <p:cNvPicPr preferRelativeResize="0"/>
          <p:nvPr/>
        </p:nvPicPr>
        <p:blipFill>
          <a:blip r:embed="rId2">
            <a:alphaModFix/>
          </a:blip>
          <a:stretch>
            <a:fillRect/>
          </a:stretch>
        </p:blipFill>
        <p:spPr>
          <a:xfrm>
            <a:off x="0" y="2076162"/>
            <a:ext cx="9143997" cy="3067338"/>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co 1">
  <p:cSld name="BLANK_3">
    <p:bg>
      <p:bgPr>
        <a:solidFill>
          <a:schemeClr val="lt1"/>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
        <p:nvSpPr>
          <p:cNvPr id="55" name="Google Shape;55;p14"/>
          <p:cNvSpPr txBox="1"/>
          <p:nvPr/>
        </p:nvSpPr>
        <p:spPr>
          <a:xfrm>
            <a:off x="476125" y="165026"/>
            <a:ext cx="644400" cy="188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Coderhouse</a:t>
            </a:r>
            <a:endParaRPr sz="500">
              <a:solidFill>
                <a:srgbClr val="222224"/>
              </a:solidFill>
              <a:latin typeface="Plus Jakarta Sans"/>
              <a:ea typeface="Plus Jakarta Sans"/>
              <a:cs typeface="Plus Jakarta Sans"/>
              <a:sym typeface="Plus Jakarta Sans"/>
            </a:endParaRPr>
          </a:p>
        </p:txBody>
      </p:sp>
      <p:sp>
        <p:nvSpPr>
          <p:cNvPr id="56" name="Google Shape;56;p14"/>
          <p:cNvSpPr txBox="1"/>
          <p:nvPr/>
        </p:nvSpPr>
        <p:spPr>
          <a:xfrm>
            <a:off x="6923014" y="165026"/>
            <a:ext cx="1188600" cy="1884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Internal  Presentation</a:t>
            </a:r>
            <a:endParaRPr sz="500">
              <a:solidFill>
                <a:srgbClr val="222224"/>
              </a:solidFill>
              <a:latin typeface="Plus Jakarta Sans"/>
              <a:ea typeface="Plus Jakarta Sans"/>
              <a:cs typeface="Plus Jakarta Sans"/>
              <a:sym typeface="Plus Jakarta Sans"/>
            </a:endParaRPr>
          </a:p>
        </p:txBody>
      </p:sp>
      <p:sp>
        <p:nvSpPr>
          <p:cNvPr id="57" name="Google Shape;57;p14"/>
          <p:cNvSpPr txBox="1"/>
          <p:nvPr/>
        </p:nvSpPr>
        <p:spPr>
          <a:xfrm>
            <a:off x="2196557" y="165026"/>
            <a:ext cx="1242000" cy="188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2026</a:t>
            </a:r>
            <a:endParaRPr sz="500">
              <a:solidFill>
                <a:srgbClr val="222224"/>
              </a:solidFill>
              <a:latin typeface="Plus Jakarta Sans"/>
              <a:ea typeface="Plus Jakarta Sans"/>
              <a:cs typeface="Plus Jakarta Sans"/>
              <a:sym typeface="Plus Jakarta Sans"/>
            </a:endParaRPr>
          </a:p>
        </p:txBody>
      </p:sp>
      <p:sp>
        <p:nvSpPr>
          <p:cNvPr id="58" name="Google Shape;58;p14"/>
          <p:cNvSpPr txBox="1"/>
          <p:nvPr/>
        </p:nvSpPr>
        <p:spPr>
          <a:xfrm>
            <a:off x="8373525" y="90649"/>
            <a:ext cx="369600" cy="337200"/>
          </a:xfrm>
          <a:prstGeom prst="rect">
            <a:avLst/>
          </a:prstGeom>
          <a:noFill/>
          <a:ln>
            <a:noFill/>
          </a:ln>
        </p:spPr>
        <p:txBody>
          <a:bodyPr spcFirstLastPara="1" wrap="square" lIns="88475" tIns="88475" rIns="88475" bIns="88475" anchor="ctr" anchorCtr="0">
            <a:noAutofit/>
          </a:bodyPr>
          <a:lstStyle/>
          <a:p>
            <a:pPr marL="0" lvl="0" indent="0" algn="ctr" rtl="0">
              <a:lnSpc>
                <a:spcPct val="100000"/>
              </a:lnSpc>
              <a:spcBef>
                <a:spcPts val="0"/>
              </a:spcBef>
              <a:spcAft>
                <a:spcPts val="0"/>
              </a:spcAft>
              <a:buNone/>
            </a:pPr>
            <a:fld id="{00000000-1234-1234-1234-123412341234}" type="slidenum">
              <a:rPr lang="es" sz="500">
                <a:solidFill>
                  <a:srgbClr val="222224"/>
                </a:solidFill>
                <a:latin typeface="Plus Jakarta Sans"/>
                <a:ea typeface="Plus Jakarta Sans"/>
                <a:cs typeface="Plus Jakarta Sans"/>
                <a:sym typeface="Plus Jakarta Sans"/>
              </a:rPr>
              <a:t>‹#›</a:t>
            </a:fld>
            <a:endParaRPr sz="500">
              <a:solidFill>
                <a:srgbClr val="222224"/>
              </a:solidFill>
              <a:latin typeface="Plus Jakarta Sans"/>
              <a:ea typeface="Plus Jakarta Sans"/>
              <a:cs typeface="Plus Jakarta Sans"/>
              <a:sym typeface="Plus Jakarta San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egro">
  <p:cSld name="BLANK_2">
    <p:bg>
      <p:bgPr>
        <a:solidFill>
          <a:srgbClr val="171717"/>
        </a:solidFill>
        <a:effectLst/>
      </p:bgPr>
    </p:bg>
    <p:spTree>
      <p:nvGrpSpPr>
        <p:cNvPr id="1" name="Shape 77"/>
        <p:cNvGrpSpPr/>
        <p:nvPr/>
      </p:nvGrpSpPr>
      <p:grpSpPr>
        <a:xfrm>
          <a:off x="0" y="0"/>
          <a:ext cx="0" cy="0"/>
          <a:chOff x="0" y="0"/>
          <a:chExt cx="0" cy="0"/>
        </a:xfrm>
      </p:grpSpPr>
      <p:sp>
        <p:nvSpPr>
          <p:cNvPr id="78" name="Google Shape;78;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Marrón">
  <p:cSld name="BLANK_2_1">
    <p:bg>
      <p:bgPr>
        <a:solidFill>
          <a:srgbClr val="260700"/>
        </a:solidFill>
        <a:effectLst/>
      </p:bgPr>
    </p:bg>
    <p:spTree>
      <p:nvGrpSpPr>
        <p:cNvPr id="1" name="Shape 79"/>
        <p:cNvGrpSpPr/>
        <p:nvPr/>
      </p:nvGrpSpPr>
      <p:grpSpPr>
        <a:xfrm>
          <a:off x="0" y="0"/>
          <a:ext cx="0" cy="0"/>
          <a:chOff x="0" y="0"/>
          <a:chExt cx="0" cy="0"/>
        </a:xfrm>
      </p:grpSpPr>
      <p:sp>
        <p:nvSpPr>
          <p:cNvPr id="80" name="Google Shape;80;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Naranja">
  <p:cSld name="BLANK_2_1_1">
    <p:bg>
      <p:bgPr>
        <a:solidFill>
          <a:srgbClr val="FF632B"/>
        </a:solidFill>
        <a:effectLst/>
      </p:bgPr>
    </p:bg>
    <p:spTree>
      <p:nvGrpSpPr>
        <p:cNvPr id="1" name="Shape 81"/>
        <p:cNvGrpSpPr/>
        <p:nvPr/>
      </p:nvGrpSpPr>
      <p:grpSpPr>
        <a:xfrm>
          <a:off x="0" y="0"/>
          <a:ext cx="0" cy="0"/>
          <a:chOff x="0" y="0"/>
          <a:chExt cx="0" cy="0"/>
        </a:xfrm>
      </p:grpSpPr>
      <p:sp>
        <p:nvSpPr>
          <p:cNvPr id="82" name="Google Shape;82;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Rosa">
  <p:cSld name="BLANK_2_1_1_1">
    <p:bg>
      <p:bgPr>
        <a:solidFill>
          <a:srgbClr val="FE64A3"/>
        </a:solidFill>
        <a:effectLst/>
      </p:bgPr>
    </p:bg>
    <p:spTree>
      <p:nvGrpSpPr>
        <p:cNvPr id="1" name="Shape 83"/>
        <p:cNvGrpSpPr/>
        <p:nvPr/>
      </p:nvGrpSpPr>
      <p:grpSpPr>
        <a:xfrm>
          <a:off x="0" y="0"/>
          <a:ext cx="0" cy="0"/>
          <a:chOff x="0" y="0"/>
          <a:chExt cx="0" cy="0"/>
        </a:xfrm>
      </p:grpSpPr>
      <p:sp>
        <p:nvSpPr>
          <p:cNvPr id="84" name="Google Shape;84;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9" r:id="rId11"/>
    <p:sldLayoutId id="2147483660" r:id="rId12"/>
    <p:sldLayoutId id="2147483664" r:id="rId13"/>
    <p:sldLayoutId id="2147483665" r:id="rId14"/>
    <p:sldLayoutId id="2147483666" r:id="rId15"/>
    <p:sldLayoutId id="2147483667"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59"/>
          <p:cNvSpPr txBox="1"/>
          <p:nvPr/>
        </p:nvSpPr>
        <p:spPr>
          <a:xfrm>
            <a:off x="652525" y="1336525"/>
            <a:ext cx="3873300" cy="171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4800">
                <a:solidFill>
                  <a:srgbClr val="F8F2E8"/>
                </a:solidFill>
                <a:latin typeface="Plus Jakarta Sans ExtraBold"/>
                <a:ea typeface="Plus Jakarta Sans ExtraBold"/>
                <a:cs typeface="Plus Jakarta Sans ExtraBold"/>
                <a:sym typeface="Plus Jakarta Sans ExtraBold"/>
              </a:rPr>
              <a:t>¡Esta clase va a ser     grabada!	</a:t>
            </a:r>
            <a:endParaRPr sz="4800">
              <a:solidFill>
                <a:srgbClr val="F8F2E8"/>
              </a:solidFill>
              <a:latin typeface="Plus Jakarta Sans ExtraBold"/>
              <a:ea typeface="Plus Jakarta Sans ExtraBold"/>
              <a:cs typeface="Plus Jakarta Sans ExtraBold"/>
              <a:sym typeface="Plus Jakarta Sans ExtraBold"/>
            </a:endParaRPr>
          </a:p>
        </p:txBody>
      </p:sp>
      <p:sp>
        <p:nvSpPr>
          <p:cNvPr id="461" name="Google Shape;461;p59"/>
          <p:cNvSpPr/>
          <p:nvPr/>
        </p:nvSpPr>
        <p:spPr>
          <a:xfrm>
            <a:off x="3601525" y="3168750"/>
            <a:ext cx="228300" cy="228300"/>
          </a:xfrm>
          <a:prstGeom prst="ellipse">
            <a:avLst/>
          </a:prstGeom>
          <a:solidFill>
            <a:srgbClr val="FDAB2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4"/>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F632B"/>
                </a:solidFill>
                <a:latin typeface="Plus Jakarta Sans ExtraBold"/>
                <a:ea typeface="Plus Jakarta Sans ExtraBold"/>
                <a:cs typeface="Plus Jakarta Sans ExtraBold"/>
                <a:sym typeface="Plus Jakarta Sans ExtraBold"/>
              </a:rPr>
              <a:t>01</a:t>
            </a:r>
            <a:endParaRPr sz="13000" dirty="0">
              <a:solidFill>
                <a:srgbClr val="FF632B"/>
              </a:solidFill>
              <a:latin typeface="Plus Jakarta Sans ExtraBold"/>
              <a:ea typeface="Plus Jakarta Sans ExtraBold"/>
              <a:cs typeface="Plus Jakarta Sans ExtraBold"/>
              <a:sym typeface="Plus Jakarta Sans ExtraBold"/>
            </a:endParaRPr>
          </a:p>
        </p:txBody>
      </p:sp>
      <p:sp>
        <p:nvSpPr>
          <p:cNvPr id="100" name="Google Shape;100;p24"/>
          <p:cNvSpPr txBox="1"/>
          <p:nvPr/>
        </p:nvSpPr>
        <p:spPr>
          <a:xfrm>
            <a:off x="619900" y="2755622"/>
            <a:ext cx="6462900" cy="984903"/>
          </a:xfrm>
          <a:prstGeom prst="rect">
            <a:avLst/>
          </a:prstGeom>
          <a:noFill/>
          <a:ln>
            <a:noFill/>
          </a:ln>
        </p:spPr>
        <p:txBody>
          <a:bodyPr spcFirstLastPara="1" wrap="square" lIns="91425" tIns="91425" rIns="91425" bIns="91425" anchor="t" anchorCtr="0">
            <a:noAutofit/>
          </a:bodyPr>
          <a:lstStyle/>
          <a:p>
            <a:pPr marL="0" lvl="0" indent="0" algn="l" rtl="0">
              <a:lnSpc>
                <a:spcPct val="80000"/>
              </a:lnSpc>
              <a:spcBef>
                <a:spcPts val="0"/>
              </a:spcBef>
              <a:spcAft>
                <a:spcPts val="0"/>
              </a:spcAft>
              <a:buNone/>
            </a:pPr>
            <a:r>
              <a:rPr lang="es-MX" sz="4800" dirty="0">
                <a:solidFill>
                  <a:srgbClr val="F8F2E8"/>
                </a:solidFill>
                <a:latin typeface="Plus Jakarta Sans ExtraBold"/>
                <a:ea typeface="Plus Jakarta Sans ExtraBold"/>
                <a:cs typeface="Plus Jakarta Sans ExtraBold"/>
                <a:sym typeface="Plus Jakarta Sans ExtraBold"/>
              </a:rPr>
              <a:t>Transformando Texto en Matemáticas</a:t>
            </a:r>
            <a:endParaRPr sz="4800" dirty="0">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lvl="0">
              <a:lnSpc>
                <a:spcPct val="115000"/>
              </a:lnSpc>
            </a:pPr>
            <a:r>
              <a:rPr lang="es-MX" sz="1200" dirty="0"/>
              <a:t>Un "</a:t>
            </a:r>
            <a:r>
              <a:rPr lang="es-MX" sz="1200" dirty="0" err="1"/>
              <a:t>Embedding</a:t>
            </a:r>
            <a:r>
              <a:rPr lang="es-MX" sz="1200" dirty="0"/>
              <a:t>" es el proceso de convertir palabras o textos completos en largas listas de números (coordenadas matemáticas). La magia de esto es que agrupa conceptos por su </a:t>
            </a:r>
            <a:r>
              <a:rPr lang="es-MX" sz="1200" i="1" dirty="0"/>
              <a:t>significado</a:t>
            </a:r>
            <a:r>
              <a:rPr lang="es-MX" sz="1200" dirty="0"/>
              <a:t>. </a:t>
            </a:r>
          </a:p>
          <a:p>
            <a:pPr lvl="0">
              <a:lnSpc>
                <a:spcPct val="115000"/>
              </a:lnSpc>
            </a:pPr>
            <a:endParaRPr lang="es-MX" sz="1200" dirty="0"/>
          </a:p>
          <a:p>
            <a:pPr lvl="0">
              <a:lnSpc>
                <a:spcPct val="115000"/>
              </a:lnSpc>
            </a:pPr>
            <a:r>
              <a:rPr lang="es-MX" sz="1200" dirty="0"/>
              <a:t>En este espacio matemático, "dolor de cabeza" y "migraña" están muy cerca, aunque no compartan las mismas letras. Esto permite que la IA entienda el contexto real de las palabras.</a:t>
            </a:r>
            <a:endParaRPr sz="1200" dirty="0">
              <a:solidFill>
                <a:srgbClr val="171717"/>
              </a:solidFill>
              <a:latin typeface="Plus Jakarta Sans Light"/>
              <a:ea typeface="Plus Jakarta Sans Light"/>
              <a:cs typeface="Plus Jakarta Sans Light"/>
              <a:sym typeface="Plus Jakarta Sans Light"/>
            </a:endParaRPr>
          </a:p>
        </p:txBody>
      </p:sp>
      <p:sp>
        <p:nvSpPr>
          <p:cNvPr id="242" name="Google Shape;242;p38"/>
          <p:cNvSpPr txBox="1"/>
          <p:nvPr/>
        </p:nvSpPr>
        <p:spPr>
          <a:xfrm>
            <a:off x="602400" y="659600"/>
            <a:ext cx="64629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err="1">
                <a:solidFill>
                  <a:srgbClr val="FF632B"/>
                </a:solidFill>
                <a:latin typeface="Plus Jakarta Sans ExtraBold"/>
                <a:ea typeface="Plus Jakarta Sans ExtraBold"/>
                <a:cs typeface="Plus Jakarta Sans ExtraBold"/>
                <a:sym typeface="Plus Jakarta Sans ExtraBold"/>
              </a:rPr>
              <a:t>Embeddings</a:t>
            </a:r>
            <a:r>
              <a:rPr lang="es-MX" sz="4800" dirty="0">
                <a:solidFill>
                  <a:srgbClr val="FF632B"/>
                </a:solidFill>
                <a:latin typeface="Plus Jakarta Sans ExtraBold"/>
                <a:ea typeface="Plus Jakarta Sans ExtraBold"/>
                <a:cs typeface="Plus Jakarta Sans ExtraBold"/>
                <a:sym typeface="Plus Jakarta Sans ExtraBold"/>
              </a:rPr>
              <a:t>: El Mapa Semántico</a:t>
            </a:r>
            <a:endParaRPr sz="4800" dirty="0">
              <a:solidFill>
                <a:srgbClr val="FF632B"/>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7"/>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DAB2E"/>
                </a:solidFill>
                <a:latin typeface="Plus Jakarta Sans ExtraBold"/>
                <a:ea typeface="Plus Jakarta Sans ExtraBold"/>
                <a:cs typeface="Plus Jakarta Sans ExtraBold"/>
                <a:sym typeface="Plus Jakarta Sans ExtraBold"/>
              </a:rPr>
              <a:t>02</a:t>
            </a:r>
            <a:endParaRPr sz="13000" dirty="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p:cNvSpPr txBox="1"/>
          <p:nvPr/>
        </p:nvSpPr>
        <p:spPr>
          <a:xfrm>
            <a:off x="641650" y="3337375"/>
            <a:ext cx="64629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8F2E8"/>
                </a:solidFill>
                <a:latin typeface="Plus Jakarta Sans ExtraBold"/>
                <a:ea typeface="Plus Jakarta Sans ExtraBold"/>
                <a:cs typeface="Plus Jakarta Sans ExtraBold"/>
                <a:sym typeface="Plus Jakarta Sans ExtraBold"/>
              </a:rPr>
              <a:t>Memoria Corporativa</a:t>
            </a:r>
            <a:endParaRPr sz="4800" dirty="0">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0A7E972E-CC67-FD11-E217-D6664720EF1F}"/>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F62405F9-5D7D-3918-B599-58CF6AC9BACE}"/>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lvl="0">
              <a:lnSpc>
                <a:spcPct val="115000"/>
              </a:lnSpc>
            </a:pPr>
            <a:r>
              <a:rPr lang="es-MX" sz="1200" dirty="0"/>
              <a:t>Las bases de datos tradicionales buscan coincidencias exactas de texto. </a:t>
            </a:r>
          </a:p>
          <a:p>
            <a:pPr lvl="0">
              <a:lnSpc>
                <a:spcPct val="115000"/>
              </a:lnSpc>
            </a:pPr>
            <a:endParaRPr lang="es-MX" sz="1200" dirty="0"/>
          </a:p>
          <a:p>
            <a:pPr lvl="0">
              <a:lnSpc>
                <a:spcPct val="115000"/>
              </a:lnSpc>
            </a:pPr>
            <a:r>
              <a:rPr lang="es-MX" sz="1200" dirty="0"/>
              <a:t>Las </a:t>
            </a:r>
            <a:r>
              <a:rPr lang="es-MX" sz="1200" b="1" dirty="0"/>
              <a:t>Bases Vectoriales</a:t>
            </a:r>
            <a:r>
              <a:rPr lang="es-MX" sz="1200" dirty="0"/>
              <a:t> almacenan nuestros </a:t>
            </a:r>
            <a:r>
              <a:rPr lang="es-MX" sz="1200" dirty="0" err="1"/>
              <a:t>Embeddings</a:t>
            </a:r>
            <a:r>
              <a:rPr lang="es-MX" sz="1200" dirty="0"/>
              <a:t> y permiten buscar información por </a:t>
            </a:r>
            <a:r>
              <a:rPr lang="es-MX" sz="1200" i="1" dirty="0"/>
              <a:t>similitud de ideas</a:t>
            </a:r>
            <a:r>
              <a:rPr lang="es-MX" sz="1200" dirty="0"/>
              <a:t>. </a:t>
            </a:r>
          </a:p>
          <a:p>
            <a:pPr lvl="0">
              <a:lnSpc>
                <a:spcPct val="115000"/>
              </a:lnSpc>
            </a:pPr>
            <a:endParaRPr lang="es-MX" sz="1200" dirty="0"/>
          </a:p>
          <a:p>
            <a:pPr lvl="0">
              <a:lnSpc>
                <a:spcPct val="115000"/>
              </a:lnSpc>
            </a:pPr>
            <a:r>
              <a:rPr lang="es-MX" sz="1200" dirty="0"/>
              <a:t>El sistema </a:t>
            </a:r>
            <a:r>
              <a:rPr lang="es-MX" sz="1200" b="1" dirty="0"/>
              <a:t>RAG</a:t>
            </a:r>
            <a:r>
              <a:rPr lang="es-MX" sz="1200" dirty="0"/>
              <a:t> (Generación Aumentada por Recuperación) usa esta base para buscar el protocolo médico exacto que el paciente necesita en milisegundos, y se lo inyecta a la IA en el </a:t>
            </a:r>
            <a:r>
              <a:rPr lang="es-MX" sz="1200" dirty="0" err="1"/>
              <a:t>prompt</a:t>
            </a:r>
            <a:r>
              <a:rPr lang="es-MX" sz="1200" dirty="0"/>
              <a:t> para que tome decisiones basadas en las reglas privadas del hospital, sin alucinar.</a:t>
            </a:r>
            <a:endParaRPr sz="1200" dirty="0">
              <a:solidFill>
                <a:srgbClr val="171717"/>
              </a:solidFill>
              <a:latin typeface="Plus Jakarta Sans Light"/>
              <a:ea typeface="Plus Jakarta Sans Light"/>
              <a:cs typeface="Plus Jakarta Sans Light"/>
              <a:sym typeface="Plus Jakarta Sans Light"/>
            </a:endParaRPr>
          </a:p>
        </p:txBody>
      </p:sp>
      <p:sp>
        <p:nvSpPr>
          <p:cNvPr id="242" name="Google Shape;242;p38">
            <a:extLst>
              <a:ext uri="{FF2B5EF4-FFF2-40B4-BE49-F238E27FC236}">
                <a16:creationId xmlns:a16="http://schemas.microsoft.com/office/drawing/2014/main" id="{1345C527-D9F3-54BB-92E0-DD6A4347AD8E}"/>
              </a:ext>
            </a:extLst>
          </p:cNvPr>
          <p:cNvSpPr txBox="1"/>
          <p:nvPr/>
        </p:nvSpPr>
        <p:spPr>
          <a:xfrm>
            <a:off x="602400" y="659600"/>
            <a:ext cx="64629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Bases de Datos Vectoriales y RAG</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3757744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8DA8D200-E4E2-EA0A-E2F0-8955A0DB6329}"/>
            </a:ext>
          </a:extLst>
        </p:cNvPr>
        <p:cNvGrpSpPr/>
        <p:nvPr/>
      </p:nvGrpSpPr>
      <p:grpSpPr>
        <a:xfrm>
          <a:off x="0" y="0"/>
          <a:ext cx="0" cy="0"/>
          <a:chOff x="0" y="0"/>
          <a:chExt cx="0" cy="0"/>
        </a:xfrm>
      </p:grpSpPr>
      <p:sp>
        <p:nvSpPr>
          <p:cNvPr id="99" name="Google Shape;99;p24">
            <a:extLst>
              <a:ext uri="{FF2B5EF4-FFF2-40B4-BE49-F238E27FC236}">
                <a16:creationId xmlns:a16="http://schemas.microsoft.com/office/drawing/2014/main" id="{3C3B43BB-80C2-D5EB-3546-0B4FED19A3B1}"/>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F632B"/>
                </a:solidFill>
                <a:latin typeface="Plus Jakarta Sans ExtraBold"/>
                <a:ea typeface="Plus Jakarta Sans ExtraBold"/>
                <a:cs typeface="Plus Jakarta Sans ExtraBold"/>
                <a:sym typeface="Plus Jakarta Sans ExtraBold"/>
              </a:rPr>
              <a:t>03</a:t>
            </a:r>
            <a:endParaRPr sz="13000" dirty="0">
              <a:solidFill>
                <a:srgbClr val="FF632B"/>
              </a:solidFill>
              <a:latin typeface="Plus Jakarta Sans ExtraBold"/>
              <a:ea typeface="Plus Jakarta Sans ExtraBold"/>
              <a:cs typeface="Plus Jakarta Sans ExtraBold"/>
              <a:sym typeface="Plus Jakarta Sans ExtraBold"/>
            </a:endParaRPr>
          </a:p>
        </p:txBody>
      </p:sp>
      <p:sp>
        <p:nvSpPr>
          <p:cNvPr id="100" name="Google Shape;100;p24">
            <a:extLst>
              <a:ext uri="{FF2B5EF4-FFF2-40B4-BE49-F238E27FC236}">
                <a16:creationId xmlns:a16="http://schemas.microsoft.com/office/drawing/2014/main" id="{64D06453-17D3-4CAE-E981-61AC3F5CA1B6}"/>
              </a:ext>
            </a:extLst>
          </p:cNvPr>
          <p:cNvSpPr txBox="1"/>
          <p:nvPr/>
        </p:nvSpPr>
        <p:spPr>
          <a:xfrm>
            <a:off x="627395" y="3392704"/>
            <a:ext cx="6462900" cy="984903"/>
          </a:xfrm>
          <a:prstGeom prst="rect">
            <a:avLst/>
          </a:prstGeom>
          <a:noFill/>
          <a:ln>
            <a:noFill/>
          </a:ln>
        </p:spPr>
        <p:txBody>
          <a:bodyPr spcFirstLastPara="1" wrap="square" lIns="91425" tIns="91425" rIns="91425" bIns="91425" anchor="t" anchorCtr="0">
            <a:noAutofit/>
          </a:bodyPr>
          <a:lstStyle/>
          <a:p>
            <a:pPr lvl="0">
              <a:lnSpc>
                <a:spcPct val="80000"/>
              </a:lnSpc>
            </a:pPr>
            <a:r>
              <a:rPr lang="es-MX" sz="4800" dirty="0">
                <a:solidFill>
                  <a:srgbClr val="F8F2E8"/>
                </a:solidFill>
                <a:latin typeface="Plus Jakarta Sans ExtraBold"/>
                <a:ea typeface="Plus Jakarta Sans ExtraBold"/>
                <a:cs typeface="Plus Jakarta Sans ExtraBold"/>
                <a:sym typeface="Plus Jakarta Sans ExtraBold"/>
              </a:rPr>
              <a:t>Preparando los Datos</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337395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37450383-9133-6E41-59BB-82776884A106}"/>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BCB92466-068F-C64A-8F82-EE87FF78E1CA}"/>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lvl="0">
              <a:lnSpc>
                <a:spcPct val="115000"/>
              </a:lnSpc>
            </a:pPr>
            <a:r>
              <a:rPr lang="es-MX" sz="1200" dirty="0"/>
              <a:t>No podemos enviarle un PDF clínico de 500 páginas a la IA de un solo golpe. </a:t>
            </a:r>
          </a:p>
          <a:p>
            <a:pPr lvl="0">
              <a:lnSpc>
                <a:spcPct val="115000"/>
              </a:lnSpc>
            </a:pPr>
            <a:endParaRPr lang="es-MX" sz="1200" dirty="0"/>
          </a:p>
          <a:p>
            <a:pPr lvl="0">
              <a:lnSpc>
                <a:spcPct val="115000"/>
              </a:lnSpc>
            </a:pPr>
            <a:r>
              <a:rPr lang="es-MX" sz="1200" dirty="0"/>
              <a:t>El </a:t>
            </a:r>
            <a:r>
              <a:rPr lang="es-MX" sz="1200" i="1" dirty="0" err="1"/>
              <a:t>Chunking</a:t>
            </a:r>
            <a:r>
              <a:rPr lang="es-MX" sz="1200" dirty="0"/>
              <a:t> es el arte de "picar" esos documentos masivos en pedazos más pequeños (párrafos o secciones) antes de convertirlos en </a:t>
            </a:r>
            <a:r>
              <a:rPr lang="es-MX" sz="1200" dirty="0" err="1"/>
              <a:t>Embeddings</a:t>
            </a:r>
            <a:r>
              <a:rPr lang="es-MX" sz="1200" dirty="0"/>
              <a:t>. </a:t>
            </a:r>
          </a:p>
          <a:p>
            <a:pPr lvl="0">
              <a:lnSpc>
                <a:spcPct val="115000"/>
              </a:lnSpc>
            </a:pPr>
            <a:endParaRPr lang="es-MX" sz="1200" dirty="0"/>
          </a:p>
          <a:p>
            <a:pPr lvl="0">
              <a:lnSpc>
                <a:spcPct val="115000"/>
              </a:lnSpc>
            </a:pPr>
            <a:r>
              <a:rPr lang="es-MX" sz="1200" dirty="0"/>
              <a:t>La clave médica aquí es preservar el sentido: el corte nunca debe dividir una idea, una dosis o una tabla a la mitad, o el sistema recuperará información incompleta.</a:t>
            </a:r>
            <a:endParaRPr sz="1200" dirty="0">
              <a:solidFill>
                <a:srgbClr val="171717"/>
              </a:solidFill>
              <a:latin typeface="Plus Jakarta Sans Light"/>
              <a:ea typeface="Plus Jakarta Sans Light"/>
              <a:cs typeface="Plus Jakarta Sans Light"/>
              <a:sym typeface="Plus Jakarta Sans Light"/>
            </a:endParaRPr>
          </a:p>
        </p:txBody>
      </p:sp>
      <p:sp>
        <p:nvSpPr>
          <p:cNvPr id="242" name="Google Shape;242;p38">
            <a:extLst>
              <a:ext uri="{FF2B5EF4-FFF2-40B4-BE49-F238E27FC236}">
                <a16:creationId xmlns:a16="http://schemas.microsoft.com/office/drawing/2014/main" id="{E49181C3-6FF3-7A41-CBC9-7589566B4B76}"/>
              </a:ext>
            </a:extLst>
          </p:cNvPr>
          <p:cNvSpPr txBox="1"/>
          <p:nvPr/>
        </p:nvSpPr>
        <p:spPr>
          <a:xfrm>
            <a:off x="602399" y="659600"/>
            <a:ext cx="7897023"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err="1">
                <a:solidFill>
                  <a:srgbClr val="FF632B"/>
                </a:solidFill>
                <a:latin typeface="Plus Jakarta Sans ExtraBold"/>
                <a:ea typeface="Plus Jakarta Sans ExtraBold"/>
                <a:cs typeface="Plus Jakarta Sans ExtraBold"/>
                <a:sym typeface="Plus Jakarta Sans ExtraBold"/>
              </a:rPr>
              <a:t>Chunking</a:t>
            </a:r>
            <a:r>
              <a:rPr lang="es-MX" sz="4800" dirty="0">
                <a:solidFill>
                  <a:srgbClr val="FF632B"/>
                </a:solidFill>
                <a:latin typeface="Plus Jakarta Sans ExtraBold"/>
                <a:ea typeface="Plus Jakarta Sans ExtraBold"/>
                <a:cs typeface="Plus Jakarta Sans ExtraBold"/>
                <a:sym typeface="Plus Jakarta Sans ExtraBold"/>
              </a:rPr>
              <a:t>: Fragmentación con Sentido</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3980628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60"/>
          <p:cNvSpPr txBox="1"/>
          <p:nvPr/>
        </p:nvSpPr>
        <p:spPr>
          <a:xfrm>
            <a:off x="666925" y="354461"/>
            <a:ext cx="6254700" cy="244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6000" dirty="0">
                <a:solidFill>
                  <a:srgbClr val="F8F2E8"/>
                </a:solidFill>
                <a:latin typeface="Plus Jakarta Sans ExtraBold"/>
                <a:ea typeface="Plus Jakarta Sans ExtraBold"/>
                <a:cs typeface="Plus Jakarta Sans ExtraBold"/>
                <a:sym typeface="Plus Jakarta Sans ExtraBold"/>
              </a:rPr>
              <a:t>Break,</a:t>
            </a:r>
            <a:endParaRPr sz="6000" dirty="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endParaRPr sz="2800" dirty="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r>
              <a:rPr lang="es" sz="2400" dirty="0">
                <a:solidFill>
                  <a:srgbClr val="F8F2E8"/>
                </a:solidFill>
                <a:latin typeface="Plus Jakarta Sans"/>
                <a:ea typeface="Plus Jakarta Sans"/>
                <a:cs typeface="Plus Jakarta Sans"/>
                <a:sym typeface="Plus Jakarta Sans"/>
              </a:rPr>
              <a:t>andá por un cafecito</a:t>
            </a:r>
            <a:endParaRPr sz="2400" dirty="0">
              <a:solidFill>
                <a:srgbClr val="F8F2E8"/>
              </a:solidFill>
              <a:latin typeface="Plus Jakarta Sans"/>
              <a:ea typeface="Plus Jakarta Sans"/>
              <a:cs typeface="Plus Jakarta Sans"/>
              <a:sym typeface="Plus Jakarta Sans"/>
            </a:endParaRPr>
          </a:p>
          <a:p>
            <a:pPr marL="0" lvl="0" indent="0" algn="l" rtl="0">
              <a:spcBef>
                <a:spcPts val="0"/>
              </a:spcBef>
              <a:spcAft>
                <a:spcPts val="0"/>
              </a:spcAft>
              <a:buNone/>
            </a:pPr>
            <a:r>
              <a:rPr lang="es" sz="2400" dirty="0">
                <a:solidFill>
                  <a:srgbClr val="F8F2E8"/>
                </a:solidFill>
                <a:latin typeface="Plus Jakarta Sans"/>
                <a:ea typeface="Plus Jakarta Sans"/>
                <a:cs typeface="Plus Jakarta Sans"/>
                <a:sym typeface="Plus Jakarta Sans"/>
              </a:rPr>
              <a:t>o mate, ¡y volvemos!</a:t>
            </a:r>
          </a:p>
          <a:p>
            <a:pPr marL="0" lvl="0" indent="0" algn="l" rtl="0">
              <a:spcBef>
                <a:spcPts val="0"/>
              </a:spcBef>
              <a:spcAft>
                <a:spcPts val="0"/>
              </a:spcAft>
              <a:buNone/>
            </a:pPr>
            <a:endParaRPr lang="es" sz="2400" dirty="0">
              <a:solidFill>
                <a:srgbClr val="F8F2E8"/>
              </a:solidFill>
              <a:latin typeface="Plus Jakarta Sans"/>
              <a:ea typeface="Plus Jakarta Sans"/>
              <a:cs typeface="Plus Jakarta Sans"/>
              <a:sym typeface="Plus Jakarta Sans"/>
            </a:endParaRPr>
          </a:p>
          <a:p>
            <a:pPr marL="0" lvl="0" indent="0" algn="l" rtl="0">
              <a:spcBef>
                <a:spcPts val="0"/>
              </a:spcBef>
              <a:spcAft>
                <a:spcPts val="0"/>
              </a:spcAft>
              <a:buNone/>
            </a:pPr>
            <a:r>
              <a:rPr lang="es" sz="2400" dirty="0">
                <a:solidFill>
                  <a:srgbClr val="F8F2E8"/>
                </a:solidFill>
                <a:latin typeface="Plus Jakarta Sans"/>
                <a:ea typeface="Plus Jakarta Sans"/>
                <a:cs typeface="Plus Jakarta Sans"/>
                <a:sym typeface="Plus Jakarta Sans"/>
              </a:rPr>
              <a:t>15 Minutos</a:t>
            </a:r>
          </a:p>
          <a:p>
            <a:pPr marL="0" lvl="0" indent="0" algn="l" rtl="0">
              <a:spcBef>
                <a:spcPts val="0"/>
              </a:spcBef>
              <a:spcAft>
                <a:spcPts val="0"/>
              </a:spcAft>
              <a:buNone/>
            </a:pPr>
            <a:endParaRPr lang="es" sz="2400" dirty="0">
              <a:solidFill>
                <a:srgbClr val="F8F2E8"/>
              </a:solidFill>
              <a:latin typeface="Plus Jakarta Sans"/>
              <a:ea typeface="Plus Jakarta Sans"/>
              <a:cs typeface="Plus Jakarta Sans"/>
              <a:sym typeface="Plus Jakarta Sans"/>
            </a:endParaRPr>
          </a:p>
          <a:p>
            <a:pPr marL="0" lvl="0" indent="0" algn="l" rtl="0">
              <a:spcBef>
                <a:spcPts val="0"/>
              </a:spcBef>
              <a:spcAft>
                <a:spcPts val="0"/>
              </a:spcAft>
              <a:buNone/>
            </a:pPr>
            <a:r>
              <a:rPr lang="es" sz="2400">
                <a:solidFill>
                  <a:schemeClr val="tx1"/>
                </a:solidFill>
                <a:latin typeface="Plus Jakarta Sans"/>
                <a:ea typeface="Plus Jakarta Sans"/>
                <a:cs typeface="Plus Jakarta Sans"/>
                <a:sym typeface="Plus Jakarta Sans"/>
              </a:rPr>
              <a:t>20:00</a:t>
            </a:r>
            <a:endParaRPr lang="es" sz="2400" dirty="0">
              <a:solidFill>
                <a:schemeClr val="tx1"/>
              </a:solidFill>
              <a:latin typeface="Plus Jakarta Sans"/>
              <a:ea typeface="Plus Jakarta Sans"/>
              <a:cs typeface="Plus Jakarta Sans"/>
              <a:sym typeface="Plus Jakarta Sans"/>
            </a:endParaRPr>
          </a:p>
          <a:p>
            <a:pPr marL="0" lvl="0" indent="0" algn="l" rtl="0">
              <a:spcBef>
                <a:spcPts val="0"/>
              </a:spcBef>
              <a:spcAft>
                <a:spcPts val="0"/>
              </a:spcAft>
              <a:buNone/>
            </a:pPr>
            <a:r>
              <a:rPr lang="es" sz="2400" dirty="0">
                <a:solidFill>
                  <a:srgbClr val="F8F2E8"/>
                </a:solidFill>
                <a:latin typeface="Plus Jakarta Sans"/>
                <a:ea typeface="Plus Jakarta Sans"/>
                <a:cs typeface="Plus Jakarta Sans"/>
                <a:sym typeface="Plus Jakarta Sans"/>
              </a:rPr>
              <a:t>UTC -3</a:t>
            </a:r>
            <a:endParaRPr sz="2400" dirty="0">
              <a:solidFill>
                <a:srgbClr val="F8F2E8"/>
              </a:solidFill>
              <a:latin typeface="Plus Jakarta Sans"/>
              <a:ea typeface="Plus Jakarta Sans"/>
              <a:cs typeface="Plus Jakarta Sans"/>
              <a:sym typeface="Plus Jakarta Sans"/>
            </a:endParaRPr>
          </a:p>
        </p:txBody>
      </p:sp>
      <p:pic>
        <p:nvPicPr>
          <p:cNvPr id="467" name="Google Shape;467;p60" title="Vector.png"/>
          <p:cNvPicPr preferRelativeResize="0"/>
          <p:nvPr/>
        </p:nvPicPr>
        <p:blipFill rotWithShape="1">
          <a:blip r:embed="rId3">
            <a:alphaModFix/>
          </a:blip>
          <a:srcRect l="30" r="40"/>
          <a:stretch/>
        </p:blipFill>
        <p:spPr>
          <a:xfrm>
            <a:off x="7520578" y="2347936"/>
            <a:ext cx="524575" cy="4476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61"/>
          <p:cNvSpPr txBox="1"/>
          <p:nvPr/>
        </p:nvSpPr>
        <p:spPr>
          <a:xfrm>
            <a:off x="652525" y="1336525"/>
            <a:ext cx="3873300" cy="171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4800">
                <a:solidFill>
                  <a:srgbClr val="260700"/>
                </a:solidFill>
                <a:latin typeface="Plus Jakarta Sans ExtraBold"/>
                <a:ea typeface="Plus Jakarta Sans ExtraBold"/>
                <a:cs typeface="Plus Jakarta Sans ExtraBold"/>
                <a:sym typeface="Plus Jakarta Sans ExtraBold"/>
              </a:rPr>
              <a:t>¡Esta clase va a ser     grabada!	</a:t>
            </a:r>
            <a:endParaRPr sz="4800">
              <a:solidFill>
                <a:srgbClr val="260700"/>
              </a:solidFill>
              <a:latin typeface="Plus Jakarta Sans ExtraBold"/>
              <a:ea typeface="Plus Jakarta Sans ExtraBold"/>
              <a:cs typeface="Plus Jakarta Sans ExtraBold"/>
              <a:sym typeface="Plus Jakarta Sans ExtraBold"/>
            </a:endParaRPr>
          </a:p>
        </p:txBody>
      </p:sp>
      <p:sp>
        <p:nvSpPr>
          <p:cNvPr id="473" name="Google Shape;473;p61"/>
          <p:cNvSpPr/>
          <p:nvPr/>
        </p:nvSpPr>
        <p:spPr>
          <a:xfrm>
            <a:off x="4003875" y="1483250"/>
            <a:ext cx="228300" cy="228300"/>
          </a:xfrm>
          <a:prstGeom prst="ellipse">
            <a:avLst/>
          </a:prstGeom>
          <a:solidFill>
            <a:srgbClr val="FDAB2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62"/>
          <p:cNvSpPr txBox="1"/>
          <p:nvPr/>
        </p:nvSpPr>
        <p:spPr>
          <a:xfrm>
            <a:off x="571500" y="2392650"/>
            <a:ext cx="6977400" cy="1500000"/>
          </a:xfrm>
          <a:prstGeom prst="rect">
            <a:avLst/>
          </a:prstGeom>
          <a:noFill/>
          <a:ln>
            <a:noFill/>
          </a:ln>
        </p:spPr>
        <p:txBody>
          <a:bodyPr spcFirstLastPara="1" wrap="square" lIns="91425" tIns="91425" rIns="91425" bIns="91425" anchor="t" anchorCtr="0">
            <a:noAutofit/>
          </a:bodyPr>
          <a:lstStyle/>
          <a:p>
            <a:pPr marL="0" lvl="0" indent="0" algn="l" rtl="0">
              <a:lnSpc>
                <a:spcPct val="80000"/>
              </a:lnSpc>
              <a:spcBef>
                <a:spcPts val="0"/>
              </a:spcBef>
              <a:spcAft>
                <a:spcPts val="0"/>
              </a:spcAft>
              <a:buNone/>
            </a:pPr>
            <a:r>
              <a:rPr lang="es" sz="4900">
                <a:solidFill>
                  <a:srgbClr val="F8F2E8"/>
                </a:solidFill>
                <a:latin typeface="Plus Jakarta Sans ExtraBold"/>
                <a:ea typeface="Plus Jakarta Sans ExtraBold"/>
                <a:cs typeface="Plus Jakarta Sans ExtraBold"/>
                <a:sym typeface="Plus Jakarta Sans ExtraBold"/>
              </a:rPr>
              <a:t>¡Gracias por </a:t>
            </a:r>
            <a:r>
              <a:rPr lang="es" sz="4900">
                <a:solidFill>
                  <a:srgbClr val="FDAB2E"/>
                </a:solidFill>
                <a:latin typeface="Plus Jakarta Sans ExtraBold"/>
                <a:ea typeface="Plus Jakarta Sans ExtraBold"/>
                <a:cs typeface="Plus Jakarta Sans ExtraBold"/>
                <a:sym typeface="Plus Jakarta Sans ExtraBold"/>
              </a:rPr>
              <a:t>estudiar </a:t>
            </a:r>
            <a:r>
              <a:rPr lang="es" sz="4900">
                <a:solidFill>
                  <a:srgbClr val="F8F2E8"/>
                </a:solidFill>
                <a:latin typeface="Plus Jakarta Sans ExtraBold"/>
                <a:ea typeface="Plus Jakarta Sans ExtraBold"/>
                <a:cs typeface="Plus Jakarta Sans ExtraBold"/>
                <a:sym typeface="Plus Jakarta Sans ExtraBold"/>
              </a:rPr>
              <a:t>con nosotros!</a:t>
            </a:r>
            <a:endParaRPr sz="4900">
              <a:solidFill>
                <a:srgbClr val="F8F2E8"/>
              </a:solidFill>
              <a:latin typeface="Plus Jakarta Sans ExtraBold"/>
              <a:ea typeface="Plus Jakarta Sans ExtraBold"/>
              <a:cs typeface="Plus Jakarta Sans ExtraBold"/>
              <a:sym typeface="Plus Jakarta Sans ExtraBold"/>
            </a:endParaRPr>
          </a:p>
        </p:txBody>
      </p:sp>
      <p:sp>
        <p:nvSpPr>
          <p:cNvPr id="479" name="Google Shape;479;p62"/>
          <p:cNvSpPr txBox="1"/>
          <p:nvPr/>
        </p:nvSpPr>
        <p:spPr>
          <a:xfrm>
            <a:off x="571500" y="3792150"/>
            <a:ext cx="8001000" cy="906300"/>
          </a:xfrm>
          <a:prstGeom prst="rect">
            <a:avLst/>
          </a:prstGeom>
          <a:noFill/>
          <a:ln>
            <a:noFill/>
          </a:ln>
        </p:spPr>
        <p:txBody>
          <a:bodyPr spcFirstLastPara="1" wrap="square" lIns="0" tIns="0" rIns="0" bIns="0" anchor="b" anchorCtr="0">
            <a:noAutofit/>
          </a:bodyPr>
          <a:lstStyle/>
          <a:p>
            <a:pPr marL="0" lvl="0" indent="0" algn="just" rtl="0">
              <a:spcBef>
                <a:spcPts val="0"/>
              </a:spcBef>
              <a:spcAft>
                <a:spcPts val="0"/>
              </a:spcAft>
              <a:buNone/>
            </a:pPr>
            <a:r>
              <a:rPr lang="es" sz="600">
                <a:solidFill>
                  <a:srgbClr val="F8F2E8"/>
                </a:solidFill>
                <a:latin typeface="Plus Jakarta Sans"/>
                <a:ea typeface="Plus Jakarta Sans"/>
                <a:cs typeface="Plus Jakarta Sans"/>
                <a:sym typeface="Plus Jakarta Sans"/>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Coderhouse.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sz="600">
              <a:solidFill>
                <a:srgbClr val="F8F2E8"/>
              </a:solidFill>
              <a:latin typeface="Plus Jakarta Sans"/>
              <a:ea typeface="Plus Jakarta Sans"/>
              <a:cs typeface="Plus Jakarta Sans"/>
              <a:sym typeface="Plus Jakarta Sans"/>
            </a:endParaRPr>
          </a:p>
          <a:p>
            <a:pPr marL="0" lvl="0" indent="0" algn="just" rtl="0">
              <a:spcBef>
                <a:spcPts val="0"/>
              </a:spcBef>
              <a:spcAft>
                <a:spcPts val="0"/>
              </a:spcAft>
              <a:buNone/>
            </a:pPr>
            <a:endParaRPr sz="600">
              <a:solidFill>
                <a:srgbClr val="F8F2E8"/>
              </a:solidFill>
              <a:latin typeface="Plus Jakarta Sans"/>
              <a:ea typeface="Plus Jakarta Sans"/>
              <a:cs typeface="Plus Jakarta Sans"/>
              <a:sym typeface="Plus Jakarta Sans"/>
            </a:endParaRPr>
          </a:p>
          <a:p>
            <a:pPr marL="0" lvl="0" indent="0" algn="just" rtl="0">
              <a:spcBef>
                <a:spcPts val="0"/>
              </a:spcBef>
              <a:spcAft>
                <a:spcPts val="0"/>
              </a:spcAft>
              <a:buNone/>
            </a:pPr>
            <a:r>
              <a:rPr lang="es" sz="600">
                <a:solidFill>
                  <a:srgbClr val="F8F2E8"/>
                </a:solidFill>
                <a:latin typeface="Plus Jakarta Sans"/>
                <a:ea typeface="Plus Jakarta Sans"/>
                <a:cs typeface="Plus Jakarta Sans"/>
                <a:sym typeface="Plus Jakarta Sans"/>
              </a:rPr>
              <a:t>Copyright © 2026 Coderhouse. All rights reserved. Coderhouse and the Coderhouse logo are trademarks or registered trademarks of Coderhouse. in the U.S. and/or other countries. All other trademarks are the property of their respective owners.</a:t>
            </a:r>
            <a:endParaRPr sz="600">
              <a:solidFill>
                <a:srgbClr val="F8F2E8"/>
              </a:solidFill>
              <a:latin typeface="Plus Jakarta Sans"/>
              <a:ea typeface="Plus Jakarta Sans"/>
              <a:cs typeface="Plus Jakarta Sans"/>
              <a:sym typeface="Plus Jakarta Sans"/>
            </a:endParaRPr>
          </a:p>
        </p:txBody>
      </p:sp>
      <p:pic>
        <p:nvPicPr>
          <p:cNvPr id="480" name="Google Shape;480;p62" title="Group 1321317428.png"/>
          <p:cNvPicPr preferRelativeResize="0"/>
          <p:nvPr/>
        </p:nvPicPr>
        <p:blipFill>
          <a:blip r:embed="rId3">
            <a:alphaModFix/>
          </a:blip>
          <a:stretch>
            <a:fillRect/>
          </a:stretch>
        </p:blipFill>
        <p:spPr>
          <a:xfrm>
            <a:off x="7711325" y="609525"/>
            <a:ext cx="861174" cy="8577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63"/>
          <p:cNvSpPr txBox="1"/>
          <p:nvPr/>
        </p:nvSpPr>
        <p:spPr>
          <a:xfrm>
            <a:off x="571500" y="2175175"/>
            <a:ext cx="6462900" cy="1500000"/>
          </a:xfrm>
          <a:prstGeom prst="rect">
            <a:avLst/>
          </a:prstGeom>
          <a:noFill/>
          <a:ln>
            <a:noFill/>
          </a:ln>
        </p:spPr>
        <p:txBody>
          <a:bodyPr spcFirstLastPara="1" wrap="square" lIns="91425" tIns="91425" rIns="91425" bIns="91425" anchor="t" anchorCtr="0">
            <a:noAutofit/>
          </a:bodyPr>
          <a:lstStyle/>
          <a:p>
            <a:pPr marL="0" lvl="0" indent="0" algn="l" rtl="0">
              <a:lnSpc>
                <a:spcPct val="70000"/>
              </a:lnSpc>
              <a:spcBef>
                <a:spcPts val="0"/>
              </a:spcBef>
              <a:spcAft>
                <a:spcPts val="0"/>
              </a:spcAft>
              <a:buNone/>
            </a:pPr>
            <a:r>
              <a:rPr lang="es" sz="6100">
                <a:solidFill>
                  <a:srgbClr val="260700"/>
                </a:solidFill>
                <a:latin typeface="Plus Jakarta Sans ExtraBold"/>
                <a:ea typeface="Plus Jakarta Sans ExtraBold"/>
                <a:cs typeface="Plus Jakarta Sans ExtraBold"/>
                <a:sym typeface="Plus Jakarta Sans ExtraBold"/>
              </a:rPr>
              <a:t>¡Muchas</a:t>
            </a:r>
            <a:endParaRPr sz="6100">
              <a:solidFill>
                <a:srgbClr val="260700"/>
              </a:solidFill>
              <a:latin typeface="Plus Jakarta Sans ExtraBold"/>
              <a:ea typeface="Plus Jakarta Sans ExtraBold"/>
              <a:cs typeface="Plus Jakarta Sans ExtraBold"/>
              <a:sym typeface="Plus Jakarta Sans ExtraBold"/>
            </a:endParaRPr>
          </a:p>
          <a:p>
            <a:pPr marL="0" lvl="0" indent="0" algn="l" rtl="0">
              <a:lnSpc>
                <a:spcPct val="70000"/>
              </a:lnSpc>
              <a:spcBef>
                <a:spcPts val="0"/>
              </a:spcBef>
              <a:spcAft>
                <a:spcPts val="0"/>
              </a:spcAft>
              <a:buNone/>
            </a:pPr>
            <a:r>
              <a:rPr lang="es" sz="6100">
                <a:solidFill>
                  <a:srgbClr val="260700"/>
                </a:solidFill>
                <a:latin typeface="Plus Jakarta Sans ExtraBold"/>
                <a:ea typeface="Plus Jakarta Sans ExtraBold"/>
                <a:cs typeface="Plus Jakarta Sans ExtraBold"/>
                <a:sym typeface="Plus Jakarta Sans ExtraBold"/>
              </a:rPr>
              <a:t>gracias!</a:t>
            </a:r>
            <a:endParaRPr sz="6100">
              <a:solidFill>
                <a:srgbClr val="260700"/>
              </a:solidFill>
              <a:latin typeface="Plus Jakarta Sans ExtraBold"/>
              <a:ea typeface="Plus Jakarta Sans ExtraBold"/>
              <a:cs typeface="Plus Jakarta Sans ExtraBold"/>
              <a:sym typeface="Plus Jakarta Sans ExtraBold"/>
            </a:endParaRPr>
          </a:p>
        </p:txBody>
      </p:sp>
      <p:sp>
        <p:nvSpPr>
          <p:cNvPr id="486" name="Google Shape;486;p63"/>
          <p:cNvSpPr txBox="1"/>
          <p:nvPr/>
        </p:nvSpPr>
        <p:spPr>
          <a:xfrm>
            <a:off x="571500" y="3792150"/>
            <a:ext cx="8001000" cy="906300"/>
          </a:xfrm>
          <a:prstGeom prst="rect">
            <a:avLst/>
          </a:prstGeom>
          <a:noFill/>
          <a:ln>
            <a:noFill/>
          </a:ln>
        </p:spPr>
        <p:txBody>
          <a:bodyPr spcFirstLastPara="1" wrap="square" lIns="0" tIns="0" rIns="0" bIns="0" anchor="b" anchorCtr="0">
            <a:noAutofit/>
          </a:bodyPr>
          <a:lstStyle/>
          <a:p>
            <a:pPr marL="0" lvl="0" indent="0" algn="just" rtl="0">
              <a:spcBef>
                <a:spcPts val="0"/>
              </a:spcBef>
              <a:spcAft>
                <a:spcPts val="0"/>
              </a:spcAft>
              <a:buNone/>
            </a:pPr>
            <a:r>
              <a:rPr lang="es" sz="600">
                <a:solidFill>
                  <a:srgbClr val="260700"/>
                </a:solidFill>
                <a:latin typeface="Plus Jakarta Sans"/>
                <a:ea typeface="Plus Jakarta Sans"/>
                <a:cs typeface="Plus Jakarta Sans"/>
                <a:sym typeface="Plus Jakarta Sans"/>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Coderhouse.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sz="600">
              <a:solidFill>
                <a:srgbClr val="260700"/>
              </a:solidFill>
              <a:latin typeface="Plus Jakarta Sans"/>
              <a:ea typeface="Plus Jakarta Sans"/>
              <a:cs typeface="Plus Jakarta Sans"/>
              <a:sym typeface="Plus Jakarta Sans"/>
            </a:endParaRPr>
          </a:p>
          <a:p>
            <a:pPr marL="0" lvl="0" indent="0" algn="just" rtl="0">
              <a:spcBef>
                <a:spcPts val="0"/>
              </a:spcBef>
              <a:spcAft>
                <a:spcPts val="0"/>
              </a:spcAft>
              <a:buNone/>
            </a:pPr>
            <a:endParaRPr sz="600">
              <a:solidFill>
                <a:srgbClr val="260700"/>
              </a:solidFill>
              <a:latin typeface="Plus Jakarta Sans"/>
              <a:ea typeface="Plus Jakarta Sans"/>
              <a:cs typeface="Plus Jakarta Sans"/>
              <a:sym typeface="Plus Jakarta Sans"/>
            </a:endParaRPr>
          </a:p>
          <a:p>
            <a:pPr marL="0" lvl="0" indent="0" algn="just" rtl="0">
              <a:spcBef>
                <a:spcPts val="0"/>
              </a:spcBef>
              <a:spcAft>
                <a:spcPts val="0"/>
              </a:spcAft>
              <a:buNone/>
            </a:pPr>
            <a:r>
              <a:rPr lang="es" sz="600">
                <a:solidFill>
                  <a:srgbClr val="260700"/>
                </a:solidFill>
                <a:latin typeface="Plus Jakarta Sans"/>
                <a:ea typeface="Plus Jakarta Sans"/>
                <a:cs typeface="Plus Jakarta Sans"/>
                <a:sym typeface="Plus Jakarta Sans"/>
              </a:rPr>
              <a:t>Copyright © 2026 Coderhouse. All rights reserved. Coderhouse and the Coderhouse logo are trademarks or registered trademarks of Coderhouse. in the U.S. and/or other countries. All other trademarks are the property of their respective owners.</a:t>
            </a:r>
            <a:endParaRPr sz="600">
              <a:solidFill>
                <a:srgbClr val="260700"/>
              </a:solidFill>
              <a:latin typeface="Plus Jakarta Sans"/>
              <a:ea typeface="Plus Jakarta Sans"/>
              <a:cs typeface="Plus Jakarta Sans"/>
              <a:sym typeface="Plus Jakarta Sans"/>
            </a:endParaRPr>
          </a:p>
        </p:txBody>
      </p:sp>
      <p:pic>
        <p:nvPicPr>
          <p:cNvPr id="487" name="Google Shape;487;p63" title="Group 1321320857.png"/>
          <p:cNvPicPr preferRelativeResize="0"/>
          <p:nvPr/>
        </p:nvPicPr>
        <p:blipFill>
          <a:blip r:embed="rId3">
            <a:alphaModFix/>
          </a:blip>
          <a:stretch>
            <a:fillRect/>
          </a:stretch>
        </p:blipFill>
        <p:spPr>
          <a:xfrm>
            <a:off x="7259075" y="488075"/>
            <a:ext cx="1221826" cy="3568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TotalTime>
  <Words>747</Words>
  <Application>Microsoft Office PowerPoint</Application>
  <PresentationFormat>On-screen Show (16:9)</PresentationFormat>
  <Paragraphs>42</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Plus Jakarta Sans ExtraBold</vt:lpstr>
      <vt:lpstr>Arial</vt:lpstr>
      <vt:lpstr>Plus Jakarta Sans Light</vt:lpstr>
      <vt:lpstr>Plus Jakarta Sans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Leandro Araque</cp:lastModifiedBy>
  <cp:revision>2</cp:revision>
  <dcterms:modified xsi:type="dcterms:W3CDTF">2026-04-23T23:56:12Z</dcterms:modified>
</cp:coreProperties>
</file>