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41"/>
  </p:notesMasterIdLst>
  <p:sldIdLst>
    <p:sldId id="292" r:id="rId2"/>
    <p:sldId id="318" r:id="rId3"/>
    <p:sldId id="319" r:id="rId4"/>
    <p:sldId id="320" r:id="rId5"/>
    <p:sldId id="321" r:id="rId6"/>
    <p:sldId id="322" r:id="rId7"/>
    <p:sldId id="323" r:id="rId8"/>
    <p:sldId id="324" r:id="rId9"/>
    <p:sldId id="325" r:id="rId10"/>
    <p:sldId id="326" r:id="rId11"/>
    <p:sldId id="327" r:id="rId12"/>
    <p:sldId id="293" r:id="rId13"/>
    <p:sldId id="257" r:id="rId14"/>
    <p:sldId id="271" r:id="rId15"/>
    <p:sldId id="270" r:id="rId16"/>
    <p:sldId id="297" r:id="rId17"/>
    <p:sldId id="300" r:id="rId18"/>
    <p:sldId id="301" r:id="rId19"/>
    <p:sldId id="298" r:id="rId20"/>
    <p:sldId id="299" r:id="rId21"/>
    <p:sldId id="302" r:id="rId22"/>
    <p:sldId id="303" r:id="rId23"/>
    <p:sldId id="304" r:id="rId24"/>
    <p:sldId id="305" r:id="rId25"/>
    <p:sldId id="306" r:id="rId26"/>
    <p:sldId id="307" r:id="rId27"/>
    <p:sldId id="310" r:id="rId28"/>
    <p:sldId id="311" r:id="rId29"/>
    <p:sldId id="308" r:id="rId30"/>
    <p:sldId id="309" r:id="rId31"/>
    <p:sldId id="312" r:id="rId32"/>
    <p:sldId id="313" r:id="rId33"/>
    <p:sldId id="314" r:id="rId34"/>
    <p:sldId id="315" r:id="rId35"/>
    <p:sldId id="316" r:id="rId36"/>
    <p:sldId id="317" r:id="rId37"/>
    <p:sldId id="294" r:id="rId38"/>
    <p:sldId id="295" r:id="rId39"/>
    <p:sldId id="296" r:id="rId40"/>
  </p:sldIdLst>
  <p:sldSz cx="9144000" cy="5143500" type="screen16x9"/>
  <p:notesSz cx="6858000" cy="9144000"/>
  <p:embeddedFontLst>
    <p:embeddedFont>
      <p:font typeface="Plus Jakarta Sans" panose="020B0604020202020204" charset="0"/>
      <p:regular r:id="rId42"/>
      <p:bold r:id="rId43"/>
      <p:italic r:id="rId44"/>
      <p:boldItalic r:id="rId45"/>
    </p:embeddedFont>
    <p:embeddedFont>
      <p:font typeface="Plus Jakarta Sans ExtraBold" panose="020B0604020202020204" charset="0"/>
      <p:bold r:id="rId46"/>
      <p:boldItalic r:id="rId47"/>
    </p:embeddedFont>
    <p:embeddedFont>
      <p:font typeface="Plus Jakarta Sans Light" panose="020B0604020202020204"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AA2E"/>
    <a:srgbClr val="B78E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056" y="120"/>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bb91f55cac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bb91f55cac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53643a15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5DD7789D-C82C-7278-0CD6-0597D8143B14}"/>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745FEFA1-2EED-85E1-628E-B7536CC799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07DEA7F6-722E-F38F-1A66-68931C0A78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3359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272BEB2-4319-94D7-7FC3-6495181D94C1}"/>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078327E3-3C6D-FC68-7D76-5A2FEE33EE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FD51BCE2-6172-D726-34D6-60461B35AE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983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FEA720B3-C7AD-EF4A-D8EE-E99B6C93788D}"/>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EB220C12-1C1A-075F-B264-5CE8872F11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0A7B003A-4A6F-7BE8-173B-AA92F026C8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6858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2591785-06DF-DFED-54F4-BFB5D98E5770}"/>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4D7C0A02-E88D-7039-5F4A-140F1E9931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35E51FC3-A6D3-10AB-953A-7B5836609A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8960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CD3F4199-4CDD-3463-4829-BC676DB36E97}"/>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55294232-45D3-4467-6779-2771B4196E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B20E906C-D183-3A13-BDA0-BB27754F8D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86767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B1A15F0-5A19-2477-E2FB-751AE1663B4A}"/>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E0F6C65B-515E-6EC3-B87D-1053626602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9913461A-963F-3E1B-EC8D-455307F4AF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4664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5E2BC25-D2BC-5C9E-2FAF-D8E14A016F6C}"/>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14B70F47-0AC5-AA9A-7719-9671748215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7699C6DA-0EC6-635A-C5E3-0FE4C49FB3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3550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9E74552-FCE2-A4D7-4065-9085CFCD9794}"/>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9FCD04BB-18C2-D288-DE91-FD1956AC48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F46C51E6-286B-1440-4963-465D4471B9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9197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bb91f55cac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bb91f55cac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b53643a157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53643a15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963C9C3-3633-88B0-BD3D-404542B14E1F}"/>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FEFE7E9F-B9AA-F8E9-E788-F20C2CD1A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ABB37961-763C-6CF2-99B9-9A7D108A41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4527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4E5C67B0-D0AA-C597-1D28-639449A02C5C}"/>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1DE2C624-492A-4C6B-471C-D7F79B648D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357497EE-B2AE-79EB-C064-5D6317B0BF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94735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4552E5D-0252-B7D7-5258-434517035A0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C1AFF759-A9E4-AEE2-C621-5E13A72C29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9CD7249D-FEF8-49B0-16BF-66CE747417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920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EF06551-5E2B-2BB9-FF7D-D78CB71065A1}"/>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DCF7B3FE-5083-3B4E-CC6C-1657BBB564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51DC51FD-37CC-55EB-DC92-9A119F6CF3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8714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C89965C-BDFF-ABA7-584A-B5DCCC45AEA0}"/>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7A5683A8-734D-B67A-63E8-5DA301E0CE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5B95BAB4-448E-116E-CDB6-7FA8290F4B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14781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2F779E7A-3983-9A99-D99A-A6AD0B95FF73}"/>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FA8611C8-B583-F839-BB6F-5E5A49A027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C1B8C202-AC18-CE8F-3D2A-BDB310537D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8705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40E4482-5B21-80F6-74F0-25FD7CA036D6}"/>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BE17D8F5-D40F-C7C2-FDA9-23EED1C4F2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2CE665BA-8B37-8178-1C1B-82DA2FA770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77115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874AF4B0-67DF-8D75-F4C4-B0F30653F660}"/>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296366D1-CE37-9DBB-295C-B2FB968762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4DAC36C8-B1A6-29E4-3E62-F53914F1FF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17780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749A5B4B-8C72-AAE1-92B5-5E69DF68E18F}"/>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76C547AD-C661-1F7D-2BB3-88823FB7F1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047217C2-527F-DE4D-67F8-CD5280D9B6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2286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B3858F6C-B096-ABCA-E320-7556B9FE0F46}"/>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8CB76EEC-E97D-FDED-07C4-2F58486D60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54494E80-568B-CD11-24C2-74C27E5CC1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15858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A7221B2-78D3-D234-A3C5-18412230BB3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FF30EB74-1C85-4375-C059-11C3915EE8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A1CE7372-7799-7DDA-EFEE-A1A6413CC5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23077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1229F72C-E9D6-B4BA-9CC1-21646C324312}"/>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A7D15AAE-B8D3-3DC6-62F9-9A7315980F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6539629D-F3D0-DBBD-B56B-4C67DC9C83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86283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B51BF1C-AA01-37BE-6086-A706E1B9A116}"/>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2425B758-9F0E-E44F-C478-BE2A4B8B2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276E6DAE-B5C0-F6C8-2B47-82206F67EC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72776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E036684B-F2C2-1DC3-FACA-5904A355FFFE}"/>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592F4642-5065-44CD-9E19-E547EA4F4D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CBAF8795-E47F-00A5-AC48-D038F1DF7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74335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3F1B198-FB14-FC88-274F-8EAE33175E4F}"/>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B92722E4-17A1-AD15-387F-F41F67993C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84DCC211-3852-50B0-ABE1-EB347A78E8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55574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E6E1CE92-817E-B35A-DBE6-FEDF11F100A0}"/>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1ADFB121-B08A-9994-7B84-19DE5F264F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5FBBC81E-0F08-D765-9F1C-B1EE8A4655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79464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5A416D4-1B98-A631-8080-268BAE32E0A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AEE66641-83CD-54B5-3BE0-095A643AF2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33A82B58-9109-5D62-F505-8DAB73093C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6781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86648AFF-3997-D365-EDF0-6D6F11C44CAC}"/>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6B217D6C-0DB2-8A6F-2540-B25EC6AA6D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3262430D-CC3F-8197-91DB-437AF1A8CB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24406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437D398-1C7D-0A18-CC41-FD3C408A5585}"/>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29DCB834-5403-EEF1-5E87-1DBD1214EB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FB850703-01C3-3081-F414-7CF1302BAA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8921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1DF85E68-FB5D-21F6-E03A-55C8DD55F300}"/>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19C1C28E-B19E-8E1E-A121-56477F61CE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B221E92F-AE31-C5FF-9ADC-18D8C2AADE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18043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5E917C3E-2C70-58B4-9994-B5BC366E7591}"/>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62AE3092-17AF-286C-7C3C-C86E66724C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D08850DE-3536-94A0-20CC-D7B8458959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7216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bb91f55cac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bb91f55cac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b53643a157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b53643a157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b53643a157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b53643a157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pic>
        <p:nvPicPr>
          <p:cNvPr id="52" name="Google Shape;52;p13" title="Group 1321318181.png"/>
          <p:cNvPicPr preferRelativeResize="0"/>
          <p:nvPr/>
        </p:nvPicPr>
        <p:blipFill>
          <a:blip r:embed="rId2">
            <a:alphaModFix/>
          </a:blip>
          <a:stretch>
            <a:fillRect/>
          </a:stretch>
        </p:blipFill>
        <p:spPr>
          <a:xfrm>
            <a:off x="0" y="2076162"/>
            <a:ext cx="9143997" cy="306733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a:t>
            </a:fld>
            <a:endParaRPr sz="500">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egro">
  <p:cSld name="BLANK_2">
    <p:bg>
      <p:bgPr>
        <a:solidFill>
          <a:srgbClr val="171717"/>
        </a:solidFill>
        <a:effectLst/>
      </p:bgPr>
    </p:bg>
    <p:spTree>
      <p:nvGrpSpPr>
        <p:cNvPr id="1" name="Shape 77"/>
        <p:cNvGrpSpPr/>
        <p:nvPr/>
      </p:nvGrpSpPr>
      <p:grpSpPr>
        <a:xfrm>
          <a:off x="0" y="0"/>
          <a:ext cx="0" cy="0"/>
          <a:chOff x="0" y="0"/>
          <a:chExt cx="0" cy="0"/>
        </a:xfrm>
      </p:grpSpPr>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4" r:id="rId13"/>
    <p:sldLayoutId id="2147483665" r:id="rId14"/>
    <p:sldLayoutId id="2147483666" r:id="rId15"/>
    <p:sldLayoutId id="214748366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F8F2E8"/>
                </a:solidFill>
                <a:latin typeface="Plus Jakarta Sans ExtraBold"/>
                <a:ea typeface="Plus Jakarta Sans ExtraBold"/>
                <a:cs typeface="Plus Jakarta Sans ExtraBold"/>
                <a:sym typeface="Plus Jakarta Sans ExtraBold"/>
              </a:rPr>
              <a:t>¡Esta clase va a ser     grabada!	</a:t>
            </a:r>
            <a:endParaRPr sz="4800">
              <a:solidFill>
                <a:srgbClr val="F8F2E8"/>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3601525" y="31687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4"/>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00</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p:cNvSpPr txBox="1"/>
          <p:nvPr/>
        </p:nvSpPr>
        <p:spPr>
          <a:xfrm>
            <a:off x="423409" y="3382022"/>
            <a:ext cx="8297182"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El Eslabón Perdido de la IA</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Los modelos de lenguaje son cerebros analíticos brillantes, pero son completamente ciegos ante los documentos del mundo real. </a:t>
            </a:r>
            <a:r>
              <a:rPr lang="es-MX" sz="1200" dirty="0" err="1"/>
              <a:t>LlamaCloud</a:t>
            </a:r>
            <a:r>
              <a:rPr lang="es-MX" sz="1200" dirty="0"/>
              <a:t> actúa como el nervio óptico de nuestra arquitectura. Es una plataforma especializada impulsada por modelos de visión diseñada exclusivamente para ingerir, comprender y traducir archivos densos o escaneados a un formato que nuestras automatizaciones puedan procesar sin perder el contexto.</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¿Qué es </a:t>
            </a:r>
            <a:r>
              <a:rPr lang="es-MX" sz="4800" dirty="0" err="1">
                <a:solidFill>
                  <a:srgbClr val="FF632B"/>
                </a:solidFill>
                <a:latin typeface="Plus Jakarta Sans ExtraBold"/>
                <a:ea typeface="Plus Jakarta Sans ExtraBold"/>
                <a:cs typeface="Plus Jakarta Sans ExtraBold"/>
                <a:sym typeface="Plus Jakarta Sans ExtraBold"/>
              </a:rPr>
              <a:t>LlamaCloud</a:t>
            </a:r>
            <a:r>
              <a:rPr lang="es-MX" sz="4800" dirty="0">
                <a:solidFill>
                  <a:srgbClr val="FF632B"/>
                </a:solidFill>
                <a:latin typeface="Plus Jakarta Sans ExtraBold"/>
                <a:ea typeface="Plus Jakarta Sans ExtraBold"/>
                <a:cs typeface="Plus Jakarta Sans ExtraBold"/>
                <a:sym typeface="Plus Jakarta Sans ExtraBold"/>
              </a:rPr>
              <a:t>?</a:t>
            </a:r>
            <a:endParaRPr sz="4800" dirty="0">
              <a:solidFill>
                <a:srgbClr val="FF632B"/>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8DB56AE0-88FA-2ADE-B373-E15BECEA54CB}"/>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00166453-81E5-CE5F-0262-8662FBFFE00B}"/>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00</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AFBCB777-58BB-A002-C208-FD89A7CB276F}"/>
              </a:ext>
            </a:extLst>
          </p:cNvPr>
          <p:cNvSpPr txBox="1"/>
          <p:nvPr/>
        </p:nvSpPr>
        <p:spPr>
          <a:xfrm>
            <a:off x="423409" y="3382022"/>
            <a:ext cx="8297182"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Más Allá del OCR</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823677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B70B7ED-BC57-B694-4711-7588EBFFF3FE}"/>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90ED0BFB-5F7F-5D45-4CD1-4C2701F7B64A}"/>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Los sistemas tradicionales de extracción leen de izquierda a derecha, destruyendo tablas, mezclando columnas y arruinando por completo un historial médico o un análisis de laboratorio. </a:t>
            </a:r>
            <a:r>
              <a:rPr lang="es-MX" sz="1200" dirty="0" err="1"/>
              <a:t>LlamaParse</a:t>
            </a:r>
            <a:r>
              <a:rPr lang="es-MX" sz="1200" dirty="0"/>
              <a:t> utiliza inteligencia artificial para mirar el documento como lo haría un humano. Comprende la estructura geométrica de la página, reconstruyendo filas, encabezados y datos complejos de manera impecable.</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a:extLst>
              <a:ext uri="{FF2B5EF4-FFF2-40B4-BE49-F238E27FC236}">
                <a16:creationId xmlns:a16="http://schemas.microsoft.com/office/drawing/2014/main" id="{421407C5-121E-D0BC-0580-5504B5832C17}"/>
              </a:ext>
            </a:extLst>
          </p:cNvPr>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err="1">
                <a:solidFill>
                  <a:srgbClr val="FF632B"/>
                </a:solidFill>
                <a:latin typeface="Plus Jakarta Sans ExtraBold"/>
                <a:ea typeface="Plus Jakarta Sans ExtraBold"/>
                <a:cs typeface="Plus Jakarta Sans ExtraBold"/>
                <a:sym typeface="Plus Jakarta Sans ExtraBold"/>
              </a:rPr>
              <a:t>Parsing</a:t>
            </a:r>
            <a:r>
              <a:rPr lang="es-MX" sz="4800" dirty="0">
                <a:solidFill>
                  <a:srgbClr val="FF632B"/>
                </a:solidFill>
                <a:latin typeface="Plus Jakarta Sans ExtraBold"/>
                <a:ea typeface="Plus Jakarta Sans ExtraBold"/>
                <a:cs typeface="Plus Jakarta Sans ExtraBold"/>
                <a:sym typeface="Plus Jakarta Sans ExtraBold"/>
              </a:rPr>
              <a:t> Inteligente</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197843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0E604AB7-03AB-CB4B-52D5-501303EB01F4}"/>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83221B04-BE69-6360-D870-E15FA09DBA0D}"/>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00</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AA6049C7-1122-060B-C2E0-E0B4172C6763}"/>
              </a:ext>
            </a:extLst>
          </p:cNvPr>
          <p:cNvSpPr txBox="1"/>
          <p:nvPr/>
        </p:nvSpPr>
        <p:spPr>
          <a:xfrm>
            <a:off x="423409" y="3382022"/>
            <a:ext cx="8297182"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El Idioma Nativo de la IA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174619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26F2842-553D-87F1-C3E8-9DEA98CA3802}"/>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CAD8D3F5-DE3B-3E47-7C14-61A7F0FF8CCD}"/>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El objetivo de procesar un PDF clínico no es obtener un bloque de texto plano y desordenado. </a:t>
            </a:r>
            <a:r>
              <a:rPr lang="es-MX" sz="1200" dirty="0" err="1"/>
              <a:t>LlamaParse</a:t>
            </a:r>
            <a:r>
              <a:rPr lang="es-MX" sz="1200" dirty="0"/>
              <a:t> convierte el documento original en </a:t>
            </a:r>
            <a:r>
              <a:rPr lang="es-MX" sz="1200" dirty="0" err="1"/>
              <a:t>Markdown</a:t>
            </a:r>
            <a:r>
              <a:rPr lang="es-MX" sz="1200" dirty="0"/>
              <a:t>. Este formato utiliza símbolos matemáticos simples para redibujar tablas y estructurar jerarquías. Entregar este nivel de orden a un modelo de lenguaje reduce drásticamente las alucinaciones y acelera su capacidad para emitir juicios precisos.</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a:extLst>
              <a:ext uri="{FF2B5EF4-FFF2-40B4-BE49-F238E27FC236}">
                <a16:creationId xmlns:a16="http://schemas.microsoft.com/office/drawing/2014/main" id="{3B50E950-B425-EF50-3EF4-712BD6B5AC28}"/>
              </a:ext>
            </a:extLst>
          </p:cNvPr>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La Magia del </a:t>
            </a:r>
            <a:r>
              <a:rPr lang="es-MX" sz="4800" dirty="0" err="1">
                <a:solidFill>
                  <a:srgbClr val="FF632B"/>
                </a:solidFill>
                <a:latin typeface="Plus Jakarta Sans ExtraBold"/>
                <a:ea typeface="Plus Jakarta Sans ExtraBold"/>
                <a:cs typeface="Plus Jakarta Sans ExtraBold"/>
                <a:sym typeface="Plus Jakarta Sans ExtraBold"/>
              </a:rPr>
              <a:t>Markdown</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915458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6D2313C3-BFD3-5893-1846-46E8641A81D5}"/>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BEACB39A-F19E-BF1B-CE77-0C1623093F15}"/>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00</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4ACA2747-1862-AAA0-F70C-D91A5EAAF238}"/>
              </a:ext>
            </a:extLst>
          </p:cNvPr>
          <p:cNvSpPr txBox="1"/>
          <p:nvPr/>
        </p:nvSpPr>
        <p:spPr>
          <a:xfrm>
            <a:off x="423409" y="3382022"/>
            <a:ext cx="8297182"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Extracción Quirúrgica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941309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AD71B81-9DA5-713F-3056-38B549EFFFD5}"/>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BD9539F5-945B-1F1D-4EE5-A9CA3E3DABC0}"/>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La plataforma no se limita a traducir formatos. Mediante instrucciones directas en la petición, podemos ordenar a </a:t>
            </a:r>
            <a:r>
              <a:rPr lang="es-MX" sz="1200" dirty="0" err="1"/>
              <a:t>LlamaCloud</a:t>
            </a:r>
            <a:r>
              <a:rPr lang="es-MX" sz="1200" dirty="0"/>
              <a:t> que ignore el ruido visual y extraiga únicamente variables críticas, como el nivel de glucosa o el diagnóstico principal. Este proceso transforma un archivo estático en un objeto JSON estructurado, listo para detonar decisiones lógicas dentro de nuestros flujos en n8n.</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a:extLst>
              <a:ext uri="{FF2B5EF4-FFF2-40B4-BE49-F238E27FC236}">
                <a16:creationId xmlns:a16="http://schemas.microsoft.com/office/drawing/2014/main" id="{03C4698A-5911-B759-626D-F4961DBCF266}"/>
              </a:ext>
            </a:extLst>
          </p:cNvPr>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De Documento a Datos Accionables</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875820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DAF5128F-8BA4-29C6-8C33-04C814D8A9DB}"/>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7EF0EFC3-CBF3-A495-1A86-764A04CF0026}"/>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00</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F885C439-4C0F-0816-5795-3EE87528FCEF}"/>
              </a:ext>
            </a:extLst>
          </p:cNvPr>
          <p:cNvSpPr txBox="1"/>
          <p:nvPr/>
        </p:nvSpPr>
        <p:spPr>
          <a:xfrm>
            <a:off x="423409" y="3382022"/>
            <a:ext cx="8297182"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El Motor del RAG</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142625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DB703D1-6B0E-465A-6E48-8B7DC7F60F65}"/>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2805DBCB-A1B4-F8C3-4DCF-2EEBE14FDF1C}"/>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Para construir un cerebro médico eficiente en </a:t>
            </a:r>
            <a:r>
              <a:rPr lang="es-MX" sz="1200" dirty="0" err="1"/>
              <a:t>Pinecone</a:t>
            </a:r>
            <a:r>
              <a:rPr lang="es-MX" sz="1200" dirty="0"/>
              <a:t>, no podemos inyectar un manual de mil páginas de golpe. </a:t>
            </a:r>
            <a:r>
              <a:rPr lang="es-MX" sz="1200" dirty="0" err="1"/>
              <a:t>LlamaCloud</a:t>
            </a:r>
            <a:r>
              <a:rPr lang="es-MX" sz="1200" dirty="0"/>
              <a:t> permite procesar y fragmentar el documento de forma semántica antes de vectorizarlo. Al inyectar fragmentos de información limpios y bien estructurados en la base de datos, garantizamos que el agente recupere respuestas exactas e instantáneas durante una emergencia clínica.</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a:extLst>
              <a:ext uri="{FF2B5EF4-FFF2-40B4-BE49-F238E27FC236}">
                <a16:creationId xmlns:a16="http://schemas.microsoft.com/office/drawing/2014/main" id="{A1F6EFF7-059D-B844-70F5-248C999AFA96}"/>
              </a:ext>
            </a:extLst>
          </p:cNvPr>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Preparando la Búsqueda Vectorial</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59564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0"/>
          <p:cNvSpPr txBox="1"/>
          <p:nvPr/>
        </p:nvSpPr>
        <p:spPr>
          <a:xfrm>
            <a:off x="666925" y="354461"/>
            <a:ext cx="6254700" cy="24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6000" dirty="0">
                <a:solidFill>
                  <a:srgbClr val="F8F2E8"/>
                </a:solidFill>
                <a:latin typeface="Plus Jakarta Sans ExtraBold"/>
                <a:ea typeface="Plus Jakarta Sans ExtraBold"/>
                <a:cs typeface="Plus Jakarta Sans ExtraBold"/>
                <a:sym typeface="Plus Jakarta Sans ExtraBold"/>
              </a:rPr>
              <a:t>Break,</a:t>
            </a:r>
            <a:endParaRPr sz="60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endParaRPr sz="28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andá por un cafecito</a:t>
            </a:r>
            <a:endParaRPr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o mate, ¡y volvemos!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10 Minutos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chemeClr val="tx1"/>
                </a:solidFill>
                <a:latin typeface="Plus Jakarta Sans"/>
                <a:ea typeface="Plus Jakarta Sans"/>
                <a:cs typeface="Plus Jakarta Sans"/>
                <a:sym typeface="Plus Jakarta Sans"/>
              </a:rPr>
              <a:t>20:10</a:t>
            </a: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UTC -3</a:t>
            </a:r>
            <a:endParaRPr sz="2400" dirty="0">
              <a:solidFill>
                <a:srgbClr val="F8F2E8"/>
              </a:solidFill>
              <a:latin typeface="Plus Jakarta Sans"/>
              <a:ea typeface="Plus Jakarta Sans"/>
              <a:cs typeface="Plus Jakarta Sans"/>
              <a:sym typeface="Plus Jakarta Sans"/>
            </a:endParaRPr>
          </a:p>
        </p:txBody>
      </p:sp>
      <p:pic>
        <p:nvPicPr>
          <p:cNvPr id="467" name="Google Shape;467;p60" title="Vector.png"/>
          <p:cNvPicPr preferRelativeResize="0"/>
          <p:nvPr/>
        </p:nvPicPr>
        <p:blipFill rotWithShape="1">
          <a:blip r:embed="rId3">
            <a:alphaModFix/>
          </a:blip>
          <a:srcRect l="30" r="40"/>
          <a:stretch/>
        </p:blipFill>
        <p:spPr>
          <a:xfrm>
            <a:off x="7520578" y="2347936"/>
            <a:ext cx="524575" cy="447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4"/>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01</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p:cNvSpPr txBox="1"/>
          <p:nvPr/>
        </p:nvSpPr>
        <p:spPr>
          <a:xfrm>
            <a:off x="569500" y="3259622"/>
            <a:ext cx="6462900"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Repaso </a:t>
            </a:r>
          </a:p>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(¿Dónde estamos?)</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Puntos Clave:</a:t>
            </a:r>
          </a:p>
          <a:p>
            <a:pPr lvl="0">
              <a:lnSpc>
                <a:spcPct val="115000"/>
              </a:lnSpc>
            </a:pPr>
            <a:endParaRPr lang="es-MX" sz="1200" dirty="0"/>
          </a:p>
          <a:p>
            <a:pPr lvl="0">
              <a:lnSpc>
                <a:spcPct val="115000"/>
              </a:lnSpc>
            </a:pPr>
            <a:r>
              <a:rPr lang="es-MX" sz="1200" dirty="0"/>
              <a:t>	Flujo 1: Ingesta (Semana Pasada). Estudiar y guardar en la bóveda (Unidireccional).</a:t>
            </a:r>
          </a:p>
          <a:p>
            <a:pPr lvl="0">
              <a:lnSpc>
                <a:spcPct val="115000"/>
              </a:lnSpc>
            </a:pPr>
            <a:r>
              <a:rPr lang="es-MX" sz="1200" dirty="0"/>
              <a:t>	</a:t>
            </a:r>
          </a:p>
          <a:p>
            <a:pPr lvl="0">
              <a:lnSpc>
                <a:spcPct val="115000"/>
              </a:lnSpc>
            </a:pPr>
            <a:r>
              <a:rPr lang="es-MX" sz="1200" dirty="0"/>
              <a:t>	Flujo 2: Consulta (Hoy). Escuchar, pensar, buscar y responder (Interactivo)</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La Regla de Oro del RAG: Los Dos Flujo</a:t>
            </a:r>
            <a:endParaRPr sz="4800" dirty="0">
              <a:solidFill>
                <a:srgbClr val="FF632B"/>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02</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p:cNvSpPr txBox="1"/>
          <p:nvPr/>
        </p:nvSpPr>
        <p:spPr>
          <a:xfrm>
            <a:off x="699250" y="23869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Conociendo a nuestro Equipo Médico</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A7E972E-CC67-FD11-E217-D6664720EF1F}"/>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F62405F9-5D7D-3918-B599-58CF6AC9BACE}"/>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p>
          <a:p>
            <a:pPr marL="171450" indent="-171450">
              <a:buFont typeface="Arial" panose="020B0604020202020204" pitchFamily="34" charset="0"/>
              <a:buChar char="•"/>
            </a:pPr>
            <a:endParaRPr lang="es-MX" sz="1200" dirty="0"/>
          </a:p>
          <a:p>
            <a:pPr marL="171450" indent="-171450">
              <a:buFont typeface="Arial" panose="020B0604020202020204" pitchFamily="34" charset="0"/>
              <a:buChar char="•"/>
            </a:pPr>
            <a:r>
              <a:rPr lang="es-MX" sz="1200" b="1" dirty="0"/>
              <a:t>El Paciente:</a:t>
            </a:r>
            <a:r>
              <a:rPr lang="es-MX" sz="1200" dirty="0"/>
              <a:t> </a:t>
            </a:r>
            <a:r>
              <a:rPr lang="es-MX" dirty="0"/>
              <a:t>Chat </a:t>
            </a:r>
            <a:r>
              <a:rPr lang="es-MX" dirty="0" err="1"/>
              <a:t>Trigger</a:t>
            </a:r>
            <a:r>
              <a:rPr lang="es-MX" sz="1200" dirty="0"/>
              <a:t> (Nuestra interfaz de entrada).</a:t>
            </a:r>
            <a:r>
              <a:rPr lang="es-MX" sz="1200" b="1" dirty="0"/>
              <a:t>	</a:t>
            </a:r>
          </a:p>
          <a:p>
            <a:pPr marL="171450" indent="-171450">
              <a:buFont typeface="Arial" panose="020B0604020202020204" pitchFamily="34" charset="0"/>
              <a:buChar char="•"/>
            </a:pPr>
            <a:r>
              <a:rPr lang="es-MX" sz="1200" b="1" dirty="0"/>
              <a:t>El Director:</a:t>
            </a:r>
            <a:r>
              <a:rPr lang="es-MX" sz="1200" dirty="0"/>
              <a:t> </a:t>
            </a:r>
            <a:r>
              <a:rPr lang="es-MX" dirty="0"/>
              <a:t>AI </a:t>
            </a:r>
            <a:r>
              <a:rPr lang="es-MX" dirty="0" err="1"/>
              <a:t>Agent</a:t>
            </a:r>
            <a:r>
              <a:rPr lang="es-MX" sz="1200" dirty="0"/>
              <a:t> (Toma las decisiones).</a:t>
            </a:r>
            <a:endParaRPr lang="es-MX" sz="1200" b="1" dirty="0"/>
          </a:p>
          <a:p>
            <a:pPr marL="171450" indent="-171450">
              <a:buFont typeface="Arial" panose="020B0604020202020204" pitchFamily="34" charset="0"/>
              <a:buChar char="•"/>
            </a:pPr>
            <a:r>
              <a:rPr lang="es-MX" sz="1200" b="1" dirty="0"/>
              <a:t>El Cerebro Lógico:</a:t>
            </a:r>
            <a:r>
              <a:rPr lang="es-MX" sz="1200" dirty="0"/>
              <a:t> </a:t>
            </a:r>
            <a:r>
              <a:rPr lang="es-MX" dirty="0" err="1"/>
              <a:t>Groq</a:t>
            </a:r>
            <a:r>
              <a:rPr lang="es-MX" sz="1200" dirty="0"/>
              <a:t> (Entiende y redacta a la velocidad de la luz).</a:t>
            </a:r>
          </a:p>
        </p:txBody>
      </p:sp>
      <p:sp>
        <p:nvSpPr>
          <p:cNvPr id="242" name="Google Shape;242;p38">
            <a:extLst>
              <a:ext uri="{FF2B5EF4-FFF2-40B4-BE49-F238E27FC236}">
                <a16:creationId xmlns:a16="http://schemas.microsoft.com/office/drawing/2014/main" id="{1345C527-D9F3-54BB-92E0-DD6A4347AD8E}"/>
              </a:ext>
            </a:extLst>
          </p:cNvPr>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Anatomía del Flujo de Recuperación</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757744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4489BBB9-DD3B-BA16-C821-5DAF4C377F77}"/>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7233B890-BF32-7E93-4E97-B5AE77DDB279}"/>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03</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DC0B55F0-4559-279A-33A9-1429D126B213}"/>
              </a:ext>
            </a:extLst>
          </p:cNvPr>
          <p:cNvSpPr txBox="1"/>
          <p:nvPr/>
        </p:nvSpPr>
        <p:spPr>
          <a:xfrm>
            <a:off x="699250" y="23869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Conociendo a nuestro Equipo Médico</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096223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AAFA1AF-DB83-7D55-0115-2FF41CBC95C1}"/>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BB2B2E9D-D2C1-FC5A-EADE-255F8DD4FE3C}"/>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p>
          <a:p>
            <a:pPr marL="171450" indent="-171450">
              <a:buFont typeface="Arial" panose="020B0604020202020204" pitchFamily="34" charset="0"/>
              <a:buChar char="•"/>
            </a:pPr>
            <a:endParaRPr lang="es-MX" sz="1200" dirty="0"/>
          </a:p>
          <a:p>
            <a:pPr marL="171450" indent="-171450">
              <a:buFont typeface="Arial" panose="020B0604020202020204" pitchFamily="34" charset="0"/>
              <a:buChar char="•"/>
            </a:pPr>
            <a:r>
              <a:rPr lang="es-MX" sz="1200" b="1" dirty="0"/>
              <a:t>El Paciente:</a:t>
            </a:r>
            <a:r>
              <a:rPr lang="es-MX" sz="1200" dirty="0"/>
              <a:t> </a:t>
            </a:r>
            <a:r>
              <a:rPr lang="es-MX" dirty="0"/>
              <a:t>Chat </a:t>
            </a:r>
            <a:r>
              <a:rPr lang="es-MX" dirty="0" err="1"/>
              <a:t>Trigger</a:t>
            </a:r>
            <a:r>
              <a:rPr lang="es-MX" sz="1200" dirty="0"/>
              <a:t> (Nuestra interfaz de entrada).</a:t>
            </a:r>
            <a:r>
              <a:rPr lang="es-MX" sz="1200" b="1" dirty="0"/>
              <a:t>	</a:t>
            </a:r>
          </a:p>
          <a:p>
            <a:pPr marL="171450" indent="-171450">
              <a:buFont typeface="Arial" panose="020B0604020202020204" pitchFamily="34" charset="0"/>
              <a:buChar char="•"/>
            </a:pPr>
            <a:r>
              <a:rPr lang="es-MX" sz="1200" b="1" dirty="0"/>
              <a:t>El Director:</a:t>
            </a:r>
            <a:r>
              <a:rPr lang="es-MX" sz="1200" dirty="0"/>
              <a:t> </a:t>
            </a:r>
            <a:r>
              <a:rPr lang="es-MX" dirty="0"/>
              <a:t>AI </a:t>
            </a:r>
            <a:r>
              <a:rPr lang="es-MX" dirty="0" err="1"/>
              <a:t>Agent</a:t>
            </a:r>
            <a:r>
              <a:rPr lang="es-MX" sz="1200" dirty="0"/>
              <a:t> (Toma las decisiones).</a:t>
            </a:r>
            <a:endParaRPr lang="es-MX" sz="1200" b="1" dirty="0"/>
          </a:p>
          <a:p>
            <a:pPr marL="171450" indent="-171450">
              <a:buFont typeface="Arial" panose="020B0604020202020204" pitchFamily="34" charset="0"/>
              <a:buChar char="•"/>
            </a:pPr>
            <a:r>
              <a:rPr lang="es-MX" sz="1200" b="1" dirty="0"/>
              <a:t>El Cerebro Lógico:</a:t>
            </a:r>
            <a:r>
              <a:rPr lang="es-MX" sz="1200" dirty="0"/>
              <a:t> </a:t>
            </a:r>
            <a:r>
              <a:rPr lang="es-MX" dirty="0" err="1"/>
              <a:t>Groq</a:t>
            </a:r>
            <a:r>
              <a:rPr lang="es-MX" sz="1200" dirty="0"/>
              <a:t> (Entiende y redacta a la velocidad de la luz).</a:t>
            </a:r>
          </a:p>
        </p:txBody>
      </p:sp>
      <p:sp>
        <p:nvSpPr>
          <p:cNvPr id="242" name="Google Shape;242;p38">
            <a:extLst>
              <a:ext uri="{FF2B5EF4-FFF2-40B4-BE49-F238E27FC236}">
                <a16:creationId xmlns:a16="http://schemas.microsoft.com/office/drawing/2014/main" id="{E5A715D0-0569-1438-29F4-A0A9A875B494}"/>
              </a:ext>
            </a:extLst>
          </p:cNvPr>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Anatomía del Flujo de Recuperación</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649393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8DA8D200-E4E2-EA0A-E2F0-8955A0DB6329}"/>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3C3B43BB-80C2-D5EB-3546-0B4FED19A3B1}"/>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04</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64D06453-17D3-4CAE-E981-61AC3F5CA1B6}"/>
              </a:ext>
            </a:extLst>
          </p:cNvPr>
          <p:cNvSpPr txBox="1"/>
          <p:nvPr/>
        </p:nvSpPr>
        <p:spPr>
          <a:xfrm>
            <a:off x="627395" y="3392704"/>
            <a:ext cx="6462900" cy="984903"/>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Conectando la Memoria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37395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7450383-9133-6E41-59BB-82776884A106}"/>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BCB92466-068F-C64A-8F82-EE87FF78E1CA}"/>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endParaRPr lang="es-MX" sz="1200" dirty="0"/>
          </a:p>
          <a:p>
            <a:endParaRPr lang="es-MX" sz="1200" dirty="0"/>
          </a:p>
          <a:p>
            <a:pPr marL="171450" indent="-171450">
              <a:buFont typeface="Arial" panose="020B0604020202020204" pitchFamily="34" charset="0"/>
              <a:buChar char="•"/>
            </a:pPr>
            <a:r>
              <a:rPr lang="es-MX" sz="1200" dirty="0"/>
              <a:t>Ya no insertamos datos, ahora </a:t>
            </a:r>
            <a:r>
              <a:rPr lang="es-MX" sz="1200" b="1" dirty="0"/>
              <a:t>recuperamos</a:t>
            </a:r>
            <a:r>
              <a:rPr lang="es-MX" sz="1200" dirty="0"/>
              <a:t>.</a:t>
            </a:r>
          </a:p>
          <a:p>
            <a:pPr marL="171450" indent="-171450">
              <a:buFont typeface="Arial" panose="020B0604020202020204" pitchFamily="34" charset="0"/>
              <a:buChar char="•"/>
            </a:pPr>
            <a:r>
              <a:rPr lang="es-MX" sz="1200" dirty="0" err="1"/>
              <a:t>Pinecone</a:t>
            </a:r>
            <a:r>
              <a:rPr lang="es-MX" sz="1200" dirty="0"/>
              <a:t> actúa como una </a:t>
            </a:r>
            <a:r>
              <a:rPr lang="es-MX" sz="1200" b="1" dirty="0"/>
              <a:t>Herramienta (Tool)</a:t>
            </a:r>
            <a:r>
              <a:rPr lang="es-MX" sz="1200" dirty="0"/>
              <a:t> del Agente.</a:t>
            </a:r>
          </a:p>
          <a:p>
            <a:pPr marL="171450" indent="-171450">
              <a:buFont typeface="Arial" panose="020B0604020202020204" pitchFamily="34" charset="0"/>
              <a:buChar char="•"/>
            </a:pPr>
            <a:r>
              <a:rPr lang="es-MX" sz="1200" dirty="0" err="1"/>
              <a:t>Cohere</a:t>
            </a:r>
            <a:r>
              <a:rPr lang="es-MX" sz="1200" dirty="0"/>
              <a:t> sigue siendo nuestro traductor (de español a matemáticas)</a:t>
            </a:r>
          </a:p>
        </p:txBody>
      </p:sp>
      <p:sp>
        <p:nvSpPr>
          <p:cNvPr id="242" name="Google Shape;242;p38">
            <a:extLst>
              <a:ext uri="{FF2B5EF4-FFF2-40B4-BE49-F238E27FC236}">
                <a16:creationId xmlns:a16="http://schemas.microsoft.com/office/drawing/2014/main" id="{E49181C3-6FF3-7A41-CBC9-7589566B4B76}"/>
              </a:ext>
            </a:extLst>
          </p:cNvPr>
          <p:cNvSpPr txBox="1"/>
          <p:nvPr/>
        </p:nvSpPr>
        <p:spPr>
          <a:xfrm>
            <a:off x="602399" y="659600"/>
            <a:ext cx="7897023" cy="840300"/>
          </a:xfrm>
          <a:prstGeom prst="rect">
            <a:avLst/>
          </a:prstGeom>
          <a:noFill/>
          <a:ln>
            <a:noFill/>
          </a:ln>
        </p:spPr>
        <p:txBody>
          <a:bodyPr spcFirstLastPara="1" wrap="square" lIns="91425" tIns="91425" rIns="91425" bIns="91425" anchor="t" anchorCtr="0">
            <a:noAutofit/>
          </a:bodyPr>
          <a:lstStyle/>
          <a:p>
            <a:pPr lvl="0"/>
            <a:r>
              <a:rPr lang="es-MX" sz="4800" dirty="0" err="1">
                <a:solidFill>
                  <a:srgbClr val="FF632B"/>
                </a:solidFill>
                <a:latin typeface="Plus Jakarta Sans ExtraBold"/>
                <a:ea typeface="Plus Jakarta Sans ExtraBold"/>
                <a:cs typeface="Plus Jakarta Sans ExtraBold"/>
                <a:sym typeface="Plus Jakarta Sans ExtraBold"/>
              </a:rPr>
              <a:t>Pinecone</a:t>
            </a:r>
            <a:r>
              <a:rPr lang="es-MX" sz="4800" dirty="0">
                <a:solidFill>
                  <a:srgbClr val="FF632B"/>
                </a:solidFill>
                <a:latin typeface="Plus Jakarta Sans ExtraBold"/>
                <a:ea typeface="Plus Jakarta Sans ExtraBold"/>
                <a:cs typeface="Plus Jakarta Sans ExtraBold"/>
                <a:sym typeface="Plus Jakarta Sans ExtraBold"/>
              </a:rPr>
              <a:t> en Modo "</a:t>
            </a:r>
            <a:r>
              <a:rPr lang="es-MX" sz="4800" dirty="0" err="1">
                <a:solidFill>
                  <a:srgbClr val="FF632B"/>
                </a:solidFill>
                <a:latin typeface="Plus Jakarta Sans ExtraBold"/>
                <a:ea typeface="Plus Jakarta Sans ExtraBold"/>
                <a:cs typeface="Plus Jakarta Sans ExtraBold"/>
                <a:sym typeface="Plus Jakarta Sans ExtraBold"/>
              </a:rPr>
              <a:t>Retrieve</a:t>
            </a:r>
            <a:r>
              <a:rPr lang="es-MX" sz="4800" dirty="0">
                <a:solidFill>
                  <a:srgbClr val="FF632B"/>
                </a:solidFill>
                <a:latin typeface="Plus Jakarta Sans ExtraBold"/>
                <a:ea typeface="Plus Jakarta Sans ExtraBold"/>
                <a:cs typeface="Plus Jakarta Sans ExtraBold"/>
                <a:sym typeface="Plus Jakarta Sans ExtraBold"/>
              </a:rPr>
              <a:t>"</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980628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B4B47B76-23BC-F618-62F5-950EC401C7A5}"/>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FE8ECEA1-BB57-7491-B2B4-6691983A250D}"/>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05</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087FD96B-C361-D56D-1917-DDE1A454D8D9}"/>
              </a:ext>
            </a:extLst>
          </p:cNvPr>
          <p:cNvSpPr txBox="1"/>
          <p:nvPr/>
        </p:nvSpPr>
        <p:spPr>
          <a:xfrm>
            <a:off x="699250" y="3109526"/>
            <a:ext cx="81114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El Manual de Instrucciones (</a:t>
            </a:r>
            <a:r>
              <a:rPr lang="es-MX" sz="4800" dirty="0" err="1">
                <a:solidFill>
                  <a:srgbClr val="F8F2E8"/>
                </a:solidFill>
                <a:latin typeface="Plus Jakarta Sans ExtraBold"/>
                <a:ea typeface="Plus Jakarta Sans ExtraBold"/>
                <a:cs typeface="Plus Jakarta Sans ExtraBold"/>
                <a:sym typeface="Plus Jakarta Sans ExtraBold"/>
              </a:rPr>
              <a:t>Parameter</a:t>
            </a:r>
            <a:r>
              <a:rPr lang="es-MX" sz="4800" dirty="0">
                <a:solidFill>
                  <a:srgbClr val="F8F2E8"/>
                </a:solidFill>
                <a:latin typeface="Plus Jakarta Sans ExtraBold"/>
                <a:ea typeface="Plus Jakarta Sans ExtraBold"/>
                <a:cs typeface="Plus Jakarta Sans ExtraBold"/>
                <a:sym typeface="Plus Jakarta Sans ExtraBold"/>
              </a:rPr>
              <a:t> "</a:t>
            </a:r>
            <a:r>
              <a:rPr lang="es-MX" sz="4800" dirty="0" err="1">
                <a:solidFill>
                  <a:srgbClr val="F8F2E8"/>
                </a:solidFill>
                <a:latin typeface="Plus Jakarta Sans ExtraBold"/>
                <a:ea typeface="Plus Jakarta Sans ExtraBold"/>
                <a:cs typeface="Plus Jakarta Sans ExtraBold"/>
                <a:sym typeface="Plus Jakarta Sans ExtraBold"/>
              </a:rPr>
              <a:t>Description</a:t>
            </a:r>
            <a:r>
              <a:rPr lang="es-MX" sz="4800" dirty="0">
                <a:solidFill>
                  <a:srgbClr val="F8F2E8"/>
                </a:solidFill>
                <a:latin typeface="Plus Jakarta Sans ExtraBold"/>
                <a:ea typeface="Plus Jakarta Sans ExtraBold"/>
                <a:cs typeface="Plus Jakarta Sans ExtraBold"/>
                <a:sym typeface="Plus Jakarta Sans ExtraBold"/>
              </a:rPr>
              <a:t>")</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539219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2348D29-C260-D248-9E0C-3E2508C36BAB}"/>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CF9D4524-6E55-DF9D-08A3-EB254C9D66AD}"/>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p>
          <a:p>
            <a:endParaRPr lang="es-MX" sz="1200" dirty="0"/>
          </a:p>
          <a:p>
            <a:pPr marL="171450" indent="-171450">
              <a:buFont typeface="Arial" panose="020B0604020202020204" pitchFamily="34" charset="0"/>
              <a:buChar char="•"/>
            </a:pPr>
            <a:r>
              <a:rPr lang="es-MX" sz="1200" dirty="0"/>
              <a:t>El parámetro </a:t>
            </a:r>
            <a:r>
              <a:rPr lang="es-MX" sz="1200" b="1" dirty="0" err="1"/>
              <a:t>Description</a:t>
            </a:r>
            <a:r>
              <a:rPr lang="es-MX" sz="1200" dirty="0"/>
              <a:t> es obligatorio.</a:t>
            </a:r>
          </a:p>
          <a:p>
            <a:pPr marL="171450" indent="-171450">
              <a:buFont typeface="Arial" panose="020B0604020202020204" pitchFamily="34" charset="0"/>
              <a:buChar char="•"/>
            </a:pPr>
            <a:r>
              <a:rPr lang="es-MX" sz="1200" dirty="0"/>
              <a:t>Es el "manual" que lee el Agente.</a:t>
            </a:r>
          </a:p>
          <a:p>
            <a:pPr marL="171450" indent="-171450">
              <a:buFont typeface="Arial" panose="020B0604020202020204" pitchFamily="34" charset="0"/>
              <a:buChar char="•"/>
            </a:pPr>
            <a:r>
              <a:rPr lang="es-MX" sz="1200" dirty="0"/>
              <a:t>Ejemplo: </a:t>
            </a:r>
            <a:r>
              <a:rPr lang="es-MX" sz="1200" i="1" dirty="0"/>
              <a:t>"Úsala SIEMPRE para buscar síntomas de COVID-19"</a:t>
            </a:r>
            <a:endParaRPr lang="es-MX" sz="1200" dirty="0"/>
          </a:p>
        </p:txBody>
      </p:sp>
      <p:sp>
        <p:nvSpPr>
          <p:cNvPr id="242" name="Google Shape;242;p38">
            <a:extLst>
              <a:ext uri="{FF2B5EF4-FFF2-40B4-BE49-F238E27FC236}">
                <a16:creationId xmlns:a16="http://schemas.microsoft.com/office/drawing/2014/main" id="{1C8A97A2-50C1-E6A1-59C9-EF045D31C526}"/>
              </a:ext>
            </a:extLst>
          </p:cNvPr>
          <p:cNvSpPr txBox="1"/>
          <p:nvPr/>
        </p:nvSpPr>
        <p:spPr>
          <a:xfrm>
            <a:off x="602399"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¿Cómo sabe la IA cuándo usar la herramienta?</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784473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12EF1544-7133-204A-66C6-1A0BE51B7F5E}"/>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A11D5FDA-8B07-3BA5-8BF9-86BB03FD3FAF}"/>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06</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5C367AA1-A253-EB8D-3DE9-C000E33F0BF4}"/>
              </a:ext>
            </a:extLst>
          </p:cNvPr>
          <p:cNvSpPr txBox="1"/>
          <p:nvPr/>
        </p:nvSpPr>
        <p:spPr>
          <a:xfrm>
            <a:off x="627394" y="3392704"/>
            <a:ext cx="7299805" cy="984903"/>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La Radiografía de una Búsqueda (El Top K)</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281207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C98E1CDF-6175-B86A-7420-38CDBF8AC28A}"/>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6657DC98-AA82-5ED4-8A4E-D0FBB3772DF3}"/>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endParaRPr lang="es-MX" sz="1200" dirty="0"/>
          </a:p>
          <a:p>
            <a:pPr marL="171450" indent="-171450">
              <a:buFont typeface="Arial" panose="020B0604020202020204" pitchFamily="34" charset="0"/>
              <a:buChar char="•"/>
            </a:pPr>
            <a:r>
              <a:rPr lang="es-MX" sz="1200" b="1" dirty="0"/>
              <a:t>Score (</a:t>
            </a:r>
            <a:r>
              <a:rPr lang="es-MX" sz="1200" b="1" dirty="0" err="1"/>
              <a:t>Ej</a:t>
            </a:r>
            <a:r>
              <a:rPr lang="es-MX" sz="1200" b="1" dirty="0"/>
              <a:t>: 1.0001):</a:t>
            </a:r>
            <a:r>
              <a:rPr lang="es-MX" sz="1200" dirty="0"/>
              <a:t> Nivel de coincidencia matemática.</a:t>
            </a:r>
          </a:p>
          <a:p>
            <a:pPr marL="171450" indent="-171450">
              <a:buFont typeface="Arial" panose="020B0604020202020204" pitchFamily="34" charset="0"/>
              <a:buChar char="•"/>
            </a:pPr>
            <a:r>
              <a:rPr lang="es-MX" sz="1200" b="1" dirty="0" err="1"/>
              <a:t>Location</a:t>
            </a:r>
            <a:r>
              <a:rPr lang="es-MX" sz="1200" b="1" dirty="0"/>
              <a:t> (</a:t>
            </a:r>
            <a:r>
              <a:rPr lang="es-MX" sz="1200" b="1" dirty="0" err="1"/>
              <a:t>Lines</a:t>
            </a:r>
            <a:r>
              <a:rPr lang="es-MX" sz="1200" b="1" dirty="0"/>
              <a:t> </a:t>
            </a:r>
            <a:r>
              <a:rPr lang="es-MX" sz="1200" b="1" dirty="0" err="1"/>
              <a:t>from</a:t>
            </a:r>
            <a:r>
              <a:rPr lang="es-MX" sz="1200" b="1" dirty="0"/>
              <a:t>/</a:t>
            </a:r>
            <a:r>
              <a:rPr lang="es-MX" sz="1200" b="1" dirty="0" err="1"/>
              <a:t>to</a:t>
            </a:r>
            <a:r>
              <a:rPr lang="es-MX" sz="1200" b="1" dirty="0"/>
              <a:t>):</a:t>
            </a:r>
            <a:r>
              <a:rPr lang="es-MX" sz="1200" dirty="0"/>
              <a:t> Las líneas exactas del texto picado.</a:t>
            </a:r>
          </a:p>
          <a:p>
            <a:pPr marL="171450" indent="-171450">
              <a:buFont typeface="Arial" panose="020B0604020202020204" pitchFamily="34" charset="0"/>
              <a:buChar char="•"/>
            </a:pPr>
            <a:r>
              <a:rPr lang="es-MX" sz="1200" b="1" dirty="0" err="1"/>
              <a:t>Metadata</a:t>
            </a:r>
            <a:r>
              <a:rPr lang="es-MX" sz="1200" b="1" dirty="0"/>
              <a:t>:</a:t>
            </a:r>
            <a:r>
              <a:rPr lang="es-MX" sz="1200" dirty="0"/>
              <a:t> Autor, fecha, origen del archivo</a:t>
            </a:r>
          </a:p>
        </p:txBody>
      </p:sp>
      <p:sp>
        <p:nvSpPr>
          <p:cNvPr id="242" name="Google Shape;242;p38">
            <a:extLst>
              <a:ext uri="{FF2B5EF4-FFF2-40B4-BE49-F238E27FC236}">
                <a16:creationId xmlns:a16="http://schemas.microsoft.com/office/drawing/2014/main" id="{CE08D18F-A734-9114-5508-0A89487CA7C3}"/>
              </a:ext>
            </a:extLst>
          </p:cNvPr>
          <p:cNvSpPr txBox="1"/>
          <p:nvPr/>
        </p:nvSpPr>
        <p:spPr>
          <a:xfrm>
            <a:off x="602399" y="659600"/>
            <a:ext cx="7897023"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F632B"/>
                </a:solidFill>
                <a:latin typeface="Plus Jakarta Sans ExtraBold"/>
                <a:ea typeface="Plus Jakarta Sans ExtraBold"/>
                <a:cs typeface="Plus Jakarta Sans ExtraBold"/>
                <a:sym typeface="Plus Jakarta Sans ExtraBold"/>
              </a:rPr>
              <a:t>¿Qué devuelve exactamente </a:t>
            </a:r>
            <a:r>
              <a:rPr lang="es-MX" sz="4800" dirty="0" err="1">
                <a:solidFill>
                  <a:srgbClr val="FF632B"/>
                </a:solidFill>
                <a:latin typeface="Plus Jakarta Sans ExtraBold"/>
                <a:ea typeface="Plus Jakarta Sans ExtraBold"/>
                <a:cs typeface="Plus Jakarta Sans ExtraBold"/>
                <a:sym typeface="Plus Jakarta Sans ExtraBold"/>
              </a:rPr>
              <a:t>Pinecone</a:t>
            </a:r>
            <a:r>
              <a:rPr lang="es-MX" sz="4800" dirty="0">
                <a:solidFill>
                  <a:srgbClr val="FF632B"/>
                </a:solidFill>
                <a:latin typeface="Plus Jakarta Sans ExtraBold"/>
                <a:ea typeface="Plus Jakarta Sans ExtraBold"/>
                <a:cs typeface="Plus Jakarta Sans ExtraBold"/>
                <a:sym typeface="Plus Jakarta Sans ExtraBold"/>
              </a:rPr>
              <a:t>?</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660572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5FFCF638-CE1E-2BB1-A01A-FCD0AA65BEED}"/>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38BF93E2-7470-2014-E8CF-B411CD619200}"/>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07</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986E9332-618B-E54F-D31E-BB63D73E0B9D}"/>
              </a:ext>
            </a:extLst>
          </p:cNvPr>
          <p:cNvSpPr txBox="1"/>
          <p:nvPr/>
        </p:nvSpPr>
        <p:spPr>
          <a:xfrm>
            <a:off x="620050" y="3265375"/>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El Momento de la Verdad</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841518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6D7CE10F-2B34-7D70-2796-3F5CA40FF7B6}"/>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4A58F5A7-2F2C-A8C1-8708-F2E9E5C36FDF}"/>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p>
          <a:p>
            <a:endParaRPr lang="es-MX" sz="1200" dirty="0"/>
          </a:p>
          <a:p>
            <a:pPr marL="171450" indent="-171450">
              <a:buFont typeface="Arial" panose="020B0604020202020204" pitchFamily="34" charset="0"/>
              <a:buChar char="•"/>
            </a:pPr>
            <a:r>
              <a:rPr lang="es-MX" sz="1200" dirty="0"/>
              <a:t>Si la respuesta no está en el PDF, la IA dirá: </a:t>
            </a:r>
            <a:r>
              <a:rPr lang="es-MX" sz="1200" i="1" dirty="0"/>
              <a:t>"No lo sé"</a:t>
            </a:r>
            <a:r>
              <a:rPr lang="es-MX" sz="1200" dirty="0"/>
              <a:t>.</a:t>
            </a:r>
          </a:p>
          <a:p>
            <a:pPr marL="171450" indent="-171450">
              <a:buFont typeface="Arial" panose="020B0604020202020204" pitchFamily="34" charset="0"/>
              <a:buChar char="•"/>
            </a:pPr>
            <a:r>
              <a:rPr lang="es-MX" sz="1200" dirty="0"/>
              <a:t>Esto se llama </a:t>
            </a:r>
            <a:r>
              <a:rPr lang="es-MX" sz="1200" b="1" dirty="0" err="1"/>
              <a:t>Grounding</a:t>
            </a:r>
            <a:r>
              <a:rPr lang="es-MX" sz="1200" dirty="0"/>
              <a:t> (Anclaje a la realidad).</a:t>
            </a:r>
          </a:p>
          <a:p>
            <a:pPr marL="171450" indent="-171450">
              <a:buFont typeface="Arial" panose="020B0604020202020204" pitchFamily="34" charset="0"/>
              <a:buChar char="•"/>
            </a:pPr>
            <a:r>
              <a:rPr lang="es-MX" sz="1200" dirty="0"/>
              <a:t>Previene errores médicos fatales</a:t>
            </a:r>
          </a:p>
        </p:txBody>
      </p:sp>
      <p:sp>
        <p:nvSpPr>
          <p:cNvPr id="242" name="Google Shape;242;p38">
            <a:extLst>
              <a:ext uri="{FF2B5EF4-FFF2-40B4-BE49-F238E27FC236}">
                <a16:creationId xmlns:a16="http://schemas.microsoft.com/office/drawing/2014/main" id="{25487A3B-102E-2DAF-B638-7B86268CDFBE}"/>
              </a:ext>
            </a:extLst>
          </p:cNvPr>
          <p:cNvSpPr txBox="1"/>
          <p:nvPr/>
        </p:nvSpPr>
        <p:spPr>
          <a:xfrm>
            <a:off x="602400" y="659600"/>
            <a:ext cx="83328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La "IA Honesta" y el Cero Alucinaciones (</a:t>
            </a:r>
            <a:r>
              <a:rPr lang="es-MX" sz="4800" dirty="0" err="1">
                <a:solidFill>
                  <a:srgbClr val="FF632B"/>
                </a:solidFill>
                <a:latin typeface="Plus Jakarta Sans ExtraBold"/>
                <a:ea typeface="Plus Jakarta Sans ExtraBold"/>
                <a:cs typeface="Plus Jakarta Sans ExtraBold"/>
                <a:sym typeface="Plus Jakarta Sans ExtraBold"/>
              </a:rPr>
              <a:t>Grounding</a:t>
            </a:r>
            <a:r>
              <a:rPr lang="es-MX" sz="4800" dirty="0">
                <a:solidFill>
                  <a:srgbClr val="FF632B"/>
                </a:solidFill>
                <a:latin typeface="Plus Jakarta Sans ExtraBold"/>
                <a:ea typeface="Plus Jakarta Sans ExtraBold"/>
                <a:cs typeface="Plus Jakarta Sans ExtraBold"/>
                <a:sym typeface="Plus Jakarta Sans ExtraBold"/>
              </a:rPr>
              <a:t>)</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147982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7384F08C-FF22-80D7-92F0-44A4AFFDB79E}"/>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D8A75A5E-E846-046E-0EE0-79357BAB8A0A}"/>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08</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EF367DCA-E6A8-2CA6-263D-EBD647372FA9}"/>
              </a:ext>
            </a:extLst>
          </p:cNvPr>
          <p:cNvSpPr txBox="1"/>
          <p:nvPr/>
        </p:nvSpPr>
        <p:spPr>
          <a:xfrm>
            <a:off x="641650" y="3109526"/>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¡Manos a la Obra!</a:t>
            </a:r>
          </a:p>
          <a:p>
            <a:pPr marL="0" lvl="0" indent="0" algn="l" rtl="0">
              <a:spcBef>
                <a:spcPts val="0"/>
              </a:spcBef>
              <a:spcAft>
                <a:spcPts val="0"/>
              </a:spcAft>
              <a:buNone/>
            </a:pPr>
            <a:r>
              <a:rPr lang="es-MX" sz="4800" dirty="0">
                <a:solidFill>
                  <a:srgbClr val="FCAA2E"/>
                </a:solidFill>
                <a:latin typeface="Plus Jakarta Sans ExtraBold"/>
                <a:ea typeface="Plus Jakarta Sans ExtraBold"/>
                <a:cs typeface="Plus Jakarta Sans ExtraBold"/>
                <a:sym typeface="Plus Jakarta Sans ExtraBold"/>
              </a:rPr>
              <a:t>21:55</a:t>
            </a:r>
            <a:r>
              <a:rPr lang="es-MX" sz="4800" dirty="0">
                <a:solidFill>
                  <a:srgbClr val="F8F2E8"/>
                </a:solidFill>
                <a:latin typeface="Plus Jakarta Sans ExtraBold"/>
                <a:ea typeface="Plus Jakarta Sans ExtraBold"/>
                <a:cs typeface="Plus Jakarta Sans ExtraBold"/>
                <a:sym typeface="Plus Jakarta Sans ExtraBold"/>
              </a:rPr>
              <a:t> Termina</a:t>
            </a:r>
          </a:p>
          <a:p>
            <a:pPr marL="0" lvl="0" indent="0" algn="l" rtl="0">
              <a:spcBef>
                <a:spcPts val="0"/>
              </a:spcBef>
              <a:spcAft>
                <a:spcPts val="0"/>
              </a:spcAft>
              <a:buNone/>
            </a:pP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017454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240">
          <a:extLst>
            <a:ext uri="{FF2B5EF4-FFF2-40B4-BE49-F238E27FC236}">
              <a16:creationId xmlns:a16="http://schemas.microsoft.com/office/drawing/2014/main" id="{EBFC50BB-83CD-C7E1-4EDD-2BDB017E0BEE}"/>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1A0BBD15-2FF2-F25D-6DB8-9647CB27CDD2}"/>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p>
          <a:p>
            <a:endParaRPr lang="es-MX" sz="1200" dirty="0"/>
          </a:p>
          <a:p>
            <a:pPr marL="171450" indent="-171450">
              <a:buFont typeface="Arial" panose="020B0604020202020204" pitchFamily="34" charset="0"/>
              <a:buChar char="•"/>
            </a:pPr>
            <a:r>
              <a:rPr lang="es-MX" sz="1200" dirty="0"/>
              <a:t>Importar el JSON del Agente.</a:t>
            </a:r>
          </a:p>
          <a:p>
            <a:pPr marL="171450" indent="-171450">
              <a:buFont typeface="Arial" panose="020B0604020202020204" pitchFamily="34" charset="0"/>
              <a:buChar char="•"/>
            </a:pPr>
            <a:r>
              <a:rPr lang="es-MX" sz="1200" dirty="0"/>
              <a:t>Colocar las credenciales (</a:t>
            </a:r>
            <a:r>
              <a:rPr lang="es-MX" sz="1200" dirty="0" err="1"/>
              <a:t>Groq</a:t>
            </a:r>
            <a:r>
              <a:rPr lang="es-MX" sz="1200" dirty="0"/>
              <a:t>, </a:t>
            </a:r>
            <a:r>
              <a:rPr lang="es-MX" sz="1200" dirty="0" err="1"/>
              <a:t>Pinecone</a:t>
            </a:r>
            <a:r>
              <a:rPr lang="es-MX" sz="1200" dirty="0"/>
              <a:t>, </a:t>
            </a:r>
            <a:r>
              <a:rPr lang="es-MX" sz="1200" dirty="0" err="1"/>
              <a:t>Cohere</a:t>
            </a:r>
            <a:r>
              <a:rPr lang="es-MX" sz="1200" dirty="0"/>
              <a:t>).</a:t>
            </a:r>
          </a:p>
          <a:p>
            <a:pPr marL="171450" indent="-171450">
              <a:buFont typeface="Arial" panose="020B0604020202020204" pitchFamily="34" charset="0"/>
              <a:buChar char="•"/>
            </a:pPr>
            <a:r>
              <a:rPr lang="es-MX" sz="1200" dirty="0"/>
              <a:t>Test de estrés: Hacer 3 preguntas sobre el protocolo FFX</a:t>
            </a:r>
          </a:p>
        </p:txBody>
      </p:sp>
      <p:sp>
        <p:nvSpPr>
          <p:cNvPr id="242" name="Google Shape;242;p38">
            <a:extLst>
              <a:ext uri="{FF2B5EF4-FFF2-40B4-BE49-F238E27FC236}">
                <a16:creationId xmlns:a16="http://schemas.microsoft.com/office/drawing/2014/main" id="{35876E6A-5C8C-AFE6-73F5-4A6FF6D366E6}"/>
              </a:ext>
            </a:extLst>
          </p:cNvPr>
          <p:cNvSpPr txBox="1"/>
          <p:nvPr/>
        </p:nvSpPr>
        <p:spPr>
          <a:xfrm>
            <a:off x="602400" y="659600"/>
            <a:ext cx="64629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Anatomía del Flujo de Recuperación</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003235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F8F8729D-D5F7-85D7-0F2A-6851C005B35B}"/>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83294E59-7A16-7FD9-4030-27D8D67CC7CA}"/>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09</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F9EC7172-485E-406F-8E74-06130E0A33DF}"/>
              </a:ext>
            </a:extLst>
          </p:cNvPr>
          <p:cNvSpPr txBox="1"/>
          <p:nvPr/>
        </p:nvSpPr>
        <p:spPr>
          <a:xfrm>
            <a:off x="677795" y="2881504"/>
            <a:ext cx="6462900" cy="984903"/>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Nuestro Médico es Brillante... pero "Ciego y Sordo"</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981608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DBC18A6-CEDA-CF30-5709-5ED85202E144}"/>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955DFEBB-E6EC-DF55-88D9-61D8B4078299}"/>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endParaRPr lang="es-MX" sz="1200" dirty="0"/>
          </a:p>
          <a:p>
            <a:pPr marL="171450" indent="-171450">
              <a:buFont typeface="Arial" panose="020B0604020202020204" pitchFamily="34" charset="0"/>
              <a:buChar char="•"/>
            </a:pPr>
            <a:r>
              <a:rPr lang="es-MX" sz="1200" dirty="0"/>
              <a:t>Hoy construimos un Agente que procesa y genera texto (LLM puro).</a:t>
            </a:r>
          </a:p>
          <a:p>
            <a:pPr marL="171450" indent="-171450">
              <a:buFont typeface="Arial" panose="020B0604020202020204" pitchFamily="34" charset="0"/>
              <a:buChar char="•"/>
            </a:pPr>
            <a:r>
              <a:rPr lang="es-MX" sz="1200" dirty="0"/>
              <a:t>En el mundo médico real, los datos no son solo texto.</a:t>
            </a:r>
          </a:p>
          <a:p>
            <a:pPr marL="171450" indent="-171450">
              <a:buFont typeface="Arial" panose="020B0604020202020204" pitchFamily="34" charset="0"/>
              <a:buChar char="•"/>
            </a:pPr>
            <a:r>
              <a:rPr lang="es-MX" sz="1200" dirty="0"/>
              <a:t>¿Qué pasa si el paciente envía la foto de una radiografía o un audio tosiendo?</a:t>
            </a:r>
          </a:p>
        </p:txBody>
      </p:sp>
      <p:sp>
        <p:nvSpPr>
          <p:cNvPr id="242" name="Google Shape;242;p38">
            <a:extLst>
              <a:ext uri="{FF2B5EF4-FFF2-40B4-BE49-F238E27FC236}">
                <a16:creationId xmlns:a16="http://schemas.microsoft.com/office/drawing/2014/main" id="{E35F3541-1196-BE06-61E0-25ADB46AEE53}"/>
              </a:ext>
            </a:extLst>
          </p:cNvPr>
          <p:cNvSpPr txBox="1"/>
          <p:nvPr/>
        </p:nvSpPr>
        <p:spPr>
          <a:xfrm>
            <a:off x="602399" y="659600"/>
            <a:ext cx="7897023"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F632B"/>
                </a:solidFill>
                <a:latin typeface="Plus Jakarta Sans ExtraBold"/>
                <a:ea typeface="Plus Jakarta Sans ExtraBold"/>
                <a:cs typeface="Plus Jakarta Sans ExtraBold"/>
                <a:sym typeface="Plus Jakarta Sans ExtraBold"/>
              </a:rPr>
              <a:t>¿Por qué nuestro Médico sufre de Amnesia?</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61782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074CE5B1-7998-E9C9-0FBC-1AB346EE9758}"/>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4D45369D-2F93-5A31-B23E-BEF2107F12CA}"/>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10</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4396A71E-10AA-432B-2844-7037FED9ADB4}"/>
              </a:ext>
            </a:extLst>
          </p:cNvPr>
          <p:cNvSpPr txBox="1"/>
          <p:nvPr/>
        </p:nvSpPr>
        <p:spPr>
          <a:xfrm>
            <a:off x="699250" y="3646975"/>
            <a:ext cx="7487150"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8F2E8"/>
                </a:solidFill>
                <a:latin typeface="Plus Jakarta Sans ExtraBold"/>
                <a:ea typeface="Plus Jakarta Sans ExtraBold"/>
                <a:cs typeface="Plus Jakarta Sans ExtraBold"/>
                <a:sym typeface="Plus Jakarta Sans ExtraBold"/>
              </a:rPr>
              <a:t>Dándole "Ojos" a la IA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1968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9DA68EDF-F0EB-C9C1-8A86-D83C3583A46D}"/>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231367E1-2D17-B70D-48FD-A43B6C5C1A02}"/>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endParaRPr lang="es-MX" sz="1200" dirty="0"/>
          </a:p>
          <a:p>
            <a:pPr marL="171450" indent="-171450">
              <a:buFont typeface="Arial" panose="020B0604020202020204" pitchFamily="34" charset="0"/>
              <a:buChar char="•"/>
            </a:pPr>
            <a:r>
              <a:rPr lang="es-MX" sz="1200" b="1" dirty="0"/>
              <a:t>Entrada (Input):</a:t>
            </a:r>
            <a:r>
              <a:rPr lang="es-MX" sz="1200" dirty="0"/>
              <a:t> Clasificación (ej. Neumonía en placa) y Detección de objetos.</a:t>
            </a:r>
          </a:p>
          <a:p>
            <a:pPr marL="171450" indent="-171450">
              <a:buFont typeface="Arial" panose="020B0604020202020204" pitchFamily="34" charset="0"/>
              <a:buChar char="•"/>
            </a:pPr>
            <a:r>
              <a:rPr lang="es-MX" sz="1200" b="1" dirty="0"/>
              <a:t>Salida (Output):</a:t>
            </a:r>
            <a:r>
              <a:rPr lang="es-MX" sz="1200" dirty="0"/>
              <a:t> Generación de imágenes hiperrealistas (Nano Banana, Sora).</a:t>
            </a:r>
          </a:p>
          <a:p>
            <a:pPr marL="171450" indent="-171450">
              <a:buFont typeface="Arial" panose="020B0604020202020204" pitchFamily="34" charset="0"/>
              <a:buChar char="•"/>
            </a:pPr>
            <a:r>
              <a:rPr lang="es-MX" sz="1200" dirty="0"/>
              <a:t>Desde redes convolucionales (CNN) hasta modelos generativos modernos.</a:t>
            </a:r>
          </a:p>
        </p:txBody>
      </p:sp>
      <p:sp>
        <p:nvSpPr>
          <p:cNvPr id="242" name="Google Shape;242;p38">
            <a:extLst>
              <a:ext uri="{FF2B5EF4-FFF2-40B4-BE49-F238E27FC236}">
                <a16:creationId xmlns:a16="http://schemas.microsoft.com/office/drawing/2014/main" id="{570EBEEF-3B0E-CFF4-56B0-3FF92851D7D7}"/>
              </a:ext>
            </a:extLst>
          </p:cNvPr>
          <p:cNvSpPr txBox="1"/>
          <p:nvPr/>
        </p:nvSpPr>
        <p:spPr>
          <a:xfrm>
            <a:off x="602400" y="659600"/>
            <a:ext cx="80808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Tratamiento de Imágenes (Visión Artificial)</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485631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B7F7F39B-AB72-D38B-CC62-EB6644C73B4B}"/>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C725708B-7FAD-2047-154A-FFDAEF8C0E8C}"/>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11</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65E75B48-1061-2528-4C2A-489F5D661998}"/>
              </a:ext>
            </a:extLst>
          </p:cNvPr>
          <p:cNvSpPr txBox="1"/>
          <p:nvPr/>
        </p:nvSpPr>
        <p:spPr>
          <a:xfrm>
            <a:off x="677795" y="2881504"/>
            <a:ext cx="6462900" cy="984903"/>
          </a:xfrm>
          <a:prstGeom prst="rect">
            <a:avLst/>
          </a:prstGeom>
          <a:noFill/>
          <a:ln>
            <a:noFill/>
          </a:ln>
        </p:spPr>
        <p:txBody>
          <a:bodyPr spcFirstLastPara="1" wrap="square" lIns="91425" tIns="91425" rIns="91425" bIns="91425" anchor="t" anchorCtr="0">
            <a:noAutofit/>
          </a:bodyPr>
          <a:lstStyle/>
          <a:p>
            <a:pPr lvl="0">
              <a:lnSpc>
                <a:spcPct val="80000"/>
              </a:lnSpc>
            </a:pPr>
            <a:r>
              <a:rPr lang="es-MX" sz="4800" dirty="0">
                <a:solidFill>
                  <a:srgbClr val="F8F2E8"/>
                </a:solidFill>
                <a:latin typeface="Plus Jakarta Sans ExtraBold"/>
                <a:ea typeface="Plus Jakarta Sans ExtraBold"/>
                <a:cs typeface="Plus Jakarta Sans ExtraBold"/>
                <a:sym typeface="Plus Jakarta Sans ExtraBold"/>
              </a:rPr>
              <a:t>Dándole "Oídos y Voz" a la IA</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8105522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37F72B5A-4E94-324A-870A-53CA29B84508}"/>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717D2526-76D2-43C1-6364-CEA7EB392BB1}"/>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endParaRPr lang="es-MX" sz="1200" dirty="0"/>
          </a:p>
          <a:p>
            <a:pPr marL="171450" indent="-171450">
              <a:buFont typeface="Arial" panose="020B0604020202020204" pitchFamily="34" charset="0"/>
              <a:buChar char="•"/>
            </a:pPr>
            <a:r>
              <a:rPr lang="es-MX" sz="1200" b="1" dirty="0"/>
              <a:t>STT (</a:t>
            </a:r>
            <a:r>
              <a:rPr lang="es-MX" sz="1200" b="1" dirty="0" err="1"/>
              <a:t>Speech</a:t>
            </a:r>
            <a:r>
              <a:rPr lang="es-MX" sz="1200" b="1" dirty="0"/>
              <a:t>-</a:t>
            </a:r>
            <a:r>
              <a:rPr lang="es-MX" sz="1200" b="1" dirty="0" err="1"/>
              <a:t>To</a:t>
            </a:r>
            <a:r>
              <a:rPr lang="es-MX" sz="1200" b="1" dirty="0"/>
              <a:t>-Text):</a:t>
            </a:r>
            <a:r>
              <a:rPr lang="es-MX" sz="1200" dirty="0"/>
              <a:t> Convertir la voz del paciente a texto (ej. </a:t>
            </a:r>
            <a:r>
              <a:rPr lang="es-MX" sz="1200" dirty="0" err="1"/>
              <a:t>Whisper</a:t>
            </a:r>
            <a:r>
              <a:rPr lang="es-MX" sz="1200" dirty="0"/>
              <a:t>).</a:t>
            </a:r>
          </a:p>
          <a:p>
            <a:pPr marL="171450" indent="-171450">
              <a:buFont typeface="Arial" panose="020B0604020202020204" pitchFamily="34" charset="0"/>
              <a:buChar char="•"/>
            </a:pPr>
            <a:r>
              <a:rPr lang="es-MX" sz="1200" b="1" dirty="0"/>
              <a:t>TTS (Text-</a:t>
            </a:r>
            <a:r>
              <a:rPr lang="es-MX" sz="1200" b="1" dirty="0" err="1"/>
              <a:t>To</a:t>
            </a:r>
            <a:r>
              <a:rPr lang="es-MX" sz="1200" b="1" dirty="0"/>
              <a:t>-</a:t>
            </a:r>
            <a:r>
              <a:rPr lang="es-MX" sz="1200" b="1" dirty="0" err="1"/>
              <a:t>Speech</a:t>
            </a:r>
            <a:r>
              <a:rPr lang="es-MX" sz="1200" b="1" dirty="0"/>
              <a:t>):</a:t>
            </a:r>
            <a:r>
              <a:rPr lang="es-MX" sz="1200" dirty="0"/>
              <a:t> La IA hablando con voz humana natural (ej. </a:t>
            </a:r>
            <a:r>
              <a:rPr lang="es-MX" sz="1200" dirty="0" err="1"/>
              <a:t>ElevenLabs</a:t>
            </a:r>
            <a:r>
              <a:rPr lang="es-MX" sz="1200" dirty="0"/>
              <a:t>).</a:t>
            </a:r>
          </a:p>
          <a:p>
            <a:pPr marL="171450" indent="-171450">
              <a:buFont typeface="Arial" panose="020B0604020202020204" pitchFamily="34" charset="0"/>
              <a:buChar char="•"/>
            </a:pPr>
            <a:r>
              <a:rPr lang="es-MX" sz="1200" dirty="0"/>
              <a:t>El gran desafío clínico: </a:t>
            </a:r>
            <a:r>
              <a:rPr lang="es-MX" sz="1200" b="1" dirty="0"/>
              <a:t>La Latencia</a:t>
            </a:r>
            <a:r>
              <a:rPr lang="es-MX" sz="1200" dirty="0"/>
              <a:t> (tiempo de respuesta).</a:t>
            </a:r>
          </a:p>
        </p:txBody>
      </p:sp>
      <p:sp>
        <p:nvSpPr>
          <p:cNvPr id="242" name="Google Shape;242;p38">
            <a:extLst>
              <a:ext uri="{FF2B5EF4-FFF2-40B4-BE49-F238E27FC236}">
                <a16:creationId xmlns:a16="http://schemas.microsoft.com/office/drawing/2014/main" id="{76F4A80A-6CD6-9B34-58C5-24F1933424B5}"/>
              </a:ext>
            </a:extLst>
          </p:cNvPr>
          <p:cNvSpPr txBox="1"/>
          <p:nvPr/>
        </p:nvSpPr>
        <p:spPr>
          <a:xfrm>
            <a:off x="602399" y="659600"/>
            <a:ext cx="7897023" cy="840300"/>
          </a:xfrm>
          <a:prstGeom prst="rect">
            <a:avLst/>
          </a:prstGeom>
          <a:noFill/>
          <a:ln>
            <a:noFill/>
          </a:ln>
        </p:spPr>
        <p:txBody>
          <a:bodyPr spcFirstLastPara="1" wrap="square" lIns="91425" tIns="91425" rIns="91425" bIns="91425" anchor="t" anchorCtr="0">
            <a:noAutofit/>
          </a:bodyPr>
          <a:lstStyle/>
          <a:p>
            <a:pPr lvl="0"/>
            <a:r>
              <a:rPr lang="es-MX" sz="4800" dirty="0">
                <a:solidFill>
                  <a:srgbClr val="FF632B"/>
                </a:solidFill>
                <a:latin typeface="Plus Jakarta Sans ExtraBold"/>
                <a:ea typeface="Plus Jakarta Sans ExtraBold"/>
                <a:cs typeface="Plus Jakarta Sans ExtraBold"/>
                <a:sym typeface="Plus Jakarta Sans ExtraBold"/>
              </a:rPr>
              <a:t>Conversaciones Reales: Modelos STT y TTS</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133152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63D37A8B-598C-4112-F151-DD562FA1994E}"/>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CCECCF28-2FEA-FF4F-F04F-89AF6631867A}"/>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12</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0B3CDEBF-8577-794E-6EE6-D0C85BF7D018}"/>
              </a:ext>
            </a:extLst>
          </p:cNvPr>
          <p:cNvSpPr txBox="1"/>
          <p:nvPr/>
        </p:nvSpPr>
        <p:spPr>
          <a:xfrm>
            <a:off x="699250" y="3646975"/>
            <a:ext cx="722795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El Reto de la Semana 3</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071426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80D1D10-0162-C3A3-FD47-CC9254E44705}"/>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7DB6C16E-3468-E8EC-F5E1-84A91D5F6DCE}"/>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b="1" dirty="0"/>
              <a:t>Puntos Clave:</a:t>
            </a:r>
            <a:endParaRPr lang="es-MX" sz="1200" dirty="0"/>
          </a:p>
          <a:p>
            <a:pPr marL="171450" indent="-171450">
              <a:buFont typeface="Arial" panose="020B0604020202020204" pitchFamily="34" charset="0"/>
              <a:buChar char="•"/>
            </a:pPr>
            <a:r>
              <a:rPr lang="es-MX" sz="1200" dirty="0"/>
              <a:t>Diseñaremos un </a:t>
            </a:r>
            <a:r>
              <a:rPr lang="es-MX" sz="1200" dirty="0" err="1"/>
              <a:t>Workflow</a:t>
            </a:r>
            <a:r>
              <a:rPr lang="es-MX" sz="1200" dirty="0"/>
              <a:t> en n8n que reciba imágenes y audios.</a:t>
            </a:r>
          </a:p>
          <a:p>
            <a:pPr marL="171450" indent="-171450">
              <a:buFont typeface="Arial" panose="020B0604020202020204" pitchFamily="34" charset="0"/>
              <a:buChar char="•"/>
            </a:pPr>
            <a:r>
              <a:rPr lang="es-MX" sz="1200" dirty="0"/>
              <a:t>Implementaremos políticas de seguridad (</a:t>
            </a:r>
            <a:r>
              <a:rPr lang="es-MX" sz="1200" dirty="0" err="1"/>
              <a:t>Fallbacks</a:t>
            </a:r>
            <a:r>
              <a:rPr lang="es-MX" sz="1200" dirty="0"/>
              <a:t>).</a:t>
            </a:r>
          </a:p>
          <a:p>
            <a:pPr marL="171450" indent="-171450">
              <a:buFont typeface="Arial" panose="020B0604020202020204" pitchFamily="34" charset="0"/>
              <a:buChar char="•"/>
            </a:pPr>
            <a:r>
              <a:rPr lang="es-MX" sz="1200" dirty="0"/>
              <a:t>Aplicaremos búsquedas semánticas (</a:t>
            </a:r>
            <a:r>
              <a:rPr lang="es-MX" sz="1200" dirty="0" err="1"/>
              <a:t>Embeddings</a:t>
            </a:r>
            <a:r>
              <a:rPr lang="es-MX" sz="1200" dirty="0"/>
              <a:t>) sobre bases de datos clínicas.</a:t>
            </a:r>
          </a:p>
        </p:txBody>
      </p:sp>
      <p:sp>
        <p:nvSpPr>
          <p:cNvPr id="242" name="Google Shape;242;p38">
            <a:extLst>
              <a:ext uri="{FF2B5EF4-FFF2-40B4-BE49-F238E27FC236}">
                <a16:creationId xmlns:a16="http://schemas.microsoft.com/office/drawing/2014/main" id="{8FBDBFC8-12D6-4180-724D-C27FE8F5CE11}"/>
              </a:ext>
            </a:extLst>
          </p:cNvPr>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Próxima Clase: El Flujo Clínico Multimodal</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0580249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1"/>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a:solidFill>
                  <a:srgbClr val="260700"/>
                </a:solidFill>
                <a:latin typeface="Plus Jakarta Sans ExtraBold"/>
                <a:ea typeface="Plus Jakarta Sans ExtraBold"/>
                <a:cs typeface="Plus Jakarta Sans ExtraBold"/>
                <a:sym typeface="Plus Jakarta Sans ExtraBold"/>
              </a:rPr>
              <a:t>¡Esta clase va a ser     grabada!	</a:t>
            </a:r>
            <a:endParaRPr sz="4800">
              <a:solidFill>
                <a:srgbClr val="260700"/>
              </a:solidFill>
              <a:latin typeface="Plus Jakarta Sans ExtraBold"/>
              <a:ea typeface="Plus Jakarta Sans ExtraBold"/>
              <a:cs typeface="Plus Jakarta Sans ExtraBold"/>
              <a:sym typeface="Plus Jakarta Sans ExtraBold"/>
            </a:endParaRPr>
          </a:p>
        </p:txBody>
      </p:sp>
      <p:sp>
        <p:nvSpPr>
          <p:cNvPr id="473" name="Google Shape;473;p61"/>
          <p:cNvSpPr/>
          <p:nvPr/>
        </p:nvSpPr>
        <p:spPr>
          <a:xfrm>
            <a:off x="4003875" y="14832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2"/>
          <p:cNvSpPr txBox="1"/>
          <p:nvPr/>
        </p:nvSpPr>
        <p:spPr>
          <a:xfrm>
            <a:off x="571500" y="2392650"/>
            <a:ext cx="6977400" cy="1500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 sz="4900">
                <a:solidFill>
                  <a:srgbClr val="F8F2E8"/>
                </a:solidFill>
                <a:latin typeface="Plus Jakarta Sans ExtraBold"/>
                <a:ea typeface="Plus Jakarta Sans ExtraBold"/>
                <a:cs typeface="Plus Jakarta Sans ExtraBold"/>
                <a:sym typeface="Plus Jakarta Sans ExtraBold"/>
              </a:rPr>
              <a:t>¡Gracias por </a:t>
            </a:r>
            <a:r>
              <a:rPr lang="es" sz="4900">
                <a:solidFill>
                  <a:srgbClr val="FDAB2E"/>
                </a:solidFill>
                <a:latin typeface="Plus Jakarta Sans ExtraBold"/>
                <a:ea typeface="Plus Jakarta Sans ExtraBold"/>
                <a:cs typeface="Plus Jakarta Sans ExtraBold"/>
                <a:sym typeface="Plus Jakarta Sans ExtraBold"/>
              </a:rPr>
              <a:t>estudiar </a:t>
            </a:r>
            <a:r>
              <a:rPr lang="es" sz="4900">
                <a:solidFill>
                  <a:srgbClr val="F8F2E8"/>
                </a:solidFill>
                <a:latin typeface="Plus Jakarta Sans ExtraBold"/>
                <a:ea typeface="Plus Jakarta Sans ExtraBold"/>
                <a:cs typeface="Plus Jakarta Sans ExtraBold"/>
                <a:sym typeface="Plus Jakarta Sans ExtraBold"/>
              </a:rPr>
              <a:t>con nosotros!</a:t>
            </a:r>
            <a:endParaRPr sz="4900">
              <a:solidFill>
                <a:srgbClr val="F8F2E8"/>
              </a:solidFill>
              <a:latin typeface="Plus Jakarta Sans ExtraBold"/>
              <a:ea typeface="Plus Jakarta Sans ExtraBold"/>
              <a:cs typeface="Plus Jakarta Sans ExtraBold"/>
              <a:sym typeface="Plus Jakarta Sans ExtraBold"/>
            </a:endParaRPr>
          </a:p>
        </p:txBody>
      </p:sp>
      <p:sp>
        <p:nvSpPr>
          <p:cNvPr id="479" name="Google Shape;479;p62"/>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F8F2E8"/>
              </a:solidFill>
              <a:latin typeface="Plus Jakarta Sans"/>
              <a:ea typeface="Plus Jakarta Sans"/>
              <a:cs typeface="Plus Jakarta Sans"/>
              <a:sym typeface="Plus Jakarta Sans"/>
            </a:endParaRPr>
          </a:p>
        </p:txBody>
      </p:sp>
      <p:pic>
        <p:nvPicPr>
          <p:cNvPr id="480" name="Google Shape;480;p62" title="Group 1321317428.png"/>
          <p:cNvPicPr preferRelativeResize="0"/>
          <p:nvPr/>
        </p:nvPicPr>
        <p:blipFill>
          <a:blip r:embed="rId3">
            <a:alphaModFix/>
          </a:blip>
          <a:stretch>
            <a:fillRect/>
          </a:stretch>
        </p:blipFill>
        <p:spPr>
          <a:xfrm>
            <a:off x="7711325" y="609525"/>
            <a:ext cx="861174" cy="85774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3"/>
          <p:cNvSpPr txBox="1"/>
          <p:nvPr/>
        </p:nvSpPr>
        <p:spPr>
          <a:xfrm>
            <a:off x="571500" y="2175175"/>
            <a:ext cx="6462900" cy="1500000"/>
          </a:xfrm>
          <a:prstGeom prst="rect">
            <a:avLst/>
          </a:prstGeom>
          <a:noFill/>
          <a:ln>
            <a:noFill/>
          </a:ln>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¡Muchas</a:t>
            </a:r>
            <a:endParaRPr sz="6100">
              <a:solidFill>
                <a:srgbClr val="260700"/>
              </a:solidFill>
              <a:latin typeface="Plus Jakarta Sans ExtraBold"/>
              <a:ea typeface="Plus Jakarta Sans ExtraBold"/>
              <a:cs typeface="Plus Jakarta Sans ExtraBold"/>
              <a:sym typeface="Plus Jakarta Sans ExtraBold"/>
            </a:endParaRPr>
          </a:p>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gracias!</a:t>
            </a:r>
            <a:endParaRPr sz="6100">
              <a:solidFill>
                <a:srgbClr val="260700"/>
              </a:solidFill>
              <a:latin typeface="Plus Jakarta Sans ExtraBold"/>
              <a:ea typeface="Plus Jakarta Sans ExtraBold"/>
              <a:cs typeface="Plus Jakarta Sans ExtraBold"/>
              <a:sym typeface="Plus Jakarta Sans ExtraBold"/>
            </a:endParaRPr>
          </a:p>
        </p:txBody>
      </p:sp>
      <p:sp>
        <p:nvSpPr>
          <p:cNvPr id="486" name="Google Shape;486;p63"/>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260700"/>
              </a:solidFill>
              <a:latin typeface="Plus Jakarta Sans"/>
              <a:ea typeface="Plus Jakarta Sans"/>
              <a:cs typeface="Plus Jakarta Sans"/>
              <a:sym typeface="Plus Jakarta Sans"/>
            </a:endParaRPr>
          </a:p>
        </p:txBody>
      </p:sp>
      <p:pic>
        <p:nvPicPr>
          <p:cNvPr id="487" name="Google Shape;487;p63" title="Group 1321320857.png"/>
          <p:cNvPicPr preferRelativeResize="0"/>
          <p:nvPr/>
        </p:nvPicPr>
        <p:blipFill>
          <a:blip r:embed="rId3">
            <a:alphaModFix/>
          </a:blip>
          <a:stretch>
            <a:fillRect/>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TotalTime>
  <Words>1499</Words>
  <Application>Microsoft Office PowerPoint</Application>
  <PresentationFormat>On-screen Show (16:9)</PresentationFormat>
  <Paragraphs>133</Paragraphs>
  <Slides>39</Slides>
  <Notes>39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Plus Jakarta Sans</vt:lpstr>
      <vt:lpstr>Arial</vt:lpstr>
      <vt:lpstr>Plus Jakarta Sans ExtraBold</vt:lpstr>
      <vt:lpstr>Plus Jakarta Sans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Leandro Araque</cp:lastModifiedBy>
  <cp:revision>3</cp:revision>
  <dcterms:modified xsi:type="dcterms:W3CDTF">2026-04-28T23:15:00Z</dcterms:modified>
</cp:coreProperties>
</file>